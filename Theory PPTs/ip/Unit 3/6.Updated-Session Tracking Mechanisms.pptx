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12" r:id="rId3"/>
    <p:sldId id="313" r:id="rId4"/>
    <p:sldId id="314" r:id="rId5"/>
    <p:sldId id="257" r:id="rId6"/>
    <p:sldId id="271" r:id="rId7"/>
    <p:sldId id="272" r:id="rId8"/>
    <p:sldId id="323" r:id="rId9"/>
    <p:sldId id="322" r:id="rId10"/>
    <p:sldId id="303" r:id="rId11"/>
    <p:sldId id="258" r:id="rId12"/>
    <p:sldId id="259" r:id="rId13"/>
    <p:sldId id="260" r:id="rId14"/>
    <p:sldId id="261" r:id="rId15"/>
    <p:sldId id="262" r:id="rId16"/>
    <p:sldId id="318" r:id="rId17"/>
    <p:sldId id="319" r:id="rId18"/>
    <p:sldId id="320" r:id="rId19"/>
    <p:sldId id="321" r:id="rId20"/>
    <p:sldId id="269" r:id="rId21"/>
    <p:sldId id="270" r:id="rId22"/>
    <p:sldId id="263" r:id="rId23"/>
    <p:sldId id="264" r:id="rId24"/>
    <p:sldId id="277" r:id="rId25"/>
    <p:sldId id="278" r:id="rId26"/>
    <p:sldId id="279" r:id="rId27"/>
    <p:sldId id="280" r:id="rId28"/>
    <p:sldId id="289" r:id="rId29"/>
    <p:sldId id="290" r:id="rId30"/>
    <p:sldId id="291" r:id="rId31"/>
    <p:sldId id="324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304" r:id="rId49"/>
    <p:sldId id="305" r:id="rId50"/>
    <p:sldId id="307" r:id="rId51"/>
    <p:sldId id="308" r:id="rId52"/>
    <p:sldId id="311" r:id="rId53"/>
    <p:sldId id="309" r:id="rId54"/>
    <p:sldId id="310" r:id="rId55"/>
    <p:sldId id="315" r:id="rId56"/>
    <p:sldId id="316" r:id="rId57"/>
    <p:sldId id="317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D98A9-0715-4B6C-B5C3-EF5D51B7B677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BE8D9-E4CF-465B-9799-06B5614FFAD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8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1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D5545-AE79-40DE-BA9F-D46B71966780}" type="datetimeFigureOut">
              <a:rPr lang="en-US" smtClean="0"/>
              <a:pPr/>
              <a:t>3/19/2025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5FBB8-387A-415A-8E45-AAD5FBF4877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Session Tracking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Dr. B. Prabavathy</a:t>
            </a:r>
          </a:p>
          <a:p>
            <a:r>
              <a:rPr lang="en-US" sz="2400" dirty="0"/>
              <a:t>Associate Professor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learn </a:t>
            </a:r>
          </a:p>
          <a:p>
            <a:pPr lvl="1"/>
            <a:r>
              <a:rPr lang="en-US" dirty="0"/>
              <a:t>Why session tracking is needed?</a:t>
            </a:r>
          </a:p>
          <a:p>
            <a:pPr lvl="1"/>
            <a:r>
              <a:rPr lang="en-US" dirty="0"/>
              <a:t>Different session tracking mechanisms</a:t>
            </a:r>
          </a:p>
          <a:p>
            <a:endParaRPr lang="en-US" dirty="0"/>
          </a:p>
        </p:txBody>
      </p:sp>
      <p:sp>
        <p:nvSpPr>
          <p:cNvPr id="307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Outcome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will be able to </a:t>
            </a:r>
          </a:p>
          <a:p>
            <a:pPr lvl="1"/>
            <a:r>
              <a:rPr lang="en-US" dirty="0"/>
              <a:t>Write three tier web application using any session tracking mechanism</a:t>
            </a:r>
          </a:p>
          <a:p>
            <a:endParaRPr lang="en-US" dirty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Context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err="1"/>
              <a:t>Servlet</a:t>
            </a:r>
            <a:r>
              <a:rPr lang="en-US" dirty="0"/>
              <a:t> is the java program or module resides in the server to process the request</a:t>
            </a:r>
          </a:p>
          <a:p>
            <a:r>
              <a:rPr lang="en-US" dirty="0"/>
              <a:t>Since HTTP protocol is maintaining the state of the user, session tracking mechanisms are used to maintain the state of the user</a:t>
            </a:r>
          </a:p>
          <a:p>
            <a:endParaRPr lang="en-US" dirty="0"/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Sessions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ln/>
        </p:spPr>
        <p:txBody>
          <a:bodyPr/>
          <a:lstStyle/>
          <a:p>
            <a:pPr marL="341313" indent="-341313"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Many interactive Web sites spread user data entry out over </a:t>
            </a:r>
            <a:r>
              <a:rPr lang="en-US" dirty="0">
                <a:solidFill>
                  <a:srgbClr val="333399"/>
                </a:solidFill>
              </a:rPr>
              <a:t>several pages</a:t>
            </a:r>
            <a:r>
              <a:rPr lang="en-US" dirty="0"/>
              <a:t>:</a:t>
            </a:r>
          </a:p>
          <a:p>
            <a:pPr marL="741363" lvl="1" indent="-284163"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Ex: add items to cart, enter shipping information, enter billing information</a:t>
            </a:r>
          </a:p>
          <a:p>
            <a:pPr marL="341313" indent="-341313"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Problem: how does the server know which users generated which HTTP requests?</a:t>
            </a:r>
          </a:p>
          <a:p>
            <a:pPr marL="741363" lvl="1" indent="-284163"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Cannot rely on standard HTTP headers to identify a user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7"/>
            <a:ext cx="8229600" cy="407196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Session</a:t>
            </a:r>
            <a:r>
              <a:rPr lang="en-IN" dirty="0"/>
              <a:t> simply means a particular interval of time.</a:t>
            </a:r>
          </a:p>
          <a:p>
            <a:r>
              <a:rPr lang="en-IN" b="1" dirty="0"/>
              <a:t>Session Tracking</a:t>
            </a:r>
            <a:r>
              <a:rPr lang="en-IN" dirty="0"/>
              <a:t> is a way to maintain state (data) of an user. It is also known as </a:t>
            </a:r>
            <a:r>
              <a:rPr lang="en-IN" b="1" dirty="0"/>
              <a:t>session management</a:t>
            </a:r>
            <a:r>
              <a:rPr lang="en-IN" dirty="0"/>
              <a:t> in </a:t>
            </a:r>
            <a:r>
              <a:rPr lang="en-IN" dirty="0" err="1"/>
              <a:t>servlet</a:t>
            </a:r>
            <a:r>
              <a:rPr lang="en-IN" dirty="0"/>
              <a:t>.</a:t>
            </a:r>
          </a:p>
          <a:p>
            <a:r>
              <a:rPr lang="en-IN" dirty="0"/>
              <a:t>Http protocol is a stateless so we need to maintain state using session tracking techniques</a:t>
            </a:r>
          </a:p>
          <a:p>
            <a:r>
              <a:rPr lang="en-IN" dirty="0"/>
              <a:t>Each time user requests to the server, server treats the request as the new request. </a:t>
            </a:r>
          </a:p>
          <a:p>
            <a:endParaRPr lang="en-IN" dirty="0"/>
          </a:p>
        </p:txBody>
      </p:sp>
      <p:sp>
        <p:nvSpPr>
          <p:cNvPr id="1026" name="AutoShape 2" descr="session track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8" name="AutoShape 4" descr="session track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IN" sz="4000" dirty="0"/>
              <a:t>Session tracking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four techniques used in Session tracking</a:t>
            </a:r>
          </a:p>
          <a:p>
            <a:pPr lvl="1"/>
            <a:r>
              <a:rPr lang="en-IN" dirty="0" err="1"/>
              <a:t>HttpSession</a:t>
            </a:r>
            <a:endParaRPr lang="en-IN" dirty="0"/>
          </a:p>
          <a:p>
            <a:pPr lvl="1"/>
            <a:r>
              <a:rPr lang="en-IN" dirty="0"/>
              <a:t>Cookies</a:t>
            </a:r>
          </a:p>
          <a:p>
            <a:pPr lvl="1"/>
            <a:r>
              <a:rPr lang="en-IN" dirty="0"/>
              <a:t>Hidden Form Field</a:t>
            </a:r>
          </a:p>
          <a:p>
            <a:pPr lvl="1"/>
            <a:r>
              <a:rPr lang="en-IN" dirty="0"/>
              <a:t>URL Rewriting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7BFE0D-DF2F-351C-8F45-731C2F818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32656"/>
            <a:ext cx="8683272" cy="634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2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2A7A2D-A078-6B15-59F0-DE002866F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808"/>
            <a:ext cx="9324528" cy="425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5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4057" y="2263716"/>
            <a:ext cx="5793191" cy="121157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2193109" marR="4454" indent="-2182531">
              <a:spcBef>
                <a:spcPts val="88"/>
              </a:spcBef>
            </a:pP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Session </a:t>
            </a:r>
            <a:r>
              <a:rPr sz="3900" spc="-44" dirty="0">
                <a:solidFill>
                  <a:srgbClr val="000000"/>
                </a:solidFill>
                <a:latin typeface="Calibri"/>
                <a:cs typeface="Calibri"/>
              </a:rPr>
              <a:t>Tracking </a:t>
            </a: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Mechanism </a:t>
            </a:r>
            <a:r>
              <a:rPr sz="3900">
                <a:solidFill>
                  <a:srgbClr val="000000"/>
                </a:solidFill>
                <a:latin typeface="Calibri"/>
                <a:cs typeface="Calibri"/>
              </a:rPr>
              <a:t>-  </a:t>
            </a:r>
            <a:r>
              <a:rPr lang="en-IN" sz="3900" dirty="0" err="1">
                <a:solidFill>
                  <a:srgbClr val="000000"/>
                </a:solidFill>
                <a:latin typeface="Calibri"/>
                <a:cs typeface="Calibri"/>
              </a:rPr>
              <a:t>HttpSession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1915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Sessions tracking using session object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676400"/>
            <a:ext cx="6019800" cy="42433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676400"/>
            <a:ext cx="6019800" cy="42433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50179" name="Oval 3"/>
          <p:cNvSpPr>
            <a:spLocks noChangeArrowheads="1"/>
          </p:cNvSpPr>
          <p:nvPr/>
        </p:nvSpPr>
        <p:spPr bwMode="auto">
          <a:xfrm>
            <a:off x="2895600" y="2667000"/>
            <a:ext cx="1828800" cy="457200"/>
          </a:xfrm>
          <a:prstGeom prst="ellipse">
            <a:avLst/>
          </a:prstGeom>
          <a:solidFill>
            <a:srgbClr val="008080">
              <a:alpha val="50000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368300" y="2779713"/>
            <a:ext cx="2070100" cy="14652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Server sends back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new unique 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session ID when 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the request has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none</a:t>
            </a:r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0181" name="Line 5"/>
          <p:cNvSpPr>
            <a:spLocks noChangeShapeType="1"/>
          </p:cNvSpPr>
          <p:nvPr/>
        </p:nvSpPr>
        <p:spPr bwMode="auto">
          <a:xfrm flipV="1">
            <a:off x="1981200" y="3046413"/>
            <a:ext cx="1143000" cy="231775"/>
          </a:xfrm>
          <a:prstGeom prst="line">
            <a:avLst/>
          </a:prstGeom>
          <a:noFill/>
          <a:ln w="9360" cap="sq">
            <a:solidFill>
              <a:srgbClr val="00808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Sessions tracking using session object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676400"/>
            <a:ext cx="6019800" cy="42433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51203" name="Oval 3"/>
          <p:cNvSpPr>
            <a:spLocks noChangeArrowheads="1"/>
          </p:cNvSpPr>
          <p:nvPr/>
        </p:nvSpPr>
        <p:spPr bwMode="auto">
          <a:xfrm>
            <a:off x="2819400" y="3505200"/>
            <a:ext cx="1981200" cy="457200"/>
          </a:xfrm>
          <a:prstGeom prst="ellipse">
            <a:avLst/>
          </a:prstGeom>
          <a:solidFill>
            <a:srgbClr val="008080">
              <a:alpha val="50000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15900" y="3313113"/>
            <a:ext cx="2146300" cy="17399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Client that supports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session stores the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ID and sends it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back to the server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in subsequent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requests</a:t>
            </a: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133600" y="3808413"/>
            <a:ext cx="762000" cy="231775"/>
          </a:xfrm>
          <a:prstGeom prst="line">
            <a:avLst/>
          </a:prstGeom>
          <a:noFill/>
          <a:ln w="9360" cap="sq">
            <a:solidFill>
              <a:srgbClr val="00808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Sessions tracking using session object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676400"/>
            <a:ext cx="6019800" cy="42433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52227" name="AutoShape 3"/>
          <p:cNvSpPr>
            <a:spLocks noChangeArrowheads="1"/>
          </p:cNvSpPr>
          <p:nvPr/>
        </p:nvSpPr>
        <p:spPr bwMode="auto">
          <a:xfrm>
            <a:off x="2971800" y="2057400"/>
            <a:ext cx="1752600" cy="3733800"/>
          </a:xfrm>
          <a:prstGeom prst="roundRect">
            <a:avLst>
              <a:gd name="adj" fmla="val 16667"/>
            </a:avLst>
          </a:prstGeom>
          <a:solidFill>
            <a:srgbClr val="008080">
              <a:alpha val="50000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595313" y="3313113"/>
            <a:ext cx="1728787" cy="2289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Server knows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that all of these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requests are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from the same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client.  The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set of requests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is known as a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i="1">
                <a:solidFill>
                  <a:srgbClr val="008080"/>
                </a:solidFill>
              </a:rPr>
              <a:t>session</a:t>
            </a:r>
            <a:r>
              <a:rPr lang="en-US">
                <a:solidFill>
                  <a:srgbClr val="008080"/>
                </a:solidFill>
              </a:rPr>
              <a:t>.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Sessions tracking using session object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676400"/>
            <a:ext cx="6019800" cy="42433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53251" name="AutoShape 3"/>
          <p:cNvSpPr>
            <a:spLocks noChangeArrowheads="1"/>
          </p:cNvSpPr>
          <p:nvPr/>
        </p:nvSpPr>
        <p:spPr bwMode="auto">
          <a:xfrm>
            <a:off x="5257800" y="2133600"/>
            <a:ext cx="1600200" cy="3581400"/>
          </a:xfrm>
          <a:prstGeom prst="roundRect">
            <a:avLst>
              <a:gd name="adj" fmla="val 16667"/>
            </a:avLst>
          </a:prstGeom>
          <a:solidFill>
            <a:srgbClr val="008080">
              <a:alpha val="50000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7224713" y="2474913"/>
            <a:ext cx="1716087" cy="17399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And the server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knows that all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of these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requests are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from a different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8080"/>
                </a:solidFill>
              </a:rPr>
              <a:t>client.</a:t>
            </a:r>
          </a:p>
        </p:txBody>
      </p:sp>
      <p:sp>
        <p:nvSpPr>
          <p:cNvPr id="1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normAutofit fontScale="90000"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Sessions tracking using session object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21821"/>
            <a:ext cx="8229600" cy="1048634"/>
          </a:xfrm>
          <a:prstGeom prst="rect">
            <a:avLst/>
          </a:prstGeom>
        </p:spPr>
        <p:txBody>
          <a:bodyPr vert="horz" wrap="square" lIns="0" tIns="367932" rIns="0" bIns="0" rtlCol="0" anchor="ctr">
            <a:spAutoFit/>
          </a:bodyPr>
          <a:lstStyle/>
          <a:p>
            <a:pPr marL="1321634">
              <a:spcBef>
                <a:spcPts val="86"/>
              </a:spcBef>
            </a:pPr>
            <a:r>
              <a:rPr dirty="0"/>
              <a:t>How</a:t>
            </a:r>
            <a:r>
              <a:rPr spc="-94" dirty="0"/>
              <a:t> </a:t>
            </a:r>
            <a:r>
              <a:rPr dirty="0"/>
              <a:t>Sessions</a:t>
            </a:r>
            <a:r>
              <a:rPr spc="-81" dirty="0"/>
              <a:t> </a:t>
            </a:r>
            <a:r>
              <a:rPr spc="-9" dirty="0"/>
              <a:t>Work?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3049" y="1841506"/>
            <a:ext cx="5457729" cy="19456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7288" y="3922688"/>
            <a:ext cx="5025690" cy="18896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98095" y="6813293"/>
            <a:ext cx="69278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0860">
              <a:lnSpc>
                <a:spcPts val="1060"/>
              </a:lnSpc>
            </a:pPr>
            <a:r>
              <a:rPr lang="en-IN"/>
              <a:t>K.</a:t>
            </a:r>
            <a:r>
              <a:rPr lang="en-IN" spc="-25"/>
              <a:t> </a:t>
            </a:r>
            <a:r>
              <a:rPr lang="en-IN" spc="-10"/>
              <a:t>Vallidevi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174361" y="6813293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16</a:t>
            </a:fld>
            <a:endParaRPr spc="-2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955" y="577694"/>
            <a:ext cx="7037188" cy="688074"/>
          </a:xfrm>
          <a:prstGeom prst="rect">
            <a:avLst/>
          </a:prstGeom>
        </p:spPr>
        <p:txBody>
          <a:bodyPr vert="horz" wrap="square" lIns="0" tIns="10860" rIns="0" bIns="0" rtlCol="0" anchor="ctr">
            <a:spAutoFit/>
          </a:bodyPr>
          <a:lstStyle/>
          <a:p>
            <a:pPr marL="1359100">
              <a:spcBef>
                <a:spcPts val="86"/>
              </a:spcBef>
            </a:pPr>
            <a:r>
              <a:rPr dirty="0"/>
              <a:t>How</a:t>
            </a:r>
            <a:r>
              <a:rPr spc="-94" dirty="0"/>
              <a:t> </a:t>
            </a:r>
            <a:r>
              <a:rPr dirty="0"/>
              <a:t>Sessions</a:t>
            </a:r>
            <a:r>
              <a:rPr spc="-81" dirty="0"/>
              <a:t> </a:t>
            </a:r>
            <a:r>
              <a:rPr spc="-9" dirty="0"/>
              <a:t>Work?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142" y="1414061"/>
            <a:ext cx="6146351" cy="19544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605" y="3555202"/>
            <a:ext cx="6063188" cy="18817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98095" y="6813293"/>
            <a:ext cx="69278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0860">
              <a:lnSpc>
                <a:spcPts val="1060"/>
              </a:lnSpc>
            </a:pPr>
            <a:r>
              <a:rPr lang="en-IN"/>
              <a:t>K.</a:t>
            </a:r>
            <a:r>
              <a:rPr lang="en-IN" spc="-25"/>
              <a:t> </a:t>
            </a:r>
            <a:r>
              <a:rPr lang="en-IN" spc="-10"/>
              <a:t>Vallidevi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174361" y="6813293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17</a:t>
            </a:fld>
            <a:endParaRPr spc="-2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844" y="1063831"/>
            <a:ext cx="3290537" cy="4479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662" y="2023951"/>
            <a:ext cx="7635347" cy="34821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998095" y="6813293"/>
            <a:ext cx="69278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0860">
              <a:lnSpc>
                <a:spcPts val="1060"/>
              </a:lnSpc>
            </a:pPr>
            <a:r>
              <a:rPr lang="en-IN"/>
              <a:t>K.</a:t>
            </a:r>
            <a:r>
              <a:rPr lang="en-IN" spc="-25"/>
              <a:t> </a:t>
            </a:r>
            <a:r>
              <a:rPr lang="en-IN" spc="-10"/>
              <a:t>Vallidevi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174361" y="6813293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18</a:t>
            </a:fld>
            <a:endParaRPr spc="-2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9815" y="1063529"/>
            <a:ext cx="3253086" cy="2600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2855" y="1780256"/>
            <a:ext cx="5847798" cy="16183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0475" y="3796281"/>
            <a:ext cx="5560903" cy="175123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98095" y="6813293"/>
            <a:ext cx="69278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0860">
              <a:lnSpc>
                <a:spcPts val="1060"/>
              </a:lnSpc>
            </a:pPr>
            <a:r>
              <a:rPr lang="en-IN"/>
              <a:t>K.</a:t>
            </a:r>
            <a:r>
              <a:rPr lang="en-IN" spc="-25"/>
              <a:t> </a:t>
            </a:r>
            <a:r>
              <a:rPr lang="en-IN" spc="-10"/>
              <a:t>Vallidevi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174361" y="6813293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19</a:t>
            </a:fld>
            <a:endParaRPr spc="-2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6076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/>
              <a:t>Methods and Description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720" y="1357298"/>
            <a:ext cx="8286808" cy="5214974"/>
          </a:xfrm>
          <a:prstGeom prst="rect">
            <a:avLst/>
          </a:prstGeom>
          <a:ln/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IN" sz="2400" b="1" dirty="0"/>
              <a:t>public </a:t>
            </a:r>
            <a:r>
              <a:rPr lang="en-IN" sz="2400" b="1" dirty="0" err="1"/>
              <a:t>boolean</a:t>
            </a:r>
            <a:r>
              <a:rPr lang="en-IN" sz="2400" b="1" dirty="0"/>
              <a:t> </a:t>
            </a:r>
            <a:r>
              <a:rPr lang="en-IN" sz="2400" b="1" dirty="0" err="1"/>
              <a:t>isNew</a:t>
            </a:r>
            <a:r>
              <a:rPr lang="en-IN" sz="2400" b="1" dirty="0"/>
              <a:t>()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/>
              <a:t>returns true if the session is true otherwise false</a:t>
            </a:r>
          </a:p>
          <a:p>
            <a:pPr>
              <a:buFont typeface="Wingdings" pitchFamily="2" charset="2"/>
              <a:buChar char="ü"/>
            </a:pPr>
            <a:r>
              <a:rPr lang="en-IN" sz="2400" b="1" dirty="0"/>
              <a:t>public String </a:t>
            </a:r>
            <a:r>
              <a:rPr lang="en-IN" sz="2400" b="1" dirty="0" err="1"/>
              <a:t>getId</a:t>
            </a:r>
            <a:r>
              <a:rPr lang="en-IN" sz="2400" b="1" dirty="0"/>
              <a:t>()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>
                <a:sym typeface="Wingdings" pitchFamily="2" charset="2"/>
              </a:rPr>
              <a:t>re</a:t>
            </a:r>
            <a:r>
              <a:rPr lang="en-IN" sz="2400" dirty="0"/>
              <a:t>turns a string containing the unique identifier assigned to the session</a:t>
            </a:r>
          </a:p>
          <a:p>
            <a:pPr>
              <a:buFont typeface="Wingdings" pitchFamily="2" charset="2"/>
              <a:buChar char="ü"/>
            </a:pPr>
            <a:r>
              <a:rPr lang="en-IN" sz="2400" b="1" dirty="0"/>
              <a:t>public long </a:t>
            </a:r>
            <a:r>
              <a:rPr lang="en-IN" sz="2400" b="1" dirty="0" err="1"/>
              <a:t>getCreationTime</a:t>
            </a:r>
            <a:r>
              <a:rPr lang="en-IN" sz="2400" b="1" dirty="0"/>
              <a:t>()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/>
              <a:t>returns the time when this session was created</a:t>
            </a:r>
          </a:p>
          <a:p>
            <a:pPr>
              <a:buFont typeface="Wingdings" pitchFamily="2" charset="2"/>
              <a:buChar char="ü"/>
            </a:pPr>
            <a:r>
              <a:rPr lang="en-IN" sz="2400" b="1" dirty="0"/>
              <a:t>public long </a:t>
            </a:r>
            <a:r>
              <a:rPr lang="en-IN" sz="2400" b="1" dirty="0" err="1"/>
              <a:t>getLastAccessedTime</a:t>
            </a:r>
            <a:r>
              <a:rPr lang="en-IN" sz="2400" b="1" dirty="0"/>
              <a:t>()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/>
              <a:t>returns the last time the client sent a request associated with this session</a:t>
            </a:r>
          </a:p>
          <a:p>
            <a:pPr>
              <a:buFont typeface="Wingdings" pitchFamily="2" charset="2"/>
              <a:buChar char="ü"/>
            </a:pPr>
            <a:r>
              <a:rPr lang="en-IN" sz="2400" b="1" dirty="0"/>
              <a:t>public void </a:t>
            </a:r>
            <a:r>
              <a:rPr lang="en-IN" sz="2400" b="1" dirty="0" err="1"/>
              <a:t>setAttribute</a:t>
            </a:r>
            <a:r>
              <a:rPr lang="en-IN" sz="2400" b="1" dirty="0"/>
              <a:t>(String name, Object value)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>
                <a:sym typeface="Wingdings" pitchFamily="2" charset="2"/>
              </a:rPr>
              <a:t>B</a:t>
            </a:r>
            <a:r>
              <a:rPr lang="en-IN" sz="2400" dirty="0"/>
              <a:t>inds an object to this session, using the name specified</a:t>
            </a:r>
          </a:p>
          <a:p>
            <a:pPr lvl="1"/>
            <a:endParaRPr lang="en-IN" sz="2400" dirty="0"/>
          </a:p>
          <a:p>
            <a:endParaRPr lang="en-IN" sz="2400" b="1" dirty="0"/>
          </a:p>
          <a:p>
            <a:endParaRPr lang="en-IN" sz="2400" dirty="0"/>
          </a:p>
          <a:p>
            <a:endParaRPr lang="en-I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/>
              <a:t>Methods and Description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720" y="1214422"/>
            <a:ext cx="8286808" cy="5286412"/>
          </a:xfrm>
          <a:prstGeom prst="rect">
            <a:avLst/>
          </a:prstGeom>
          <a:ln/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IN" sz="2400" b="1" dirty="0"/>
              <a:t>public Object </a:t>
            </a:r>
            <a:r>
              <a:rPr lang="en-IN" sz="2400" b="1" dirty="0" err="1"/>
              <a:t>getAttribute</a:t>
            </a:r>
            <a:r>
              <a:rPr lang="en-IN" sz="2400" b="1" dirty="0"/>
              <a:t>(String name)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/>
              <a:t>method returns the object bound with the specified name in this session, or null if no object is bound under the name</a:t>
            </a:r>
          </a:p>
          <a:p>
            <a:pPr>
              <a:buFont typeface="Wingdings" pitchFamily="2" charset="2"/>
              <a:buChar char="ü"/>
            </a:pPr>
            <a:r>
              <a:rPr lang="en-IN" sz="2400" b="1" dirty="0"/>
              <a:t>public Enumeration </a:t>
            </a:r>
            <a:r>
              <a:rPr lang="en-IN" sz="2400" b="1" dirty="0" err="1"/>
              <a:t>getAttributeNames</a:t>
            </a:r>
            <a:r>
              <a:rPr lang="en-IN" sz="2400" b="1" dirty="0"/>
              <a:t>()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/>
              <a:t>This method returns an Enumeration of String objects containing the names of all the objects bound to this session</a:t>
            </a:r>
          </a:p>
          <a:p>
            <a:pPr>
              <a:buFont typeface="Wingdings" pitchFamily="2" charset="2"/>
              <a:buChar char="ü"/>
            </a:pPr>
            <a:r>
              <a:rPr lang="en-IN" sz="2400" b="1" dirty="0"/>
              <a:t>public </a:t>
            </a:r>
            <a:r>
              <a:rPr lang="en-IN" sz="2400" b="1" dirty="0" err="1"/>
              <a:t>int</a:t>
            </a:r>
            <a:r>
              <a:rPr lang="en-IN" sz="2400" b="1" dirty="0"/>
              <a:t> </a:t>
            </a:r>
            <a:r>
              <a:rPr lang="en-IN" sz="2400" b="1" dirty="0" err="1"/>
              <a:t>getMaxInactiveInterval</a:t>
            </a:r>
            <a:r>
              <a:rPr lang="en-IN" sz="2400" b="1" dirty="0"/>
              <a:t>()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/>
              <a:t>returns the maximum time interval, in seconds, that the </a:t>
            </a:r>
            <a:r>
              <a:rPr lang="en-IN" sz="2400" dirty="0" err="1"/>
              <a:t>servlet</a:t>
            </a:r>
            <a:r>
              <a:rPr lang="en-IN" sz="2400" dirty="0"/>
              <a:t> container will keep this session open between client accesses</a:t>
            </a:r>
          </a:p>
          <a:p>
            <a:pPr>
              <a:buFont typeface="Wingdings" pitchFamily="2" charset="2"/>
              <a:buChar char="ü"/>
            </a:pPr>
            <a:r>
              <a:rPr lang="en-IN" sz="2400" b="1" dirty="0"/>
              <a:t>public void invalidate()</a:t>
            </a:r>
            <a:endParaRPr lang="en-IN" sz="2400" dirty="0"/>
          </a:p>
          <a:p>
            <a:pPr lvl="1">
              <a:buFont typeface="Wingdings" pitchFamily="2" charset="2"/>
              <a:buChar char="ü"/>
            </a:pPr>
            <a:r>
              <a:rPr lang="en-IN" sz="2400" dirty="0"/>
              <a:t>This method invalidates this session and unbinds any objects bound to it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/>
              <a:t>Session Attributes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720" y="857232"/>
            <a:ext cx="8286808" cy="5715040"/>
          </a:xfrm>
          <a:prstGeom prst="rect">
            <a:avLst/>
          </a:prstGeom>
          <a:ln/>
        </p:spPr>
        <p:txBody>
          <a:bodyPr/>
          <a:lstStyle/>
          <a:p>
            <a:r>
              <a:rPr lang="en-IN" sz="2400" b="1" dirty="0">
                <a:solidFill>
                  <a:srgbClr val="0070C0"/>
                </a:solidFill>
              </a:rPr>
              <a:t>Code in </a:t>
            </a:r>
            <a:r>
              <a:rPr lang="en-IN" sz="2400" b="1" dirty="0" err="1">
                <a:solidFill>
                  <a:srgbClr val="0070C0"/>
                </a:solidFill>
              </a:rPr>
              <a:t>DoGet</a:t>
            </a:r>
            <a:r>
              <a:rPr lang="en-IN" sz="2400" b="1" dirty="0">
                <a:solidFill>
                  <a:srgbClr val="0070C0"/>
                </a:solidFill>
              </a:rPr>
              <a:t>() Method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response.setContentType</a:t>
            </a:r>
            <a:r>
              <a:rPr lang="en-IN" sz="2400" dirty="0"/>
              <a:t>("text/plain");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PrintWriter</a:t>
            </a:r>
            <a:r>
              <a:rPr lang="en-IN" sz="2400" dirty="0"/>
              <a:t> out = </a:t>
            </a:r>
            <a:r>
              <a:rPr lang="en-IN" sz="2400" dirty="0" err="1"/>
              <a:t>response.getWriter</a:t>
            </a:r>
            <a:r>
              <a:rPr lang="en-IN" sz="2400" dirty="0"/>
              <a:t>();</a:t>
            </a:r>
          </a:p>
          <a:p>
            <a:r>
              <a:rPr lang="en-IN" sz="2400" dirty="0"/>
              <a:t> // Create a session object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HttpSession</a:t>
            </a:r>
            <a:r>
              <a:rPr lang="en-IN" sz="2400" dirty="0"/>
              <a:t> session = </a:t>
            </a:r>
            <a:r>
              <a:rPr lang="en-IN" sz="2400" dirty="0" err="1"/>
              <a:t>request.getSession</a:t>
            </a:r>
            <a:r>
              <a:rPr lang="en-IN" sz="2400" dirty="0"/>
              <a:t>(true);</a:t>
            </a:r>
          </a:p>
          <a:p>
            <a:r>
              <a:rPr lang="en-IN" sz="2400" dirty="0"/>
              <a:t> // Get session creation time.</a:t>
            </a:r>
          </a:p>
          <a:p>
            <a:r>
              <a:rPr lang="en-IN" sz="2400" dirty="0"/>
              <a:t> Date </a:t>
            </a:r>
            <a:r>
              <a:rPr lang="en-IN" sz="2400" dirty="0" err="1"/>
              <a:t>createTime</a:t>
            </a:r>
            <a:r>
              <a:rPr lang="en-IN" sz="2400" dirty="0"/>
              <a:t> = new Date(</a:t>
            </a:r>
            <a:r>
              <a:rPr lang="en-IN" sz="2400" dirty="0" err="1"/>
              <a:t>session.getCreationTime</a:t>
            </a:r>
            <a:r>
              <a:rPr lang="en-IN" sz="2400" dirty="0"/>
              <a:t>());</a:t>
            </a:r>
          </a:p>
          <a:p>
            <a:r>
              <a:rPr lang="en-IN" sz="2400" dirty="0"/>
              <a:t> // Get last access time of this web page.</a:t>
            </a:r>
          </a:p>
          <a:p>
            <a:r>
              <a:rPr lang="en-IN" sz="2400" dirty="0"/>
              <a:t> Date </a:t>
            </a:r>
            <a:r>
              <a:rPr lang="en-IN" sz="2400" dirty="0" err="1"/>
              <a:t>lastAccessTime</a:t>
            </a:r>
            <a:r>
              <a:rPr lang="en-IN" sz="2400" dirty="0"/>
              <a:t> = </a:t>
            </a:r>
          </a:p>
          <a:p>
            <a:r>
              <a:rPr lang="en-IN" sz="2400" dirty="0"/>
              <a:t>                        new Date(</a:t>
            </a:r>
            <a:r>
              <a:rPr lang="en-IN" sz="2400" dirty="0" err="1"/>
              <a:t>session.getLastAccessedTime</a:t>
            </a:r>
            <a:r>
              <a:rPr lang="en-IN" sz="2400" dirty="0"/>
              <a:t>());     </a:t>
            </a:r>
          </a:p>
          <a:p>
            <a:r>
              <a:rPr lang="en-IN" sz="2400" dirty="0"/>
              <a:t>     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out.println</a:t>
            </a:r>
            <a:r>
              <a:rPr lang="en-IN" sz="2400" dirty="0"/>
              <a:t>("Session Id:"+</a:t>
            </a:r>
            <a:r>
              <a:rPr lang="en-IN" sz="2400" dirty="0" err="1"/>
              <a:t>session.getId</a:t>
            </a:r>
            <a:r>
              <a:rPr lang="en-IN" sz="2400" dirty="0"/>
              <a:t>());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out.println</a:t>
            </a:r>
            <a:r>
              <a:rPr lang="en-IN" sz="2400" dirty="0"/>
              <a:t>("Date of session creation:"+</a:t>
            </a:r>
            <a:r>
              <a:rPr lang="en-IN" sz="2400" dirty="0" err="1"/>
              <a:t>createTime</a:t>
            </a:r>
            <a:r>
              <a:rPr lang="en-IN" sz="2400" dirty="0"/>
              <a:t>);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out.println</a:t>
            </a:r>
            <a:r>
              <a:rPr lang="en-IN" sz="2400" dirty="0"/>
              <a:t>("Last Accessed Time:"+</a:t>
            </a:r>
            <a:r>
              <a:rPr lang="en-IN" sz="2400" dirty="0" err="1"/>
              <a:t>lastAccessTime</a:t>
            </a:r>
            <a:r>
              <a:rPr lang="en-IN" sz="2400" dirty="0"/>
              <a:t>);</a:t>
            </a:r>
          </a:p>
          <a:p>
            <a:endParaRPr lang="en-IN" sz="16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929190" y="1214422"/>
            <a:ext cx="5257808" cy="4525963"/>
          </a:xfrm>
          <a:prstGeom prst="rect">
            <a:avLst/>
          </a:prstGeom>
          <a:ln/>
        </p:spPr>
        <p:txBody>
          <a:bodyPr/>
          <a:lstStyle/>
          <a:p>
            <a:endParaRPr lang="en-IN" sz="1600" dirty="0"/>
          </a:p>
          <a:p>
            <a:r>
              <a:rPr lang="en-IN" sz="1600" dirty="0"/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9256" y="1285860"/>
            <a:ext cx="3819525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786578" y="92867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Output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How to check whether the session is new or not?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ln/>
        </p:spPr>
        <p:txBody>
          <a:bodyPr/>
          <a:lstStyle/>
          <a:p>
            <a:r>
              <a:rPr lang="en-IN" sz="3200" dirty="0"/>
              <a:t>public class </a:t>
            </a:r>
            <a:r>
              <a:rPr lang="en-IN" sz="3200" dirty="0" err="1"/>
              <a:t>CountServlet</a:t>
            </a:r>
            <a:r>
              <a:rPr lang="en-IN" sz="3200" dirty="0"/>
              <a:t> extends </a:t>
            </a:r>
            <a:r>
              <a:rPr lang="en-IN" sz="3200" dirty="0" err="1"/>
              <a:t>HttpServlet</a:t>
            </a:r>
            <a:r>
              <a:rPr lang="en-IN" sz="3200" dirty="0"/>
              <a:t> { </a:t>
            </a:r>
          </a:p>
          <a:p>
            <a:r>
              <a:rPr lang="en-IN" sz="3200" dirty="0" err="1"/>
              <a:t>int</a:t>
            </a:r>
            <a:r>
              <a:rPr lang="en-IN" sz="3200" dirty="0"/>
              <a:t> visits=0;</a:t>
            </a:r>
          </a:p>
          <a:p>
            <a:r>
              <a:rPr lang="en-IN" sz="3200" dirty="0"/>
              <a:t>public void </a:t>
            </a:r>
            <a:r>
              <a:rPr lang="en-IN" sz="3200" dirty="0" err="1"/>
              <a:t>doGet</a:t>
            </a:r>
            <a:r>
              <a:rPr lang="en-IN" sz="3200" dirty="0"/>
              <a:t>(...)</a:t>
            </a:r>
          </a:p>
          <a:p>
            <a:r>
              <a:rPr lang="en-IN" sz="3200" dirty="0"/>
              <a:t>{    </a:t>
            </a:r>
          </a:p>
          <a:p>
            <a:r>
              <a:rPr lang="en-IN" sz="3200" dirty="0"/>
              <a:t>  </a:t>
            </a:r>
            <a:r>
              <a:rPr lang="en-IN" sz="3200" dirty="0" err="1"/>
              <a:t>HttpSession</a:t>
            </a:r>
            <a:r>
              <a:rPr lang="en-IN" sz="3200" dirty="0"/>
              <a:t> session = </a:t>
            </a:r>
            <a:r>
              <a:rPr lang="en-IN" sz="3200" dirty="0" err="1"/>
              <a:t>req.getSession</a:t>
            </a:r>
            <a:r>
              <a:rPr lang="en-IN" sz="3200" dirty="0"/>
              <a:t>(true);</a:t>
            </a:r>
          </a:p>
          <a:p>
            <a:r>
              <a:rPr lang="en-IN" sz="3200" dirty="0"/>
              <a:t>  </a:t>
            </a:r>
            <a:r>
              <a:rPr lang="en-IN" sz="3200" dirty="0">
                <a:solidFill>
                  <a:srgbClr val="FF0000"/>
                </a:solidFill>
              </a:rPr>
              <a:t>if(</a:t>
            </a:r>
            <a:r>
              <a:rPr lang="en-IN" sz="3200" dirty="0" err="1">
                <a:solidFill>
                  <a:srgbClr val="FF0000"/>
                </a:solidFill>
              </a:rPr>
              <a:t>session.isNew</a:t>
            </a:r>
            <a:r>
              <a:rPr lang="en-IN" sz="3200" dirty="0">
                <a:solidFill>
                  <a:srgbClr val="FF0000"/>
                </a:solidFill>
              </a:rPr>
              <a:t>())</a:t>
            </a:r>
          </a:p>
          <a:p>
            <a:r>
              <a:rPr lang="en-IN" sz="3200" dirty="0"/>
              <a:t>    </a:t>
            </a:r>
            <a:r>
              <a:rPr lang="en-IN" sz="3200" dirty="0" err="1"/>
              <a:t>out.println</a:t>
            </a:r>
            <a:r>
              <a:rPr lang="en-IN" sz="3200" dirty="0"/>
              <a:t>(“Welcome to the website”);</a:t>
            </a:r>
          </a:p>
          <a:p>
            <a:r>
              <a:rPr lang="en-IN" sz="3200" dirty="0"/>
              <a:t>  else</a:t>
            </a:r>
          </a:p>
          <a:p>
            <a:r>
              <a:rPr lang="en-IN" sz="3200" dirty="0"/>
              <a:t>    </a:t>
            </a:r>
            <a:r>
              <a:rPr lang="en-IN" sz="3200" dirty="0" err="1"/>
              <a:t>out.println</a:t>
            </a:r>
            <a:r>
              <a:rPr lang="en-IN" sz="3200" dirty="0"/>
              <a:t>(“Welcome back”);}}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Set the attribute in the session scope in one </a:t>
            </a:r>
            <a:r>
              <a:rPr lang="en-IN" dirty="0" err="1">
                <a:solidFill>
                  <a:srgbClr val="FF0000"/>
                </a:solidFill>
              </a:rPr>
              <a:t>servlet</a:t>
            </a:r>
            <a:r>
              <a:rPr lang="en-IN" dirty="0">
                <a:solidFill>
                  <a:srgbClr val="FF0000"/>
                </a:solidFill>
              </a:rPr>
              <a:t> and get that value from the session scope </a:t>
            </a:r>
            <a:r>
              <a:rPr lang="en-IN" dirty="0"/>
              <a:t>in another </a:t>
            </a:r>
            <a:r>
              <a:rPr lang="en-IN" dirty="0" err="1"/>
              <a:t>servlet</a:t>
            </a:r>
            <a:r>
              <a:rPr lang="en-IN" dirty="0"/>
              <a:t> </a:t>
            </a:r>
          </a:p>
          <a:p>
            <a:pPr algn="just"/>
            <a:r>
              <a:rPr lang="en-IN" dirty="0"/>
              <a:t>To set the attribute in the session scope,  </a:t>
            </a:r>
            <a:r>
              <a:rPr lang="en-IN" dirty="0" err="1"/>
              <a:t>setAttribute</a:t>
            </a:r>
            <a:r>
              <a:rPr lang="en-IN" dirty="0"/>
              <a:t>() method of </a:t>
            </a:r>
            <a:r>
              <a:rPr lang="en-IN" dirty="0" err="1"/>
              <a:t>HttpSession</a:t>
            </a:r>
            <a:r>
              <a:rPr lang="en-IN" dirty="0"/>
              <a:t>  is used </a:t>
            </a:r>
          </a:p>
          <a:p>
            <a:pPr algn="just"/>
            <a:r>
              <a:rPr lang="en-IN" dirty="0"/>
              <a:t>To get the attribute in the session scope,  </a:t>
            </a:r>
            <a:r>
              <a:rPr lang="en-IN" dirty="0" err="1"/>
              <a:t>getAttribute</a:t>
            </a:r>
            <a:r>
              <a:rPr lang="en-IN" dirty="0"/>
              <a:t> method is used</a:t>
            </a: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IN" sz="4000" dirty="0"/>
              <a:t>Example for HTTP Session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Example for HTTP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401080" cy="5268931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IN" dirty="0" err="1"/>
              <a:t>request.getSession</a:t>
            </a:r>
            <a:r>
              <a:rPr lang="en-IN" dirty="0"/>
              <a:t>(true) returns current session. If current session does not exist, then </a:t>
            </a:r>
            <a:r>
              <a:rPr lang="en-IN" b="1" dirty="0"/>
              <a:t>it will create a new session</a:t>
            </a:r>
            <a:endParaRPr lang="en-IN" dirty="0"/>
          </a:p>
          <a:p>
            <a:pPr fontAlgn="base"/>
            <a:r>
              <a:rPr lang="en-IN" dirty="0" err="1"/>
              <a:t>request.getSession</a:t>
            </a:r>
            <a:r>
              <a:rPr lang="en-IN" dirty="0"/>
              <a:t>(false) returns current session if current session exists, then </a:t>
            </a:r>
            <a:r>
              <a:rPr lang="en-IN" b="1" dirty="0"/>
              <a:t>it will </a:t>
            </a:r>
            <a:r>
              <a:rPr lang="en-IN" b="1" i="1" dirty="0"/>
              <a:t>not</a:t>
            </a:r>
            <a:r>
              <a:rPr lang="en-IN" b="1" dirty="0"/>
              <a:t> create a new session</a:t>
            </a:r>
            <a:endParaRPr lang="en-IN" dirty="0"/>
          </a:p>
          <a:p>
            <a:pPr fontAlgn="base">
              <a:buNone/>
            </a:pPr>
            <a:r>
              <a:rPr lang="en-IN" dirty="0">
                <a:solidFill>
                  <a:srgbClr val="FF0000"/>
                </a:solidFill>
              </a:rPr>
              <a:t>Index.html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>
                <a:solidFill>
                  <a:srgbClr val="0000FF"/>
                </a:solidFill>
              </a:rPr>
              <a:t>form action="servlet1"</a:t>
            </a:r>
            <a:r>
              <a:rPr lang="en-IN" dirty="0"/>
              <a:t>&gt;  </a:t>
            </a:r>
          </a:p>
          <a:p>
            <a:pPr>
              <a:buNone/>
            </a:pPr>
            <a:r>
              <a:rPr lang="en-IN" dirty="0"/>
              <a:t>Name:&lt;input type="text" name="</a:t>
            </a:r>
            <a:r>
              <a:rPr lang="en-IN" dirty="0" err="1"/>
              <a:t>userName</a:t>
            </a:r>
            <a:r>
              <a:rPr lang="en-IN" dirty="0"/>
              <a:t>"/&gt;&lt;</a:t>
            </a:r>
            <a:r>
              <a:rPr lang="en-IN" dirty="0" err="1"/>
              <a:t>br</a:t>
            </a:r>
            <a:r>
              <a:rPr lang="en-IN" dirty="0"/>
              <a:t>/&gt;  </a:t>
            </a:r>
          </a:p>
          <a:p>
            <a:pPr>
              <a:buNone/>
            </a:pPr>
            <a:r>
              <a:rPr lang="en-IN" dirty="0"/>
              <a:t>&lt;input type="submit" value="go"/&gt;  </a:t>
            </a:r>
          </a:p>
          <a:p>
            <a:pPr>
              <a:buNone/>
            </a:pPr>
            <a:r>
              <a:rPr lang="en-IN" dirty="0"/>
              <a:t>&lt;/form&gt;  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2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FirstServlet.java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/>
              <a:t>import</a:t>
            </a:r>
            <a:r>
              <a:rPr lang="en-IN" sz="2400" dirty="0"/>
              <a:t> java.io.*;  </a:t>
            </a:r>
            <a:r>
              <a:rPr lang="en-IN" sz="2400" b="1" dirty="0"/>
              <a:t>import</a:t>
            </a:r>
            <a:r>
              <a:rPr lang="en-IN" sz="2400" dirty="0"/>
              <a:t> </a:t>
            </a:r>
            <a:r>
              <a:rPr lang="en-IN" sz="2400" dirty="0" err="1"/>
              <a:t>javax.servlet</a:t>
            </a:r>
            <a:r>
              <a:rPr lang="en-IN" sz="2400" dirty="0"/>
              <a:t>.*;  </a:t>
            </a:r>
            <a:r>
              <a:rPr lang="en-IN" sz="2400" b="1" dirty="0"/>
              <a:t>import</a:t>
            </a:r>
            <a:r>
              <a:rPr lang="en-IN" sz="2400" dirty="0"/>
              <a:t> </a:t>
            </a:r>
            <a:r>
              <a:rPr lang="en-IN" sz="2400" dirty="0" err="1"/>
              <a:t>javax.servlet.http</a:t>
            </a:r>
            <a:r>
              <a:rPr lang="en-IN" sz="2400" dirty="0"/>
              <a:t>.*;    </a:t>
            </a:r>
          </a:p>
          <a:p>
            <a:pPr>
              <a:buNone/>
            </a:pPr>
            <a:r>
              <a:rPr lang="en-IN" sz="2400" b="1" dirty="0"/>
              <a:t>public</a:t>
            </a:r>
            <a:r>
              <a:rPr lang="en-IN" sz="2400" dirty="0"/>
              <a:t> </a:t>
            </a:r>
            <a:r>
              <a:rPr lang="en-IN" sz="2400" b="1" dirty="0"/>
              <a:t>class</a:t>
            </a:r>
            <a:r>
              <a:rPr lang="en-IN" sz="2400" dirty="0"/>
              <a:t> </a:t>
            </a:r>
            <a:r>
              <a:rPr lang="en-IN" sz="2400" dirty="0" err="1"/>
              <a:t>FirstServlet</a:t>
            </a:r>
            <a:r>
              <a:rPr lang="en-IN" sz="2400" dirty="0"/>
              <a:t> </a:t>
            </a:r>
            <a:r>
              <a:rPr lang="en-IN" sz="2400" b="1" dirty="0"/>
              <a:t>extends</a:t>
            </a:r>
            <a:r>
              <a:rPr lang="en-IN" sz="2400" dirty="0"/>
              <a:t> </a:t>
            </a:r>
            <a:r>
              <a:rPr lang="en-IN" sz="2400" dirty="0" err="1"/>
              <a:t>HttpServlet</a:t>
            </a:r>
            <a:r>
              <a:rPr lang="en-IN" sz="2400" dirty="0"/>
              <a:t> {    </a:t>
            </a:r>
          </a:p>
          <a:p>
            <a:pPr>
              <a:buNone/>
            </a:pPr>
            <a:r>
              <a:rPr lang="en-IN" sz="2400" b="1" dirty="0"/>
              <a:t>public</a:t>
            </a:r>
            <a:r>
              <a:rPr lang="en-IN" sz="2400" dirty="0"/>
              <a:t> </a:t>
            </a:r>
            <a:r>
              <a:rPr lang="en-IN" sz="2400" b="1" dirty="0"/>
              <a:t>void</a:t>
            </a:r>
            <a:r>
              <a:rPr lang="en-IN" sz="2400" dirty="0"/>
              <a:t> </a:t>
            </a:r>
            <a:r>
              <a:rPr lang="en-IN" sz="2400" dirty="0" err="1"/>
              <a:t>doGet</a:t>
            </a:r>
            <a:r>
              <a:rPr lang="en-IN" sz="2400" dirty="0"/>
              <a:t>(</a:t>
            </a:r>
            <a:r>
              <a:rPr lang="en-IN" sz="2400" dirty="0" err="1"/>
              <a:t>HttpServletRequest</a:t>
            </a:r>
            <a:r>
              <a:rPr lang="en-IN" sz="2400" dirty="0"/>
              <a:t> request, </a:t>
            </a:r>
            <a:r>
              <a:rPr lang="en-IN" sz="2400" dirty="0" err="1"/>
              <a:t>HttpServletResponse</a:t>
            </a:r>
            <a:r>
              <a:rPr lang="en-IN" sz="2400" dirty="0"/>
              <a:t> response){ </a:t>
            </a:r>
          </a:p>
          <a:p>
            <a:pPr>
              <a:buNone/>
            </a:pPr>
            <a:r>
              <a:rPr lang="en-IN" sz="2400" dirty="0"/>
              <a:t> </a:t>
            </a:r>
            <a:r>
              <a:rPr lang="en-IN" sz="2400" b="1" dirty="0"/>
              <a:t>try</a:t>
            </a:r>
            <a:r>
              <a:rPr lang="en-IN" sz="2400" dirty="0"/>
              <a:t>{    </a:t>
            </a:r>
            <a:r>
              <a:rPr lang="en-IN" sz="2400" dirty="0" err="1"/>
              <a:t>response.setContentType</a:t>
            </a:r>
            <a:r>
              <a:rPr lang="en-IN" sz="2400" dirty="0"/>
              <a:t>("text/html");  </a:t>
            </a:r>
          </a:p>
          <a:p>
            <a:pPr>
              <a:buNone/>
            </a:pPr>
            <a:r>
              <a:rPr lang="en-IN" sz="2400" dirty="0"/>
              <a:t>             </a:t>
            </a:r>
            <a:r>
              <a:rPr lang="en-IN" sz="2400" dirty="0" err="1"/>
              <a:t>PrintWriter</a:t>
            </a:r>
            <a:r>
              <a:rPr lang="en-IN" sz="2400" dirty="0"/>
              <a:t> out = </a:t>
            </a:r>
            <a:r>
              <a:rPr lang="en-IN" sz="2400" dirty="0" err="1"/>
              <a:t>response.getWriter</a:t>
            </a:r>
            <a:r>
              <a:rPr lang="en-IN" sz="2400" dirty="0"/>
              <a:t>();            </a:t>
            </a:r>
          </a:p>
          <a:p>
            <a:pPr>
              <a:buNone/>
            </a:pPr>
            <a:r>
              <a:rPr lang="en-IN" sz="2400" dirty="0"/>
              <a:t>             String n=</a:t>
            </a:r>
            <a:r>
              <a:rPr lang="en-IN" sz="2400" dirty="0" err="1"/>
              <a:t>request.getParameter</a:t>
            </a:r>
            <a:r>
              <a:rPr lang="en-IN" sz="2400" dirty="0"/>
              <a:t>("</a:t>
            </a:r>
            <a:r>
              <a:rPr lang="en-IN" sz="2400" dirty="0" err="1"/>
              <a:t>userName</a:t>
            </a:r>
            <a:r>
              <a:rPr lang="en-IN" sz="2400" dirty="0"/>
              <a:t>");  </a:t>
            </a:r>
          </a:p>
          <a:p>
            <a:pPr>
              <a:buNone/>
            </a:pPr>
            <a:r>
              <a:rPr lang="en-IN" sz="2400" dirty="0"/>
              <a:t>             </a:t>
            </a:r>
            <a:r>
              <a:rPr lang="en-IN" sz="2400" dirty="0" err="1"/>
              <a:t>out.print</a:t>
            </a:r>
            <a:r>
              <a:rPr lang="en-IN" sz="2400" dirty="0"/>
              <a:t>("Welcome "+n);            </a:t>
            </a:r>
          </a:p>
          <a:p>
            <a:pPr>
              <a:buNone/>
            </a:pPr>
            <a:r>
              <a:rPr lang="en-IN" sz="2400" dirty="0"/>
              <a:t>            </a:t>
            </a:r>
            <a:r>
              <a:rPr lang="en-IN" sz="2400" dirty="0">
                <a:solidFill>
                  <a:srgbClr val="0000FF"/>
                </a:solidFill>
              </a:rPr>
              <a:t> </a:t>
            </a:r>
            <a:r>
              <a:rPr lang="en-IN" sz="2400" dirty="0" err="1">
                <a:solidFill>
                  <a:srgbClr val="0000FF"/>
                </a:solidFill>
              </a:rPr>
              <a:t>HttpSession</a:t>
            </a:r>
            <a:r>
              <a:rPr lang="en-IN" sz="2400" dirty="0">
                <a:solidFill>
                  <a:srgbClr val="0000FF"/>
                </a:solidFill>
              </a:rPr>
              <a:t> session=</a:t>
            </a:r>
            <a:r>
              <a:rPr lang="en-IN" sz="2400" dirty="0" err="1">
                <a:solidFill>
                  <a:srgbClr val="0000FF"/>
                </a:solidFill>
              </a:rPr>
              <a:t>request.getSession</a:t>
            </a:r>
            <a:r>
              <a:rPr lang="en-IN" sz="2400" dirty="0">
                <a:solidFill>
                  <a:srgbClr val="0000FF"/>
                </a:solidFill>
              </a:rPr>
              <a:t>();  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</a:rPr>
              <a:t>             </a:t>
            </a:r>
            <a:r>
              <a:rPr lang="en-IN" sz="2400" dirty="0" err="1">
                <a:solidFill>
                  <a:srgbClr val="0000FF"/>
                </a:solidFill>
              </a:rPr>
              <a:t>session.setAttribute</a:t>
            </a:r>
            <a:r>
              <a:rPr lang="en-IN" sz="2400" dirty="0">
                <a:solidFill>
                  <a:srgbClr val="0000FF"/>
                </a:solidFill>
              </a:rPr>
              <a:t>("</a:t>
            </a:r>
            <a:r>
              <a:rPr lang="en-IN" sz="2400" dirty="0" err="1">
                <a:solidFill>
                  <a:srgbClr val="0000FF"/>
                </a:solidFill>
              </a:rPr>
              <a:t>uname",n</a:t>
            </a:r>
            <a:r>
              <a:rPr lang="en-IN" sz="2400" dirty="0">
                <a:solidFill>
                  <a:srgbClr val="0000FF"/>
                </a:solidFill>
              </a:rPr>
              <a:t>);    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</a:rPr>
              <a:t>             </a:t>
            </a:r>
            <a:r>
              <a:rPr lang="en-IN" sz="2400" dirty="0" err="1">
                <a:solidFill>
                  <a:srgbClr val="0000FF"/>
                </a:solidFill>
              </a:rPr>
              <a:t>out.print</a:t>
            </a:r>
            <a:r>
              <a:rPr lang="en-IN" sz="2400" dirty="0">
                <a:solidFill>
                  <a:srgbClr val="0000FF"/>
                </a:solidFill>
              </a:rPr>
              <a:t>("&lt;a </a:t>
            </a:r>
            <a:r>
              <a:rPr lang="en-IN" sz="2400" dirty="0" err="1">
                <a:solidFill>
                  <a:srgbClr val="0000FF"/>
                </a:solidFill>
              </a:rPr>
              <a:t>href</a:t>
            </a:r>
            <a:r>
              <a:rPr lang="en-IN" sz="2400" dirty="0">
                <a:solidFill>
                  <a:srgbClr val="0000FF"/>
                </a:solidFill>
              </a:rPr>
              <a:t>='servlet2'&gt;visit&lt;/a&gt;"); </a:t>
            </a:r>
            <a:r>
              <a:rPr lang="en-IN" sz="2400" dirty="0"/>
              <a:t>                   </a:t>
            </a:r>
          </a:p>
          <a:p>
            <a:pPr>
              <a:buNone/>
            </a:pPr>
            <a:r>
              <a:rPr lang="en-IN" sz="2400" dirty="0"/>
              <a:t>             </a:t>
            </a:r>
            <a:r>
              <a:rPr lang="en-IN" sz="2400" dirty="0" err="1"/>
              <a:t>out.close</a:t>
            </a:r>
            <a:r>
              <a:rPr lang="en-IN" sz="2400" dirty="0"/>
              <a:t>();    </a:t>
            </a:r>
          </a:p>
          <a:p>
            <a:pPr>
              <a:buNone/>
            </a:pPr>
            <a:r>
              <a:rPr lang="en-IN" sz="2400" dirty="0"/>
              <a:t>                }</a:t>
            </a:r>
            <a:r>
              <a:rPr lang="en-IN" sz="2400" b="1" dirty="0"/>
              <a:t>catch</a:t>
            </a:r>
            <a:r>
              <a:rPr lang="en-IN" sz="2400" dirty="0"/>
              <a:t>(Exception e){</a:t>
            </a:r>
            <a:r>
              <a:rPr lang="en-IN" sz="2400" dirty="0" err="1"/>
              <a:t>System.out.println</a:t>
            </a:r>
            <a:r>
              <a:rPr lang="en-IN" sz="2400" dirty="0"/>
              <a:t>(e);}      }   }  </a:t>
            </a:r>
          </a:p>
          <a:p>
            <a:pPr>
              <a:buNone/>
            </a:pPr>
            <a:endParaRPr lang="en-IN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57216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sz="4400" b="1" dirty="0"/>
              <a:t>import</a:t>
            </a:r>
            <a:r>
              <a:rPr lang="en-IN" sz="4400" dirty="0"/>
              <a:t> java.io.*;  </a:t>
            </a:r>
          </a:p>
          <a:p>
            <a:pPr>
              <a:buNone/>
            </a:pPr>
            <a:r>
              <a:rPr lang="en-IN" sz="4400" b="1" dirty="0"/>
              <a:t>import</a:t>
            </a:r>
            <a:r>
              <a:rPr lang="en-IN" sz="4400" dirty="0"/>
              <a:t> </a:t>
            </a:r>
            <a:r>
              <a:rPr lang="en-IN" sz="4400" dirty="0" err="1"/>
              <a:t>javax.servlet</a:t>
            </a:r>
            <a:r>
              <a:rPr lang="en-IN" sz="4400" dirty="0"/>
              <a:t>.*;  </a:t>
            </a:r>
          </a:p>
          <a:p>
            <a:pPr>
              <a:buNone/>
            </a:pPr>
            <a:r>
              <a:rPr lang="en-IN" sz="4400" b="1" dirty="0"/>
              <a:t>import</a:t>
            </a:r>
            <a:r>
              <a:rPr lang="en-IN" sz="4400" dirty="0"/>
              <a:t> </a:t>
            </a:r>
            <a:r>
              <a:rPr lang="en-IN" sz="4400" dirty="0" err="1"/>
              <a:t>javax.servlet.http</a:t>
            </a:r>
            <a:r>
              <a:rPr lang="en-IN" sz="4400" dirty="0"/>
              <a:t>.*;    </a:t>
            </a:r>
          </a:p>
          <a:p>
            <a:pPr>
              <a:buNone/>
            </a:pPr>
            <a:r>
              <a:rPr lang="en-IN" sz="4400" b="1" dirty="0"/>
              <a:t>public</a:t>
            </a:r>
            <a:r>
              <a:rPr lang="en-IN" sz="4400" dirty="0"/>
              <a:t> </a:t>
            </a:r>
            <a:r>
              <a:rPr lang="en-IN" sz="4400" b="1" dirty="0"/>
              <a:t>class</a:t>
            </a:r>
            <a:r>
              <a:rPr lang="en-IN" sz="4400" dirty="0"/>
              <a:t> </a:t>
            </a:r>
            <a:r>
              <a:rPr lang="en-IN" sz="4400" dirty="0" err="1"/>
              <a:t>SecondServlet</a:t>
            </a:r>
            <a:r>
              <a:rPr lang="en-IN" sz="4400" dirty="0"/>
              <a:t> </a:t>
            </a:r>
            <a:r>
              <a:rPr lang="en-IN" sz="4400" b="1" dirty="0"/>
              <a:t>extends</a:t>
            </a:r>
            <a:r>
              <a:rPr lang="en-IN" sz="4400" dirty="0"/>
              <a:t> </a:t>
            </a:r>
            <a:r>
              <a:rPr lang="en-IN" sz="4400" dirty="0" err="1"/>
              <a:t>HttpServlet</a:t>
            </a:r>
            <a:r>
              <a:rPr lang="en-IN" sz="4400" dirty="0"/>
              <a:t> {    </a:t>
            </a:r>
          </a:p>
          <a:p>
            <a:pPr>
              <a:buNone/>
            </a:pPr>
            <a:r>
              <a:rPr lang="en-IN" sz="4400" b="1" dirty="0"/>
              <a:t>public</a:t>
            </a:r>
            <a:r>
              <a:rPr lang="en-IN" sz="4400" dirty="0"/>
              <a:t> </a:t>
            </a:r>
            <a:r>
              <a:rPr lang="en-IN" sz="4400" b="1" dirty="0"/>
              <a:t>void</a:t>
            </a:r>
            <a:r>
              <a:rPr lang="en-IN" sz="4400" dirty="0"/>
              <a:t> </a:t>
            </a:r>
            <a:r>
              <a:rPr lang="en-IN" sz="4400" dirty="0" err="1"/>
              <a:t>doGet</a:t>
            </a:r>
            <a:r>
              <a:rPr lang="en-IN" sz="4400" dirty="0"/>
              <a:t>(</a:t>
            </a:r>
            <a:r>
              <a:rPr lang="en-IN" sz="4400" dirty="0" err="1"/>
              <a:t>HttpServletRequest</a:t>
            </a:r>
            <a:r>
              <a:rPr lang="en-IN" sz="4400" dirty="0"/>
              <a:t> request, </a:t>
            </a:r>
            <a:r>
              <a:rPr lang="en-IN" sz="4400" dirty="0" err="1"/>
              <a:t>HttpServletResponse</a:t>
            </a:r>
            <a:r>
              <a:rPr lang="en-IN" sz="4400" dirty="0"/>
              <a:t> response)</a:t>
            </a:r>
          </a:p>
          <a:p>
            <a:pPr>
              <a:buNone/>
            </a:pPr>
            <a:r>
              <a:rPr lang="en-IN" sz="4400" dirty="0"/>
              <a:t>        </a:t>
            </a:r>
            <a:r>
              <a:rPr lang="en-IN" sz="4400" b="1" dirty="0"/>
              <a:t>try</a:t>
            </a:r>
            <a:r>
              <a:rPr lang="en-IN" sz="4400" dirty="0"/>
              <a:t>{    </a:t>
            </a:r>
          </a:p>
          <a:p>
            <a:pPr>
              <a:buNone/>
            </a:pPr>
            <a:r>
              <a:rPr lang="en-IN" sz="4400" dirty="0"/>
              <a:t>        </a:t>
            </a:r>
            <a:r>
              <a:rPr lang="en-IN" sz="4400" dirty="0" err="1"/>
              <a:t>response.setContentType</a:t>
            </a:r>
            <a:r>
              <a:rPr lang="en-IN" sz="4400" dirty="0"/>
              <a:t>("text/html");  </a:t>
            </a:r>
          </a:p>
          <a:p>
            <a:pPr>
              <a:buNone/>
            </a:pPr>
            <a:r>
              <a:rPr lang="en-IN" sz="4400" dirty="0"/>
              <a:t>        </a:t>
            </a:r>
            <a:r>
              <a:rPr lang="en-IN" sz="4400" dirty="0" err="1"/>
              <a:t>PrintWriter</a:t>
            </a:r>
            <a:r>
              <a:rPr lang="en-IN" sz="4400" dirty="0"/>
              <a:t> out = </a:t>
            </a:r>
            <a:r>
              <a:rPr lang="en-IN" sz="4400" dirty="0" err="1"/>
              <a:t>response.getWriter</a:t>
            </a:r>
            <a:r>
              <a:rPr lang="en-IN" sz="4400" dirty="0"/>
              <a:t>();            </a:t>
            </a:r>
          </a:p>
          <a:p>
            <a:pPr>
              <a:buNone/>
            </a:pPr>
            <a:r>
              <a:rPr lang="en-IN" sz="4400" dirty="0"/>
              <a:t>        </a:t>
            </a:r>
            <a:r>
              <a:rPr lang="en-IN" sz="4400" dirty="0" err="1">
                <a:solidFill>
                  <a:srgbClr val="0000FF"/>
                </a:solidFill>
              </a:rPr>
              <a:t>HttpSession</a:t>
            </a:r>
            <a:r>
              <a:rPr lang="en-IN" sz="4400" dirty="0">
                <a:solidFill>
                  <a:srgbClr val="0000FF"/>
                </a:solidFill>
              </a:rPr>
              <a:t> session=</a:t>
            </a:r>
            <a:r>
              <a:rPr lang="en-IN" sz="4400" dirty="0" err="1">
                <a:solidFill>
                  <a:srgbClr val="0000FF"/>
                </a:solidFill>
              </a:rPr>
              <a:t>request.getSession</a:t>
            </a:r>
            <a:r>
              <a:rPr lang="en-IN" sz="4400" dirty="0">
                <a:solidFill>
                  <a:srgbClr val="0000FF"/>
                </a:solidFill>
              </a:rPr>
              <a:t>(</a:t>
            </a:r>
            <a:r>
              <a:rPr lang="en-IN" sz="4400" b="1" dirty="0">
                <a:solidFill>
                  <a:srgbClr val="0000FF"/>
                </a:solidFill>
              </a:rPr>
              <a:t>false</a:t>
            </a:r>
            <a:r>
              <a:rPr lang="en-IN" sz="4400" dirty="0">
                <a:solidFill>
                  <a:srgbClr val="0000FF"/>
                </a:solidFill>
              </a:rPr>
              <a:t>);  </a:t>
            </a:r>
          </a:p>
          <a:p>
            <a:pPr>
              <a:buNone/>
            </a:pPr>
            <a:r>
              <a:rPr lang="en-IN" sz="4400" dirty="0">
                <a:solidFill>
                  <a:srgbClr val="0000FF"/>
                </a:solidFill>
              </a:rPr>
              <a:t>        String n=(String)</a:t>
            </a:r>
            <a:r>
              <a:rPr lang="en-IN" sz="4400" dirty="0" err="1">
                <a:solidFill>
                  <a:srgbClr val="0000FF"/>
                </a:solidFill>
              </a:rPr>
              <a:t>session.getAttribute</a:t>
            </a:r>
            <a:r>
              <a:rPr lang="en-IN" sz="4400" dirty="0">
                <a:solidFill>
                  <a:srgbClr val="0000FF"/>
                </a:solidFill>
              </a:rPr>
              <a:t>("</a:t>
            </a:r>
            <a:r>
              <a:rPr lang="en-IN" sz="4400" dirty="0" err="1">
                <a:solidFill>
                  <a:srgbClr val="0000FF"/>
                </a:solidFill>
              </a:rPr>
              <a:t>uname</a:t>
            </a:r>
            <a:r>
              <a:rPr lang="en-IN" sz="4400" dirty="0">
                <a:solidFill>
                  <a:srgbClr val="0000FF"/>
                </a:solidFill>
              </a:rPr>
              <a:t>");  </a:t>
            </a:r>
          </a:p>
          <a:p>
            <a:pPr>
              <a:buNone/>
            </a:pPr>
            <a:r>
              <a:rPr lang="en-IN" sz="4400" dirty="0">
                <a:solidFill>
                  <a:srgbClr val="0000FF"/>
                </a:solidFill>
              </a:rPr>
              <a:t>        </a:t>
            </a:r>
            <a:r>
              <a:rPr lang="en-IN" sz="4400" dirty="0" err="1">
                <a:solidFill>
                  <a:srgbClr val="0000FF"/>
                </a:solidFill>
              </a:rPr>
              <a:t>out.print</a:t>
            </a:r>
            <a:r>
              <a:rPr lang="en-IN" sz="4400" dirty="0">
                <a:solidFill>
                  <a:srgbClr val="0000FF"/>
                </a:solidFill>
              </a:rPr>
              <a:t>("Hello "+n); </a:t>
            </a:r>
            <a:r>
              <a:rPr lang="en-IN" sz="4400" dirty="0"/>
              <a:t>   </a:t>
            </a:r>
          </a:p>
          <a:p>
            <a:pPr>
              <a:buNone/>
            </a:pPr>
            <a:r>
              <a:rPr lang="en-IN" sz="4400" dirty="0"/>
              <a:t>        </a:t>
            </a:r>
            <a:r>
              <a:rPr lang="en-IN" sz="4400" dirty="0" err="1"/>
              <a:t>out.close</a:t>
            </a:r>
            <a:r>
              <a:rPr lang="en-IN" sz="4400" dirty="0"/>
              <a:t>();    </a:t>
            </a:r>
          </a:p>
          <a:p>
            <a:pPr>
              <a:buNone/>
            </a:pPr>
            <a:r>
              <a:rPr lang="en-IN" sz="4400" dirty="0"/>
              <a:t>                }</a:t>
            </a:r>
            <a:r>
              <a:rPr lang="en-IN" sz="4400" b="1" dirty="0"/>
              <a:t>catch</a:t>
            </a:r>
            <a:r>
              <a:rPr lang="en-IN" sz="4400" dirty="0"/>
              <a:t>(Exception e){</a:t>
            </a:r>
            <a:r>
              <a:rPr lang="en-IN" sz="4400" dirty="0" err="1"/>
              <a:t>System.out.println</a:t>
            </a:r>
            <a:r>
              <a:rPr lang="en-IN" sz="4400" dirty="0"/>
              <a:t>(e);}     }   }  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31762"/>
            <a:ext cx="8229600" cy="582594"/>
          </a:xfrm>
        </p:spPr>
        <p:txBody>
          <a:bodyPr>
            <a:normAutofit fontScale="90000"/>
          </a:bodyPr>
          <a:lstStyle/>
          <a:p>
            <a:pPr algn="l"/>
            <a:r>
              <a:rPr lang="en-IN" sz="4000" dirty="0"/>
              <a:t>SecondServlet.java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97056-473C-B11D-8E34-B1F762D509AD}"/>
              </a:ext>
            </a:extLst>
          </p:cNvPr>
          <p:cNvSpPr txBox="1"/>
          <p:nvPr/>
        </p:nvSpPr>
        <p:spPr>
          <a:xfrm>
            <a:off x="4355976" y="131762"/>
            <a:ext cx="4640580" cy="1869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kern="0" spc="1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&lt;session-config&gt;</a:t>
            </a:r>
            <a:br>
              <a:rPr lang="en-IN" sz="1600" kern="0" spc="1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IN" sz="1600" b="1" kern="0" spc="1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&lt;session-timeout&gt;20&lt;/session-timeout&gt;</a:t>
            </a:r>
            <a:br>
              <a:rPr lang="en-IN" sz="1600" kern="0" spc="1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IN" sz="1600" b="1" kern="0" spc="1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&lt;/session-config&gt;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  <a:spcAft>
                <a:spcPts val="800"/>
              </a:spcAft>
            </a:pPr>
            <a:r>
              <a:rPr lang="en-IN" sz="1800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timeout is specified in minutes and overrides Tomcat’s default timeout of 30 minutes.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4057" y="2263716"/>
            <a:ext cx="5793191" cy="121157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2193109" marR="4454" indent="-2182531">
              <a:spcBef>
                <a:spcPts val="88"/>
              </a:spcBef>
            </a:pP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Session </a:t>
            </a:r>
            <a:r>
              <a:rPr sz="3900" spc="-44" dirty="0">
                <a:solidFill>
                  <a:srgbClr val="000000"/>
                </a:solidFill>
                <a:latin typeface="Calibri"/>
                <a:cs typeface="Calibri"/>
              </a:rPr>
              <a:t>Tracking </a:t>
            </a: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Mechanism -  Cookies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1915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8090" y="735361"/>
            <a:ext cx="3143929" cy="121157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3900" spc="-9" dirty="0">
                <a:solidFill>
                  <a:srgbClr val="000000"/>
                </a:solidFill>
                <a:latin typeface="Calibri"/>
                <a:cs typeface="Calibri"/>
              </a:rPr>
              <a:t>What </a:t>
            </a:r>
            <a:r>
              <a:rPr sz="3900" spc="-4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3900" spc="-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Cookie?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1915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0204" y="1684178"/>
            <a:ext cx="5902333" cy="2308931"/>
          </a:xfrm>
          <a:prstGeom prst="rect">
            <a:avLst/>
          </a:prstGeom>
        </p:spPr>
        <p:txBody>
          <a:bodyPr vert="horz" wrap="square" lIns="0" tIns="99661" rIns="0" bIns="0" rtlCol="0">
            <a:spAutoFit/>
          </a:bodyPr>
          <a:lstStyle/>
          <a:p>
            <a:pPr marL="311790" indent="-300655">
              <a:spcBef>
                <a:spcPts val="784"/>
              </a:spcBef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cookie</a:t>
            </a:r>
            <a:endParaRPr sz="2800">
              <a:latin typeface="Calibri"/>
              <a:cs typeface="Calibri"/>
            </a:endParaRPr>
          </a:p>
          <a:p>
            <a:pPr marL="663111" marR="4454" indent="-251659">
              <a:spcBef>
                <a:spcPts val="605"/>
              </a:spcBef>
            </a:pPr>
            <a:r>
              <a:rPr sz="2500" spc="-4" dirty="0">
                <a:latin typeface="Arial"/>
                <a:cs typeface="Arial"/>
              </a:rPr>
              <a:t>– </a:t>
            </a:r>
            <a:r>
              <a:rPr sz="2500" spc="-9" dirty="0">
                <a:latin typeface="Calibri"/>
                <a:cs typeface="Calibri"/>
              </a:rPr>
              <a:t>small </a:t>
            </a:r>
            <a:r>
              <a:rPr sz="2500" spc="-4" dirty="0">
                <a:latin typeface="Calibri"/>
                <a:cs typeface="Calibri"/>
              </a:rPr>
              <a:t>piece of </a:t>
            </a:r>
            <a:r>
              <a:rPr sz="2500" spc="-13" dirty="0">
                <a:latin typeface="Calibri"/>
                <a:cs typeface="Calibri"/>
              </a:rPr>
              <a:t>information that </a:t>
            </a:r>
            <a:r>
              <a:rPr sz="2500" spc="-9" dirty="0">
                <a:latin typeface="Calibri"/>
                <a:cs typeface="Calibri"/>
              </a:rPr>
              <a:t>is </a:t>
            </a:r>
            <a:r>
              <a:rPr sz="2500" spc="-18" dirty="0">
                <a:latin typeface="Calibri"/>
                <a:cs typeface="Calibri"/>
              </a:rPr>
              <a:t>persisted  </a:t>
            </a:r>
            <a:r>
              <a:rPr sz="2500" spc="-9" dirty="0">
                <a:latin typeface="Calibri"/>
                <a:cs typeface="Calibri"/>
              </a:rPr>
              <a:t>between the multiple client</a:t>
            </a:r>
            <a:r>
              <a:rPr sz="2500" spc="48" dirty="0">
                <a:latin typeface="Calibri"/>
                <a:cs typeface="Calibri"/>
              </a:rPr>
              <a:t> </a:t>
            </a:r>
            <a:r>
              <a:rPr sz="2500" spc="-13" dirty="0">
                <a:latin typeface="Calibri"/>
                <a:cs typeface="Calibri"/>
              </a:rPr>
              <a:t>requests</a:t>
            </a:r>
            <a:endParaRPr sz="2500">
              <a:latin typeface="Calibri"/>
              <a:cs typeface="Calibri"/>
            </a:endParaRPr>
          </a:p>
          <a:p>
            <a:pPr marL="311790" indent="-300655">
              <a:spcBef>
                <a:spcPts val="658"/>
              </a:spcBef>
              <a:buFont typeface="Arial"/>
              <a:buChar char="•"/>
              <a:tabLst>
                <a:tab pos="311233" algn="l"/>
                <a:tab pos="311790" algn="l"/>
                <a:tab pos="2281078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9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cookie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	</a:t>
            </a:r>
            <a:r>
              <a:rPr sz="2800" spc="-4" dirty="0">
                <a:latin typeface="Calibri"/>
                <a:cs typeface="Calibri"/>
              </a:rPr>
              <a:t>name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0298" y="480867"/>
            <a:ext cx="4786345" cy="549291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3500" spc="-9" dirty="0">
                <a:solidFill>
                  <a:srgbClr val="000000"/>
                </a:solidFill>
                <a:latin typeface="Calibri"/>
                <a:cs typeface="Calibri"/>
              </a:rPr>
              <a:t>How </a:t>
            </a: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Cookie</a:t>
            </a:r>
            <a:r>
              <a:rPr sz="3500" spc="-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spc="-18" dirty="0">
                <a:solidFill>
                  <a:srgbClr val="000000"/>
                </a:solidFill>
                <a:latin typeface="Calibri"/>
                <a:cs typeface="Calibri"/>
              </a:rPr>
              <a:t>works?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205" y="1222221"/>
            <a:ext cx="6679898" cy="2662649"/>
          </a:xfrm>
          <a:prstGeom prst="rect">
            <a:avLst/>
          </a:prstGeom>
        </p:spPr>
        <p:txBody>
          <a:bodyPr vert="horz" wrap="square" lIns="0" tIns="91310" rIns="0" bIns="0" rtlCol="0">
            <a:spAutoFit/>
          </a:bodyPr>
          <a:lstStyle/>
          <a:p>
            <a:pPr marL="311233" marR="157009" indent="-300655">
              <a:lnSpc>
                <a:spcPct val="80000"/>
              </a:lnSpc>
              <a:spcBef>
                <a:spcPts val="719"/>
              </a:spcBef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600" spc="-13" dirty="0">
                <a:latin typeface="Calibri"/>
                <a:cs typeface="Calibri"/>
              </a:rPr>
              <a:t>By </a:t>
            </a:r>
            <a:r>
              <a:rPr sz="2600" spc="-18" dirty="0">
                <a:latin typeface="Calibri"/>
                <a:cs typeface="Calibri"/>
              </a:rPr>
              <a:t>default, </a:t>
            </a:r>
            <a:r>
              <a:rPr sz="2600" spc="-4" dirty="0">
                <a:latin typeface="Calibri"/>
                <a:cs typeface="Calibri"/>
              </a:rPr>
              <a:t>each </a:t>
            </a:r>
            <a:r>
              <a:rPr sz="2600" spc="-13" dirty="0">
                <a:latin typeface="Calibri"/>
                <a:cs typeface="Calibri"/>
              </a:rPr>
              <a:t>request </a:t>
            </a:r>
            <a:r>
              <a:rPr sz="2600" spc="-4" dirty="0">
                <a:latin typeface="Calibri"/>
                <a:cs typeface="Calibri"/>
              </a:rPr>
              <a:t>is </a:t>
            </a:r>
            <a:r>
              <a:rPr sz="2600" spc="-13" dirty="0">
                <a:latin typeface="Calibri"/>
                <a:cs typeface="Calibri"/>
              </a:rPr>
              <a:t>considered </a:t>
            </a:r>
            <a:r>
              <a:rPr sz="2600" dirty="0">
                <a:latin typeface="Calibri"/>
                <a:cs typeface="Calibri"/>
              </a:rPr>
              <a:t>as a </a:t>
            </a:r>
            <a:r>
              <a:rPr sz="2600" spc="-9" dirty="0">
                <a:latin typeface="Calibri"/>
                <a:cs typeface="Calibri"/>
              </a:rPr>
              <a:t>new  </a:t>
            </a:r>
            <a:r>
              <a:rPr sz="2600" spc="-13" dirty="0">
                <a:latin typeface="Calibri"/>
                <a:cs typeface="Calibri"/>
              </a:rPr>
              <a:t>request</a:t>
            </a:r>
            <a:endParaRPr sz="2600" dirty="0">
              <a:latin typeface="Calibri"/>
              <a:cs typeface="Calibri"/>
            </a:endParaRPr>
          </a:p>
          <a:p>
            <a:pPr marL="311790" indent="-300655"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600" spc="-4" dirty="0">
                <a:latin typeface="Calibri"/>
                <a:cs typeface="Calibri"/>
              </a:rPr>
              <a:t>Cookie is added with </a:t>
            </a:r>
            <a:r>
              <a:rPr sz="2600" spc="-9" dirty="0">
                <a:latin typeface="Calibri"/>
                <a:cs typeface="Calibri"/>
              </a:rPr>
              <a:t>response </a:t>
            </a:r>
            <a:r>
              <a:rPr sz="2600" spc="-13" dirty="0">
                <a:latin typeface="Calibri"/>
                <a:cs typeface="Calibri"/>
              </a:rPr>
              <a:t>from </a:t>
            </a:r>
            <a:r>
              <a:rPr sz="2600" spc="-4" dirty="0">
                <a:latin typeface="Calibri"/>
                <a:cs typeface="Calibri"/>
              </a:rPr>
              <a:t>the</a:t>
            </a:r>
            <a:r>
              <a:rPr sz="2600" spc="-9" dirty="0">
                <a:latin typeface="Calibri"/>
                <a:cs typeface="Calibri"/>
              </a:rPr>
              <a:t> </a:t>
            </a:r>
            <a:r>
              <a:rPr sz="2600" spc="-4" dirty="0">
                <a:latin typeface="Calibri"/>
                <a:cs typeface="Calibri"/>
              </a:rPr>
              <a:t>servlet</a:t>
            </a:r>
            <a:endParaRPr sz="2600" dirty="0">
              <a:latin typeface="Calibri"/>
              <a:cs typeface="Calibri"/>
            </a:endParaRPr>
          </a:p>
          <a:p>
            <a:pPr marL="311790" indent="-300655"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600" spc="-4" dirty="0">
                <a:latin typeface="Calibri"/>
                <a:cs typeface="Calibri"/>
              </a:rPr>
              <a:t>Cookie is </a:t>
            </a:r>
            <a:r>
              <a:rPr sz="2600" spc="-18" dirty="0">
                <a:latin typeface="Calibri"/>
                <a:cs typeface="Calibri"/>
              </a:rPr>
              <a:t>stored </a:t>
            </a:r>
            <a:r>
              <a:rPr sz="2600" spc="-4" dirty="0">
                <a:latin typeface="Calibri"/>
                <a:cs typeface="Calibri"/>
              </a:rPr>
              <a:t>in the </a:t>
            </a:r>
            <a:r>
              <a:rPr sz="2600" spc="-9" dirty="0">
                <a:latin typeface="Calibri"/>
                <a:cs typeface="Calibri"/>
              </a:rPr>
              <a:t>cache </a:t>
            </a:r>
            <a:r>
              <a:rPr sz="2600" dirty="0">
                <a:latin typeface="Calibri"/>
                <a:cs typeface="Calibri"/>
              </a:rPr>
              <a:t>of </a:t>
            </a:r>
            <a:r>
              <a:rPr sz="2600" spc="-4" dirty="0">
                <a:latin typeface="Calibri"/>
                <a:cs typeface="Calibri"/>
              </a:rPr>
              <a:t>the</a:t>
            </a:r>
            <a:r>
              <a:rPr sz="2600" spc="-53" dirty="0">
                <a:latin typeface="Calibri"/>
                <a:cs typeface="Calibri"/>
              </a:rPr>
              <a:t> </a:t>
            </a:r>
            <a:r>
              <a:rPr sz="2600" spc="-13" dirty="0">
                <a:latin typeface="Calibri"/>
                <a:cs typeface="Calibri"/>
              </a:rPr>
              <a:t>browser</a:t>
            </a:r>
            <a:endParaRPr sz="2600" dirty="0">
              <a:latin typeface="Calibri"/>
              <a:cs typeface="Calibri"/>
            </a:endParaRPr>
          </a:p>
          <a:p>
            <a:pPr marL="311233" marR="4454" indent="-300655">
              <a:lnSpc>
                <a:spcPct val="80000"/>
              </a:lnSpc>
              <a:spcBef>
                <a:spcPts val="631"/>
              </a:spcBef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600" spc="-18" dirty="0">
                <a:latin typeface="Calibri"/>
                <a:cs typeface="Calibri"/>
              </a:rPr>
              <a:t>Request </a:t>
            </a:r>
            <a:r>
              <a:rPr sz="2600" spc="-4" dirty="0">
                <a:latin typeface="Calibri"/>
                <a:cs typeface="Calibri"/>
              </a:rPr>
              <a:t>is </a:t>
            </a:r>
            <a:r>
              <a:rPr sz="2600" spc="-9" dirty="0">
                <a:latin typeface="Calibri"/>
                <a:cs typeface="Calibri"/>
              </a:rPr>
              <a:t>sent by </a:t>
            </a:r>
            <a:r>
              <a:rPr sz="2600" spc="-4" dirty="0">
                <a:latin typeface="Calibri"/>
                <a:cs typeface="Calibri"/>
              </a:rPr>
              <a:t>the </a:t>
            </a:r>
            <a:r>
              <a:rPr sz="2600" spc="-48" dirty="0">
                <a:latin typeface="Calibri"/>
                <a:cs typeface="Calibri"/>
              </a:rPr>
              <a:t>user, </a:t>
            </a:r>
            <a:r>
              <a:rPr sz="2600" spc="-4" dirty="0">
                <a:latin typeface="Calibri"/>
                <a:cs typeface="Calibri"/>
              </a:rPr>
              <a:t>cookie is added with  </a:t>
            </a:r>
            <a:r>
              <a:rPr sz="2600" spc="-13" dirty="0">
                <a:latin typeface="Calibri"/>
                <a:cs typeface="Calibri"/>
              </a:rPr>
              <a:t>request </a:t>
            </a:r>
            <a:r>
              <a:rPr sz="2600" spc="-9" dirty="0">
                <a:latin typeface="Calibri"/>
                <a:cs typeface="Calibri"/>
              </a:rPr>
              <a:t>by </a:t>
            </a:r>
            <a:r>
              <a:rPr sz="2600" spc="-18" dirty="0">
                <a:latin typeface="Calibri"/>
                <a:cs typeface="Calibri"/>
              </a:rPr>
              <a:t>default</a:t>
            </a:r>
            <a:endParaRPr sz="2600" dirty="0">
              <a:latin typeface="Calibri"/>
              <a:cs typeface="Calibri"/>
            </a:endParaRPr>
          </a:p>
          <a:p>
            <a:pPr marL="311790" indent="-300655"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600" spc="-18" dirty="0">
                <a:latin typeface="Calibri"/>
                <a:cs typeface="Calibri"/>
              </a:rPr>
              <a:t>Recognize </a:t>
            </a:r>
            <a:r>
              <a:rPr sz="2600" spc="-4" dirty="0">
                <a:latin typeface="Calibri"/>
                <a:cs typeface="Calibri"/>
              </a:rPr>
              <a:t>the user </a:t>
            </a:r>
            <a:r>
              <a:rPr sz="2600" dirty="0">
                <a:latin typeface="Calibri"/>
                <a:cs typeface="Calibri"/>
              </a:rPr>
              <a:t>as </a:t>
            </a:r>
            <a:r>
              <a:rPr sz="2600" spc="-4" dirty="0">
                <a:latin typeface="Calibri"/>
                <a:cs typeface="Calibri"/>
              </a:rPr>
              <a:t>the old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7" dirty="0">
                <a:latin typeface="Calibri"/>
                <a:cs typeface="Calibri"/>
              </a:rPr>
              <a:t>user.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1813" y="4315353"/>
            <a:ext cx="78191" cy="912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cookies in servlet">
            <a:extLst>
              <a:ext uri="{FF2B5EF4-FFF2-40B4-BE49-F238E27FC236}">
                <a16:creationId xmlns:a16="http://schemas.microsoft.com/office/drawing/2014/main" id="{EAC31E87-FA3E-73A5-63AC-0A153933E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315353"/>
            <a:ext cx="459105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9413" y="1152538"/>
            <a:ext cx="2663084" cy="2037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7806" y="1522878"/>
            <a:ext cx="2679355" cy="5375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0661" y="2451395"/>
            <a:ext cx="6046768" cy="34208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98095" y="6813293"/>
            <a:ext cx="69278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0860">
              <a:lnSpc>
                <a:spcPts val="1060"/>
              </a:lnSpc>
            </a:pPr>
            <a:r>
              <a:rPr lang="en-IN"/>
              <a:t>K.</a:t>
            </a:r>
            <a:r>
              <a:rPr lang="en-IN" spc="-25"/>
              <a:t> </a:t>
            </a:r>
            <a:r>
              <a:rPr lang="en-IN" spc="-10"/>
              <a:t>Vallidevi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174361" y="6813293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2579">
              <a:lnSpc>
                <a:spcPts val="106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31</a:t>
            </a:fld>
            <a:endParaRPr spc="-2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1794" y="735361"/>
            <a:ext cx="6443543" cy="611408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3900" spc="-18" dirty="0">
                <a:solidFill>
                  <a:srgbClr val="000000"/>
                </a:solidFill>
                <a:latin typeface="Calibri"/>
                <a:cs typeface="Calibri"/>
              </a:rPr>
              <a:t>Advantages </a:t>
            </a: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sz="39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900" spc="-13" dirty="0">
                <a:solidFill>
                  <a:srgbClr val="000000"/>
                </a:solidFill>
                <a:latin typeface="Calibri"/>
                <a:cs typeface="Calibri"/>
              </a:rPr>
              <a:t>Disadvantages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0204" y="1684178"/>
            <a:ext cx="6199893" cy="4163285"/>
          </a:xfrm>
          <a:prstGeom prst="rect">
            <a:avLst/>
          </a:prstGeom>
        </p:spPr>
        <p:txBody>
          <a:bodyPr vert="horz" wrap="square" lIns="0" tIns="99661" rIns="0" bIns="0" rtlCol="0">
            <a:spAutoFit/>
          </a:bodyPr>
          <a:lstStyle/>
          <a:p>
            <a:pPr marL="311790" indent="-300655">
              <a:spcBef>
                <a:spcPts val="784"/>
              </a:spcBef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800" spc="-13" dirty="0">
                <a:latin typeface="Calibri"/>
                <a:cs typeface="Calibri"/>
              </a:rPr>
              <a:t>Advantage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" dirty="0">
                <a:latin typeface="Calibri"/>
                <a:cs typeface="Calibri"/>
              </a:rPr>
              <a:t> Cookies</a:t>
            </a:r>
            <a:endParaRPr sz="2800">
              <a:latin typeface="Calibri"/>
              <a:cs typeface="Calibri"/>
            </a:endParaRPr>
          </a:p>
          <a:p>
            <a:pPr marL="663111" lvl="1" indent="-252216">
              <a:spcBef>
                <a:spcPts val="605"/>
              </a:spcBef>
              <a:buFont typeface="Arial"/>
              <a:buChar char="–"/>
              <a:tabLst>
                <a:tab pos="663667" algn="l"/>
              </a:tabLst>
            </a:pPr>
            <a:r>
              <a:rPr sz="2500" spc="-13" dirty="0">
                <a:latin typeface="Calibri"/>
                <a:cs typeface="Calibri"/>
              </a:rPr>
              <a:t>Simplest </a:t>
            </a:r>
            <a:r>
              <a:rPr sz="2500" spc="-9" dirty="0">
                <a:latin typeface="Calibri"/>
                <a:cs typeface="Calibri"/>
              </a:rPr>
              <a:t>technique </a:t>
            </a:r>
            <a:r>
              <a:rPr sz="2500" spc="-4" dirty="0">
                <a:latin typeface="Calibri"/>
                <a:cs typeface="Calibri"/>
              </a:rPr>
              <a:t>of </a:t>
            </a:r>
            <a:r>
              <a:rPr sz="2500" spc="-13" dirty="0">
                <a:latin typeface="Calibri"/>
                <a:cs typeface="Calibri"/>
              </a:rPr>
              <a:t>maintaining </a:t>
            </a:r>
            <a:r>
              <a:rPr sz="2500" spc="-9" dirty="0">
                <a:latin typeface="Calibri"/>
                <a:cs typeface="Calibri"/>
              </a:rPr>
              <a:t>the</a:t>
            </a:r>
            <a:r>
              <a:rPr sz="2500" spc="105" dirty="0">
                <a:latin typeface="Calibri"/>
                <a:cs typeface="Calibri"/>
              </a:rPr>
              <a:t> </a:t>
            </a:r>
            <a:r>
              <a:rPr sz="2500" spc="-26" dirty="0">
                <a:latin typeface="Calibri"/>
                <a:cs typeface="Calibri"/>
              </a:rPr>
              <a:t>state</a:t>
            </a:r>
            <a:endParaRPr sz="2500">
              <a:latin typeface="Calibri"/>
              <a:cs typeface="Calibri"/>
            </a:endParaRPr>
          </a:p>
          <a:p>
            <a:pPr marL="663111" lvl="1" indent="-252216">
              <a:spcBef>
                <a:spcPts val="587"/>
              </a:spcBef>
              <a:buFont typeface="Arial"/>
              <a:buChar char="–"/>
              <a:tabLst>
                <a:tab pos="663667" algn="l"/>
              </a:tabLst>
            </a:pPr>
            <a:r>
              <a:rPr sz="2500" spc="-4" dirty="0">
                <a:latin typeface="Calibri"/>
                <a:cs typeface="Calibri"/>
              </a:rPr>
              <a:t>Cookies </a:t>
            </a:r>
            <a:r>
              <a:rPr sz="2500" spc="-18" dirty="0">
                <a:latin typeface="Calibri"/>
                <a:cs typeface="Calibri"/>
              </a:rPr>
              <a:t>are </a:t>
            </a:r>
            <a:r>
              <a:rPr sz="2500" spc="-13" dirty="0">
                <a:latin typeface="Calibri"/>
                <a:cs typeface="Calibri"/>
              </a:rPr>
              <a:t>maintained at </a:t>
            </a:r>
            <a:r>
              <a:rPr sz="2500" spc="-9" dirty="0">
                <a:latin typeface="Calibri"/>
                <a:cs typeface="Calibri"/>
              </a:rPr>
              <a:t>client</a:t>
            </a:r>
            <a:r>
              <a:rPr sz="2500" spc="57" dirty="0">
                <a:latin typeface="Calibri"/>
                <a:cs typeface="Calibri"/>
              </a:rPr>
              <a:t> </a:t>
            </a:r>
            <a:r>
              <a:rPr sz="2500" spc="-9" dirty="0">
                <a:latin typeface="Calibri"/>
                <a:cs typeface="Calibri"/>
              </a:rPr>
              <a:t>side</a:t>
            </a:r>
            <a:endParaRPr sz="2500">
              <a:latin typeface="Calibri"/>
              <a:cs typeface="Calibri"/>
            </a:endParaRPr>
          </a:p>
          <a:p>
            <a:pPr marL="311790" indent="-300655">
              <a:spcBef>
                <a:spcPts val="658"/>
              </a:spcBef>
              <a:buFont typeface="Arial"/>
              <a:buChar char="•"/>
              <a:tabLst>
                <a:tab pos="311233" algn="l"/>
                <a:tab pos="311790" algn="l"/>
              </a:tabLst>
            </a:pPr>
            <a:r>
              <a:rPr sz="2800" spc="-13" dirty="0">
                <a:latin typeface="Calibri"/>
                <a:cs typeface="Calibri"/>
              </a:rPr>
              <a:t>Disadvantage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Cookies</a:t>
            </a:r>
            <a:endParaRPr sz="2800">
              <a:latin typeface="Calibri"/>
              <a:cs typeface="Calibri"/>
            </a:endParaRPr>
          </a:p>
          <a:p>
            <a:pPr marL="663111" marR="85742" lvl="1" indent="-251659">
              <a:spcBef>
                <a:spcPts val="605"/>
              </a:spcBef>
              <a:buFont typeface="Arial"/>
              <a:buChar char="–"/>
              <a:tabLst>
                <a:tab pos="663667" algn="l"/>
              </a:tabLst>
            </a:pPr>
            <a:r>
              <a:rPr sz="2500" spc="-4" dirty="0">
                <a:latin typeface="Calibri"/>
                <a:cs typeface="Calibri"/>
              </a:rPr>
              <a:t>It </a:t>
            </a:r>
            <a:r>
              <a:rPr sz="2500" spc="-9" dirty="0">
                <a:latin typeface="Calibri"/>
                <a:cs typeface="Calibri"/>
              </a:rPr>
              <a:t>will not work if cookie is disabled </a:t>
            </a:r>
            <a:r>
              <a:rPr sz="2500" spc="-18" dirty="0">
                <a:latin typeface="Calibri"/>
                <a:cs typeface="Calibri"/>
              </a:rPr>
              <a:t>from </a:t>
            </a:r>
            <a:r>
              <a:rPr sz="2500" spc="-9" dirty="0">
                <a:latin typeface="Calibri"/>
                <a:cs typeface="Calibri"/>
              </a:rPr>
              <a:t>the  </a:t>
            </a:r>
            <a:r>
              <a:rPr sz="2500" spc="-18" dirty="0">
                <a:latin typeface="Calibri"/>
                <a:cs typeface="Calibri"/>
              </a:rPr>
              <a:t>browser</a:t>
            </a:r>
            <a:endParaRPr sz="2500">
              <a:latin typeface="Calibri"/>
              <a:cs typeface="Calibri"/>
            </a:endParaRPr>
          </a:p>
          <a:p>
            <a:pPr marL="663111" marR="4454" lvl="1" indent="-251659">
              <a:spcBef>
                <a:spcPts val="587"/>
              </a:spcBef>
              <a:buFont typeface="Arial"/>
              <a:buChar char="–"/>
              <a:tabLst>
                <a:tab pos="663667" algn="l"/>
              </a:tabLst>
            </a:pPr>
            <a:r>
              <a:rPr sz="2500" spc="-9" dirty="0">
                <a:latin typeface="Calibri"/>
                <a:cs typeface="Calibri"/>
              </a:rPr>
              <a:t>Only </a:t>
            </a:r>
            <a:r>
              <a:rPr sz="2500" spc="-13" dirty="0">
                <a:latin typeface="Calibri"/>
                <a:cs typeface="Calibri"/>
              </a:rPr>
              <a:t>textual information </a:t>
            </a:r>
            <a:r>
              <a:rPr sz="2500" spc="-9" dirty="0">
                <a:latin typeface="Calibri"/>
                <a:cs typeface="Calibri"/>
              </a:rPr>
              <a:t>can be set in </a:t>
            </a:r>
            <a:r>
              <a:rPr sz="2500" spc="-4" dirty="0">
                <a:latin typeface="Calibri"/>
                <a:cs typeface="Calibri"/>
              </a:rPr>
              <a:t>Cookie  object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7322" y="388196"/>
            <a:ext cx="5246511" cy="549291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3500" spc="-18" dirty="0">
                <a:solidFill>
                  <a:srgbClr val="000000"/>
                </a:solidFill>
                <a:latin typeface="Calibri"/>
                <a:cs typeface="Calibri"/>
              </a:rPr>
              <a:t>Constructors </a:t>
            </a: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sz="35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spc="-9" dirty="0">
                <a:solidFill>
                  <a:srgbClr val="000000"/>
                </a:solidFill>
                <a:latin typeface="Calibri"/>
                <a:cs typeface="Calibri"/>
              </a:rPr>
              <a:t>Methods</a:t>
            </a:r>
            <a:endParaRPr sz="35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0451" y="1283541"/>
          <a:ext cx="7453120" cy="1502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5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Constructor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BF5E27"/>
                      </a:solidFill>
                      <a:prstDash val="solid"/>
                    </a:lnL>
                    <a:lnR w="19050">
                      <a:solidFill>
                        <a:srgbClr val="BF5E27"/>
                      </a:solidFill>
                      <a:prstDash val="solid"/>
                    </a:lnR>
                    <a:lnT w="19050">
                      <a:solidFill>
                        <a:srgbClr val="BF5E27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9050">
                      <a:solidFill>
                        <a:srgbClr val="BF5E27"/>
                      </a:solidFill>
                      <a:prstDash val="solid"/>
                    </a:lnL>
                    <a:lnR w="12700">
                      <a:solidFill>
                        <a:srgbClr val="BF5E27"/>
                      </a:solidFill>
                      <a:prstDash val="solid"/>
                    </a:lnR>
                    <a:lnT w="19050">
                      <a:solidFill>
                        <a:srgbClr val="BF5E27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5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Cookie()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905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constructs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cookie.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905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75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Cookie(String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name,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String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value)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905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26034" indent="-635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1284605" algn="l"/>
                          <a:tab pos="1592580" algn="l"/>
                          <a:tab pos="2450465" algn="l"/>
                          <a:tab pos="3095625" algn="l"/>
                          <a:tab pos="340169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ucts	a	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wi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	a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  name 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value.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905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0451" y="2775934"/>
          <a:ext cx="7513935" cy="2657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6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7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59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Method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560" marB="0">
                    <a:lnL w="12700">
                      <a:solidFill>
                        <a:srgbClr val="1FC932"/>
                      </a:solidFill>
                      <a:prstDash val="solid"/>
                    </a:lnL>
                    <a:lnR w="12700">
                      <a:solidFill>
                        <a:srgbClr val="1FC932"/>
                      </a:solidFill>
                      <a:prstDash val="solid"/>
                    </a:lnR>
                    <a:lnT w="12700">
                      <a:solidFill>
                        <a:srgbClr val="1FC932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560" marB="0">
                    <a:lnL w="12700">
                      <a:solidFill>
                        <a:srgbClr val="1FC932"/>
                      </a:solidFill>
                      <a:prstDash val="solid"/>
                    </a:lnL>
                    <a:lnR w="12700">
                      <a:solidFill>
                        <a:srgbClr val="1FC932"/>
                      </a:solidFill>
                      <a:prstDash val="solid"/>
                    </a:lnR>
                    <a:lnT w="12700">
                      <a:solidFill>
                        <a:srgbClr val="1FC932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575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void setMaxAge(int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expiry)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marR="22860" indent="-1270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614680" algn="l"/>
                          <a:tab pos="1117600" algn="l"/>
                          <a:tab pos="2304415" algn="l"/>
                          <a:tab pos="2828925" algn="l"/>
                          <a:tab pos="3197860" algn="l"/>
                          <a:tab pos="3701415" algn="l"/>
                          <a:tab pos="453390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ts	the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im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um	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	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	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 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seconds.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75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String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getName()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24130" indent="-6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Returns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name 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cookie.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name 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cannot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changed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creation.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5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String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getValue()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Returns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value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cookie.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59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setName(String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name)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270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changes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name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cookie.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36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9050">
                      <a:solidFill>
                        <a:srgbClr val="FFBFCB"/>
                      </a:solidFill>
                      <a:prstDash val="solid"/>
                    </a:lnT>
                    <a:lnB w="12700">
                      <a:solidFill>
                        <a:srgbClr val="FFBFCB"/>
                      </a:solidFill>
                      <a:prstDash val="soli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058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void setValue(String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value)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13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270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changes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value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cookie.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13" marB="0">
                    <a:lnL w="12700">
                      <a:solidFill>
                        <a:srgbClr val="FFBFCB"/>
                      </a:solidFill>
                      <a:prstDash val="solid"/>
                    </a:lnL>
                    <a:lnR w="12700">
                      <a:solidFill>
                        <a:srgbClr val="FFBFCB"/>
                      </a:solidFill>
                      <a:prstDash val="solid"/>
                    </a:lnR>
                    <a:lnT w="12700">
                      <a:solidFill>
                        <a:srgbClr val="FFBFCB"/>
                      </a:solidFill>
                      <a:prstDash val="solid"/>
                    </a:lnT>
                    <a:lnB w="19050">
                      <a:solidFill>
                        <a:srgbClr val="FFBF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9113" y="428604"/>
            <a:ext cx="6774787" cy="611408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3900" spc="-13" dirty="0">
                <a:solidFill>
                  <a:srgbClr val="000000"/>
                </a:solidFill>
                <a:latin typeface="Calibri"/>
                <a:cs typeface="Calibri"/>
              </a:rPr>
              <a:t>Creation </a:t>
            </a: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3900" spc="-4" dirty="0">
                <a:solidFill>
                  <a:srgbClr val="000000"/>
                </a:solidFill>
                <a:latin typeface="Calibri"/>
                <a:cs typeface="Calibri"/>
              </a:rPr>
              <a:t>Deletion </a:t>
            </a: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3900" spc="-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900" dirty="0">
                <a:solidFill>
                  <a:srgbClr val="000000"/>
                </a:solidFill>
                <a:latin typeface="Calibri"/>
                <a:cs typeface="Calibri"/>
              </a:rPr>
              <a:t>Cookies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2994" y="1704932"/>
            <a:ext cx="7432486" cy="3995999"/>
          </a:xfrm>
          <a:prstGeom prst="rect">
            <a:avLst/>
          </a:prstGeom>
        </p:spPr>
        <p:txBody>
          <a:bodyPr vert="horz" wrap="square" lIns="0" tIns="46769" rIns="0" bIns="0" rtlCol="0">
            <a:spAutoFit/>
          </a:bodyPr>
          <a:lstStyle/>
          <a:p>
            <a:pPr marL="11135">
              <a:spcBef>
                <a:spcPts val="368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sz="2400" b="1" spc="-13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400" b="1" spc="-18" dirty="0">
                <a:solidFill>
                  <a:srgbClr val="C00000"/>
                </a:solidFill>
                <a:latin typeface="Calibri"/>
                <a:cs typeface="Calibri"/>
              </a:rPr>
              <a:t>create</a:t>
            </a:r>
            <a:r>
              <a:rPr sz="2400" b="1" spc="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4" dirty="0">
                <a:solidFill>
                  <a:srgbClr val="C00000"/>
                </a:solidFill>
                <a:latin typeface="Calibri"/>
                <a:cs typeface="Calibri"/>
              </a:rPr>
              <a:t>Cookie?</a:t>
            </a:r>
            <a:endParaRPr sz="2400">
              <a:latin typeface="Calibri"/>
              <a:cs typeface="Calibri"/>
            </a:endParaRPr>
          </a:p>
          <a:p>
            <a:pPr marL="311233" marR="4454" indent="-300655">
              <a:lnSpc>
                <a:spcPts val="2560"/>
              </a:lnSpc>
              <a:spcBef>
                <a:spcPts val="605"/>
              </a:spcBef>
            </a:pPr>
            <a:r>
              <a:rPr sz="2400" spc="-4" dirty="0">
                <a:latin typeface="Calibri"/>
                <a:cs typeface="Calibri"/>
              </a:rPr>
              <a:t>Cookie </a:t>
            </a:r>
            <a:r>
              <a:rPr sz="2400" spc="-9" dirty="0">
                <a:latin typeface="Calibri"/>
                <a:cs typeface="Calibri"/>
              </a:rPr>
              <a:t>ck=</a:t>
            </a:r>
            <a:r>
              <a:rPr sz="2400" b="1" spc="-9" dirty="0">
                <a:latin typeface="Calibri"/>
                <a:cs typeface="Calibri"/>
              </a:rPr>
              <a:t>new </a:t>
            </a:r>
            <a:r>
              <a:rPr sz="2400" spc="-4" dirty="0">
                <a:latin typeface="Calibri"/>
                <a:cs typeface="Calibri"/>
              </a:rPr>
              <a:t>Cookie("user","sonoo </a:t>
            </a:r>
            <a:r>
              <a:rPr sz="2400" spc="-9" dirty="0">
                <a:latin typeface="Calibri"/>
                <a:cs typeface="Calibri"/>
              </a:rPr>
              <a:t>jaiswal");//creating cook  </a:t>
            </a:r>
            <a:r>
              <a:rPr sz="2400" dirty="0">
                <a:latin typeface="Calibri"/>
                <a:cs typeface="Calibri"/>
              </a:rPr>
              <a:t>ie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11135">
              <a:spcBef>
                <a:spcPts val="241"/>
              </a:spcBef>
            </a:pPr>
            <a:r>
              <a:rPr sz="2400" spc="-9" dirty="0">
                <a:latin typeface="Calibri"/>
                <a:cs typeface="Calibri"/>
              </a:rPr>
              <a:t>response.addCookie(ck);//adding cookie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4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response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31"/>
              </a:spcBef>
            </a:pPr>
            <a:endParaRPr sz="2900">
              <a:latin typeface="Times New Roman"/>
              <a:cs typeface="Times New Roman"/>
            </a:endParaRPr>
          </a:p>
          <a:p>
            <a:pPr marL="11135"/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sz="2400" b="1" spc="-13" dirty="0">
                <a:solidFill>
                  <a:srgbClr val="C00000"/>
                </a:solidFill>
                <a:latin typeface="Calibri"/>
                <a:cs typeface="Calibri"/>
              </a:rPr>
              <a:t>to delete</a:t>
            </a:r>
            <a:r>
              <a:rPr sz="2400" b="1" spc="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4" dirty="0">
                <a:solidFill>
                  <a:srgbClr val="C00000"/>
                </a:solidFill>
                <a:latin typeface="Calibri"/>
                <a:cs typeface="Calibri"/>
              </a:rPr>
              <a:t>Cookie?</a:t>
            </a:r>
            <a:endParaRPr sz="2400">
              <a:latin typeface="Calibri"/>
              <a:cs typeface="Calibri"/>
            </a:endParaRPr>
          </a:p>
          <a:p>
            <a:pPr marL="11135" marR="378602">
              <a:lnSpc>
                <a:spcPct val="110000"/>
              </a:lnSpc>
              <a:tabLst>
                <a:tab pos="5839383" algn="l"/>
              </a:tabLst>
            </a:pPr>
            <a:r>
              <a:rPr sz="2400" spc="-4" dirty="0">
                <a:latin typeface="Calibri"/>
                <a:cs typeface="Calibri"/>
              </a:rPr>
              <a:t>Cookie </a:t>
            </a:r>
            <a:r>
              <a:rPr sz="2400" spc="-9" dirty="0">
                <a:latin typeface="Calibri"/>
                <a:cs typeface="Calibri"/>
              </a:rPr>
              <a:t>ck=</a:t>
            </a:r>
            <a:r>
              <a:rPr sz="2400" b="1" spc="-9" dirty="0">
                <a:latin typeface="Calibri"/>
                <a:cs typeface="Calibri"/>
              </a:rPr>
              <a:t>new </a:t>
            </a:r>
            <a:r>
              <a:rPr sz="2400" spc="-4" dirty="0">
                <a:latin typeface="Calibri"/>
                <a:cs typeface="Calibri"/>
              </a:rPr>
              <a:t>Cookie("user","");//deleting </a:t>
            </a:r>
            <a:r>
              <a:rPr sz="2400" spc="-9" dirty="0">
                <a:latin typeface="Calibri"/>
                <a:cs typeface="Calibri"/>
              </a:rPr>
              <a:t>value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9" dirty="0">
                <a:latin typeface="Calibri"/>
                <a:cs typeface="Calibri"/>
              </a:rPr>
              <a:t>cookie  ck.setMaxAge(0);//changing </a:t>
            </a:r>
            <a:r>
              <a:rPr sz="2400" spc="-4" dirty="0">
                <a:latin typeface="Calibri"/>
                <a:cs typeface="Calibri"/>
              </a:rPr>
              <a:t>the </a:t>
            </a:r>
            <a:r>
              <a:rPr sz="2400" spc="-9" dirty="0">
                <a:latin typeface="Calibri"/>
                <a:cs typeface="Calibri"/>
              </a:rPr>
              <a:t>maximum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age	</a:t>
            </a:r>
            <a:r>
              <a:rPr sz="2400" dirty="0">
                <a:latin typeface="Calibri"/>
                <a:cs typeface="Calibri"/>
              </a:rPr>
              <a:t>as 0  </a:t>
            </a:r>
            <a:r>
              <a:rPr sz="2400" spc="-9" dirty="0">
                <a:latin typeface="Calibri"/>
                <a:cs typeface="Calibri"/>
              </a:rPr>
              <a:t>response.addCookie(ck);//adding cookie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4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response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64680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3600" spc="-4" dirty="0"/>
              <a:t>How </a:t>
            </a:r>
            <a:r>
              <a:rPr sz="3600" spc="-13" dirty="0"/>
              <a:t>to get</a:t>
            </a:r>
            <a:r>
              <a:rPr sz="3600" spc="-9" dirty="0"/>
              <a:t> </a:t>
            </a:r>
            <a:r>
              <a:rPr sz="3600" spc="-4"/>
              <a:t>Cookies?</a:t>
            </a:r>
            <a:endParaRPr sz="3600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285720" y="986201"/>
            <a:ext cx="6311749" cy="2085609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lang="en-IN" sz="2400" spc="-4" dirty="0">
                <a:solidFill>
                  <a:srgbClr val="000000"/>
                </a:solidFill>
                <a:cs typeface="Calibri"/>
              </a:rPr>
              <a:t>Cookie</a:t>
            </a:r>
            <a:r>
              <a:rPr lang="en-IN" sz="2400" spc="-57" dirty="0">
                <a:solidFill>
                  <a:srgbClr val="000000"/>
                </a:solidFill>
                <a:cs typeface="Calibri"/>
              </a:rPr>
              <a:t> </a:t>
            </a:r>
            <a:r>
              <a:rPr lang="en-IN" sz="2400" spc="-4" dirty="0">
                <a:solidFill>
                  <a:srgbClr val="000000"/>
                </a:solidFill>
                <a:cs typeface="Calibri"/>
              </a:rPr>
              <a:t>ck[]=</a:t>
            </a:r>
            <a:r>
              <a:rPr lang="en-IN" sz="2400" spc="-4" dirty="0" err="1">
                <a:solidFill>
                  <a:srgbClr val="000000"/>
                </a:solidFill>
                <a:cs typeface="Calibri"/>
              </a:rPr>
              <a:t>request.getCookies</a:t>
            </a:r>
            <a:r>
              <a:rPr lang="en-IN" sz="2400" spc="-4" dirty="0">
                <a:solidFill>
                  <a:srgbClr val="000000"/>
                </a:solidFill>
                <a:cs typeface="Calibri"/>
              </a:rPr>
              <a:t>();</a:t>
            </a:r>
            <a:endParaRPr lang="en-IN" sz="2200" b="1" spc="-13" dirty="0">
              <a:latin typeface="Calibri"/>
              <a:cs typeface="Calibri"/>
            </a:endParaRPr>
          </a:p>
          <a:p>
            <a:pPr marL="11135">
              <a:spcBef>
                <a:spcPts val="83"/>
              </a:spcBef>
            </a:pPr>
            <a:r>
              <a:rPr sz="2200" b="1" spc="-13">
                <a:latin typeface="Calibri"/>
                <a:cs typeface="Calibri"/>
              </a:rPr>
              <a:t>for</a:t>
            </a:r>
            <a:r>
              <a:rPr sz="2200" spc="-13">
                <a:latin typeface="Calibri"/>
                <a:cs typeface="Calibri"/>
              </a:rPr>
              <a:t>(</a:t>
            </a:r>
            <a:r>
              <a:rPr sz="2200" b="1" spc="-13">
                <a:latin typeface="Calibri"/>
                <a:cs typeface="Calibri"/>
              </a:rPr>
              <a:t>int</a:t>
            </a:r>
            <a:r>
              <a:rPr sz="2200" b="1" spc="-18">
                <a:latin typeface="Calibri"/>
                <a:cs typeface="Calibri"/>
              </a:rPr>
              <a:t> </a:t>
            </a:r>
            <a:r>
              <a:rPr sz="2200" spc="-4" dirty="0">
                <a:latin typeface="Calibri"/>
                <a:cs typeface="Calibri"/>
              </a:rPr>
              <a:t>i=0;i&lt;ck.length;i++)</a:t>
            </a:r>
            <a:endParaRPr sz="2200">
              <a:latin typeface="Calibri"/>
              <a:cs typeface="Calibri"/>
            </a:endParaRPr>
          </a:p>
          <a:p>
            <a:pPr marL="11135"/>
            <a:r>
              <a:rPr sz="2200" spc="-4" dirty="0">
                <a:latin typeface="Calibri"/>
                <a:cs typeface="Calibri"/>
              </a:rPr>
              <a:t>{</a:t>
            </a:r>
            <a:endParaRPr sz="2200">
              <a:latin typeface="Calibri"/>
              <a:cs typeface="Calibri"/>
            </a:endParaRPr>
          </a:p>
          <a:p>
            <a:pPr marL="311233"/>
            <a:r>
              <a:rPr sz="2200" spc="-4" dirty="0">
                <a:latin typeface="Calibri"/>
                <a:cs typeface="Calibri"/>
              </a:rPr>
              <a:t>out.print("&lt;br&gt;"+ck[i].getName()+"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"+ck[i].getValue());</a:t>
            </a:r>
            <a:endParaRPr sz="2200">
              <a:latin typeface="Calibri"/>
              <a:cs typeface="Calibri"/>
            </a:endParaRPr>
          </a:p>
          <a:p>
            <a:pPr marL="11135"/>
            <a:r>
              <a:rPr sz="2200" spc="-4" dirty="0">
                <a:latin typeface="Calibri"/>
                <a:cs typeface="Calibri"/>
              </a:rPr>
              <a:t>}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5584" y="2428868"/>
            <a:ext cx="5925572" cy="31120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84137" y="5382663"/>
            <a:ext cx="5762783" cy="657575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 marR="4454">
              <a:spcBef>
                <a:spcPts val="88"/>
              </a:spcBef>
            </a:pPr>
            <a:r>
              <a:rPr sz="2100" b="1" spc="-4" dirty="0">
                <a:solidFill>
                  <a:srgbClr val="C00000"/>
                </a:solidFill>
                <a:latin typeface="Calibri"/>
                <a:cs typeface="Calibri"/>
              </a:rPr>
              <a:t>Storing the name </a:t>
            </a:r>
            <a:r>
              <a:rPr sz="2100" b="1" dirty="0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sz="2100" b="1" spc="-4" dirty="0">
                <a:solidFill>
                  <a:srgbClr val="C00000"/>
                </a:solidFill>
                <a:latin typeface="Calibri"/>
                <a:cs typeface="Calibri"/>
              </a:rPr>
              <a:t>the user in the cookie object and  accessing it in another</a:t>
            </a:r>
            <a:r>
              <a:rPr sz="2100" b="1" spc="-22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C00000"/>
                </a:solidFill>
                <a:latin typeface="Calibri"/>
                <a:cs typeface="Calibri"/>
              </a:rPr>
              <a:t>servlet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2804" y="512678"/>
            <a:ext cx="5826782" cy="549291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Cookie </a:t>
            </a:r>
            <a:r>
              <a:rPr sz="3500" spc="-13" dirty="0">
                <a:solidFill>
                  <a:srgbClr val="000000"/>
                </a:solidFill>
                <a:latin typeface="Calibri"/>
                <a:cs typeface="Calibri"/>
              </a:rPr>
              <a:t>Example1 </a:t>
            </a: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sz="35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spc="-9" dirty="0">
                <a:solidFill>
                  <a:srgbClr val="000000"/>
                </a:solidFill>
                <a:latin typeface="Calibri"/>
                <a:cs typeface="Calibri"/>
              </a:rPr>
              <a:t>web.xml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7544" y="1844824"/>
            <a:ext cx="5184576" cy="3532672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1900" spc="-9" dirty="0">
                <a:solidFill>
                  <a:srgbClr val="0000FF"/>
                </a:solidFill>
                <a:latin typeface="Calibri"/>
                <a:cs typeface="Calibri"/>
              </a:rPr>
              <a:t>&lt;web-app&gt;</a:t>
            </a:r>
            <a:endParaRPr sz="1900" dirty="0">
              <a:solidFill>
                <a:srgbClr val="0000FF"/>
              </a:solidFill>
              <a:latin typeface="Calibri"/>
              <a:cs typeface="Calibri"/>
            </a:endParaRPr>
          </a:p>
          <a:p>
            <a:pPr>
              <a:spcBef>
                <a:spcPts val="44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1135"/>
            <a:r>
              <a:rPr sz="1900" spc="-4" dirty="0">
                <a:solidFill>
                  <a:srgbClr val="C00000"/>
                </a:solidFill>
                <a:latin typeface="Calibri"/>
                <a:cs typeface="Calibri"/>
              </a:rPr>
              <a:t>&lt;servlet&gt;</a:t>
            </a:r>
            <a:endParaRPr sz="19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1135"/>
            <a:r>
              <a:rPr sz="1900" spc="-4" dirty="0">
                <a:solidFill>
                  <a:srgbClr val="C00000"/>
                </a:solidFill>
                <a:latin typeface="Calibri"/>
                <a:cs typeface="Calibri"/>
              </a:rPr>
              <a:t>&lt;servlet-name&gt;s1&lt;/servlet-name&gt;</a:t>
            </a:r>
            <a:endParaRPr sz="19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1135">
              <a:lnSpc>
                <a:spcPts val="2082"/>
              </a:lnSpc>
            </a:pPr>
            <a:r>
              <a:rPr sz="1900" spc="-9" dirty="0">
                <a:solidFill>
                  <a:srgbClr val="C00000"/>
                </a:solidFill>
                <a:latin typeface="Calibri"/>
                <a:cs typeface="Calibri"/>
              </a:rPr>
              <a:t>&lt;servlet-</a:t>
            </a:r>
            <a:r>
              <a:rPr sz="1900" b="1" spc="-9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sz="1900" spc="-9" dirty="0">
                <a:solidFill>
                  <a:srgbClr val="C00000"/>
                </a:solidFill>
                <a:latin typeface="Calibri"/>
                <a:cs typeface="Calibri"/>
              </a:rPr>
              <a:t>&gt;FirstServlet&lt;/servlet-</a:t>
            </a:r>
            <a:r>
              <a:rPr sz="1900" b="1" spc="-4" dirty="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sz="1900" spc="-4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endParaRPr sz="19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1135"/>
            <a:r>
              <a:rPr sz="1900" spc="-9" dirty="0">
                <a:solidFill>
                  <a:srgbClr val="C00000"/>
                </a:solidFill>
                <a:latin typeface="Calibri"/>
                <a:cs typeface="Calibri"/>
              </a:rPr>
              <a:t>&lt;/servlet&gt;</a:t>
            </a:r>
            <a:endParaRPr sz="1900" dirty="0">
              <a:solidFill>
                <a:srgbClr val="C00000"/>
              </a:solidFill>
              <a:latin typeface="Calibri"/>
              <a:cs typeface="Calibri"/>
            </a:endParaRPr>
          </a:p>
          <a:p>
            <a:pPr>
              <a:spcBef>
                <a:spcPts val="48"/>
              </a:spcBef>
            </a:pPr>
            <a:endParaRPr sz="20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1135"/>
            <a:r>
              <a:rPr sz="1900" spc="-4" dirty="0">
                <a:solidFill>
                  <a:srgbClr val="C00000"/>
                </a:solidFill>
                <a:latin typeface="Calibri"/>
                <a:cs typeface="Calibri"/>
              </a:rPr>
              <a:t>&lt;servlet-mapping&gt;</a:t>
            </a:r>
            <a:endParaRPr sz="19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1135"/>
            <a:r>
              <a:rPr sz="1900" spc="-4" dirty="0">
                <a:solidFill>
                  <a:srgbClr val="C00000"/>
                </a:solidFill>
                <a:latin typeface="Calibri"/>
                <a:cs typeface="Calibri"/>
              </a:rPr>
              <a:t>&lt;servlet-name&gt;s1&lt;/servlet-name&gt;</a:t>
            </a:r>
            <a:endParaRPr sz="19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311233" marR="778918" indent="-300655">
              <a:lnSpc>
                <a:spcPct val="80000"/>
              </a:lnSpc>
              <a:spcBef>
                <a:spcPts val="465"/>
              </a:spcBef>
            </a:pPr>
            <a:r>
              <a:rPr sz="1900" spc="-9" dirty="0">
                <a:solidFill>
                  <a:srgbClr val="C00000"/>
                </a:solidFill>
                <a:latin typeface="Calibri"/>
                <a:cs typeface="Calibri"/>
              </a:rPr>
              <a:t>&lt;url-pattern&gt;/servlet1&lt;/url-  </a:t>
            </a:r>
            <a:r>
              <a:rPr sz="1900" spc="-13" dirty="0">
                <a:solidFill>
                  <a:srgbClr val="C00000"/>
                </a:solidFill>
                <a:latin typeface="Calibri"/>
                <a:cs typeface="Calibri"/>
              </a:rPr>
              <a:t>pattern&gt;</a:t>
            </a:r>
            <a:endParaRPr sz="19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1135"/>
            <a:r>
              <a:rPr sz="1900" spc="-9" dirty="0">
                <a:solidFill>
                  <a:srgbClr val="C00000"/>
                </a:solidFill>
                <a:latin typeface="Calibri"/>
                <a:cs typeface="Calibri"/>
              </a:rPr>
              <a:t>&lt;/servlet-mapping&gt;</a:t>
            </a:r>
            <a:endParaRPr lang="en-US" sz="1900" spc="-9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1135"/>
            <a:endParaRPr sz="1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8064" y="2132856"/>
            <a:ext cx="4610479" cy="3484454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1900" spc="-4" dirty="0">
                <a:latin typeface="Calibri"/>
                <a:cs typeface="Calibri"/>
              </a:rPr>
              <a:t>&lt;servlet&gt;</a:t>
            </a:r>
            <a:endParaRPr sz="1900" dirty="0">
              <a:latin typeface="Calibri"/>
              <a:cs typeface="Calibri"/>
            </a:endParaRPr>
          </a:p>
          <a:p>
            <a:pPr marL="11135"/>
            <a:r>
              <a:rPr sz="1900" spc="-4" dirty="0">
                <a:latin typeface="Calibri"/>
                <a:cs typeface="Calibri"/>
              </a:rPr>
              <a:t>&lt;servlet-name&gt;s2&lt;/servlet-name&gt;</a:t>
            </a:r>
            <a:endParaRPr sz="1900" dirty="0">
              <a:latin typeface="Calibri"/>
              <a:cs typeface="Calibri"/>
            </a:endParaRPr>
          </a:p>
          <a:p>
            <a:pPr marL="11135">
              <a:lnSpc>
                <a:spcPts val="2082"/>
              </a:lnSpc>
            </a:pPr>
            <a:r>
              <a:rPr sz="1900" spc="-4" dirty="0">
                <a:latin typeface="Calibri"/>
                <a:cs typeface="Calibri"/>
              </a:rPr>
              <a:t>&lt;servlet-</a:t>
            </a:r>
            <a:endParaRPr sz="1900" dirty="0">
              <a:latin typeface="Calibri"/>
              <a:cs typeface="Calibri"/>
            </a:endParaRPr>
          </a:p>
          <a:p>
            <a:pPr marL="311233" marR="153111">
              <a:lnSpc>
                <a:spcPct val="80000"/>
              </a:lnSpc>
              <a:spcBef>
                <a:spcPts val="232"/>
              </a:spcBef>
            </a:pPr>
            <a:r>
              <a:rPr sz="1900" b="1" spc="-9" dirty="0">
                <a:latin typeface="Calibri"/>
                <a:cs typeface="Calibri"/>
              </a:rPr>
              <a:t>class</a:t>
            </a:r>
            <a:r>
              <a:rPr sz="1900" spc="-9" dirty="0">
                <a:latin typeface="Calibri"/>
                <a:cs typeface="Calibri"/>
              </a:rPr>
              <a:t>&gt;SecondServlet&lt;/servlet-  </a:t>
            </a:r>
            <a:r>
              <a:rPr sz="1900" b="1" spc="-4" dirty="0">
                <a:latin typeface="Calibri"/>
                <a:cs typeface="Calibri"/>
              </a:rPr>
              <a:t>class</a:t>
            </a:r>
            <a:r>
              <a:rPr sz="1900" spc="-4" dirty="0">
                <a:latin typeface="Calibri"/>
                <a:cs typeface="Calibri"/>
              </a:rPr>
              <a:t>&gt;</a:t>
            </a:r>
            <a:endParaRPr sz="1900" dirty="0">
              <a:latin typeface="Calibri"/>
              <a:cs typeface="Calibri"/>
            </a:endParaRPr>
          </a:p>
          <a:p>
            <a:pPr marL="11135"/>
            <a:r>
              <a:rPr sz="1900" spc="-9" dirty="0">
                <a:latin typeface="Calibri"/>
                <a:cs typeface="Calibri"/>
              </a:rPr>
              <a:t>&lt;/servlet&gt;</a:t>
            </a:r>
            <a:endParaRPr sz="1900" dirty="0">
              <a:latin typeface="Calibri"/>
              <a:cs typeface="Calibri"/>
            </a:endParaRPr>
          </a:p>
          <a:p>
            <a:pPr>
              <a:spcBef>
                <a:spcPts val="44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1135"/>
            <a:r>
              <a:rPr sz="1900" spc="-4" dirty="0">
                <a:latin typeface="Calibri"/>
                <a:cs typeface="Calibri"/>
              </a:rPr>
              <a:t>&lt;servlet-mapping&gt;</a:t>
            </a:r>
            <a:endParaRPr sz="1900" dirty="0">
              <a:latin typeface="Calibri"/>
              <a:cs typeface="Calibri"/>
            </a:endParaRPr>
          </a:p>
          <a:p>
            <a:pPr marL="11135"/>
            <a:r>
              <a:rPr sz="1900" spc="-4" dirty="0">
                <a:latin typeface="Calibri"/>
                <a:cs typeface="Calibri"/>
              </a:rPr>
              <a:t>&lt;servlet-name&gt;s2&lt;/servlet-name&gt;</a:t>
            </a:r>
            <a:endParaRPr sz="1900" dirty="0">
              <a:latin typeface="Calibri"/>
              <a:cs typeface="Calibri"/>
            </a:endParaRPr>
          </a:p>
          <a:p>
            <a:pPr marL="311233" marR="652532" indent="-300655">
              <a:lnSpc>
                <a:spcPct val="80000"/>
              </a:lnSpc>
              <a:spcBef>
                <a:spcPts val="465"/>
              </a:spcBef>
            </a:pPr>
            <a:r>
              <a:rPr sz="1900" spc="-9" dirty="0">
                <a:latin typeface="Calibri"/>
                <a:cs typeface="Calibri"/>
              </a:rPr>
              <a:t>&lt;url-pattern&gt;/servlet2&lt;/url-  </a:t>
            </a:r>
            <a:r>
              <a:rPr sz="1900" spc="-13" dirty="0">
                <a:latin typeface="Calibri"/>
                <a:cs typeface="Calibri"/>
              </a:rPr>
              <a:t>pattern&gt;</a:t>
            </a:r>
            <a:endParaRPr sz="1900" dirty="0">
              <a:latin typeface="Calibri"/>
              <a:cs typeface="Calibri"/>
            </a:endParaRPr>
          </a:p>
          <a:p>
            <a:pPr marL="11135"/>
            <a:r>
              <a:rPr sz="1900" spc="-9" dirty="0">
                <a:latin typeface="Calibri"/>
                <a:cs typeface="Calibri"/>
              </a:rPr>
              <a:t>&lt;/servlet-mapping&gt;</a:t>
            </a:r>
            <a:endParaRPr lang="en-US" sz="1900" spc="-9" dirty="0">
              <a:latin typeface="Calibri"/>
              <a:cs typeface="Calibri"/>
            </a:endParaRPr>
          </a:p>
          <a:p>
            <a:pPr marL="11135"/>
            <a:r>
              <a:rPr lang="en-IN" sz="1900" spc="-9" dirty="0">
                <a:solidFill>
                  <a:srgbClr val="0000FF"/>
                </a:solidFill>
                <a:latin typeface="Calibri"/>
                <a:cs typeface="Calibri"/>
              </a:rPr>
              <a:t>&lt;/web-app&gt;</a:t>
            </a:r>
            <a:endParaRPr lang="en-IN" sz="190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11135"/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0412" y="142852"/>
            <a:ext cx="5854860" cy="549291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Cookie </a:t>
            </a:r>
            <a:r>
              <a:rPr sz="3500" spc="-13" dirty="0">
                <a:solidFill>
                  <a:srgbClr val="000000"/>
                </a:solidFill>
                <a:latin typeface="Calibri"/>
                <a:cs typeface="Calibri"/>
              </a:rPr>
              <a:t>Example1 </a:t>
            </a: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sz="3500" spc="-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spc="-13" dirty="0">
                <a:solidFill>
                  <a:srgbClr val="000000"/>
                </a:solidFill>
                <a:latin typeface="Calibri"/>
                <a:cs typeface="Calibri"/>
              </a:rPr>
              <a:t>FirstServlet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1915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0" y="1065099"/>
            <a:ext cx="9144000" cy="4935669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000" b="1" dirty="0">
                <a:latin typeface="Calibri"/>
                <a:cs typeface="Calibri"/>
              </a:rPr>
              <a:t>public class </a:t>
            </a:r>
            <a:r>
              <a:rPr sz="2000" spc="-9" dirty="0">
                <a:latin typeface="Calibri"/>
                <a:cs typeface="Calibri"/>
              </a:rPr>
              <a:t>FirstServlet </a:t>
            </a:r>
            <a:r>
              <a:rPr sz="2000" b="1" spc="-9" dirty="0">
                <a:latin typeface="Calibri"/>
                <a:cs typeface="Calibri"/>
              </a:rPr>
              <a:t>extends </a:t>
            </a:r>
            <a:r>
              <a:rPr sz="2000" spc="-4" dirty="0">
                <a:latin typeface="Calibri"/>
                <a:cs typeface="Calibri"/>
              </a:rPr>
              <a:t>HttpServlet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109683"/>
            <a:r>
              <a:rPr sz="2000" b="1" dirty="0">
                <a:latin typeface="Calibri"/>
                <a:cs typeface="Calibri"/>
              </a:rPr>
              <a:t>public </a:t>
            </a:r>
            <a:r>
              <a:rPr sz="2000" b="1" spc="-4" dirty="0">
                <a:latin typeface="Calibri"/>
                <a:cs typeface="Calibri"/>
              </a:rPr>
              <a:t>void </a:t>
            </a:r>
            <a:r>
              <a:rPr sz="2000" spc="-9" dirty="0">
                <a:latin typeface="Calibri"/>
                <a:cs typeface="Calibri"/>
              </a:rPr>
              <a:t>doPost(HttpServletRequest request, </a:t>
            </a:r>
            <a:r>
              <a:rPr sz="2000" spc="-4" dirty="0">
                <a:latin typeface="Calibri"/>
                <a:cs typeface="Calibri"/>
              </a:rPr>
              <a:t>HttpServletResponse</a:t>
            </a:r>
            <a:r>
              <a:rPr sz="2000" spc="88" dirty="0">
                <a:latin typeface="Calibri"/>
                <a:cs typeface="Calibri"/>
              </a:rPr>
              <a:t> </a:t>
            </a:r>
            <a:r>
              <a:rPr sz="2000" spc="-4">
                <a:latin typeface="Calibri"/>
                <a:cs typeface="Calibri"/>
              </a:rPr>
              <a:t>response){</a:t>
            </a:r>
            <a:endParaRPr sz="2000">
              <a:latin typeface="Times New Roman"/>
              <a:cs typeface="Times New Roman"/>
            </a:endParaRPr>
          </a:p>
          <a:p>
            <a:pPr marL="209902" marR="3645160"/>
            <a:r>
              <a:rPr sz="2000" b="1">
                <a:latin typeface="Calibri"/>
                <a:cs typeface="Calibri"/>
              </a:rPr>
              <a:t>try</a:t>
            </a:r>
            <a:r>
              <a:rPr sz="2000">
                <a:latin typeface="Calibri"/>
                <a:cs typeface="Calibri"/>
              </a:rPr>
              <a:t>{</a:t>
            </a:r>
            <a:r>
              <a:rPr lang="en-IN" sz="2000" dirty="0">
                <a:latin typeface="Calibri"/>
                <a:cs typeface="Calibri"/>
              </a:rPr>
              <a:t>r</a:t>
            </a:r>
            <a:r>
              <a:rPr sz="2000" spc="-9">
                <a:latin typeface="Calibri"/>
                <a:cs typeface="Calibri"/>
              </a:rPr>
              <a:t>esponse.setContentType("text/ht</a:t>
            </a:r>
            <a:r>
              <a:rPr lang="en-IN" sz="2000" spc="-9" dirty="0">
                <a:latin typeface="Calibri"/>
                <a:cs typeface="Calibri"/>
              </a:rPr>
              <a:t>ml</a:t>
            </a:r>
            <a:r>
              <a:rPr sz="2000" spc="-9">
                <a:latin typeface="Calibri"/>
                <a:cs typeface="Calibri"/>
              </a:rPr>
              <a:t>");  </a:t>
            </a:r>
            <a:r>
              <a:rPr sz="2000" spc="-13">
                <a:latin typeface="Calibri"/>
                <a:cs typeface="Calibri"/>
              </a:rPr>
              <a:t>PrintWriter</a:t>
            </a:r>
            <a:r>
              <a:rPr lang="en-IN" sz="2000" spc="-13" dirty="0">
                <a:latin typeface="Calibri"/>
                <a:cs typeface="Calibri"/>
              </a:rPr>
              <a:t>out=</a:t>
            </a:r>
            <a:r>
              <a:rPr lang="en-IN" sz="2000" spc="53" dirty="0">
                <a:latin typeface="Calibri"/>
                <a:cs typeface="Calibri"/>
              </a:rPr>
              <a:t>r</a:t>
            </a:r>
            <a:r>
              <a:rPr sz="2000" spc="-9">
                <a:latin typeface="Calibri"/>
                <a:cs typeface="Calibri"/>
              </a:rPr>
              <a:t>esponse.getWriter</a:t>
            </a:r>
            <a:r>
              <a:rPr sz="2000" spc="-9" dirty="0">
                <a:latin typeface="Calibri"/>
                <a:cs typeface="Calibri"/>
              </a:rPr>
              <a:t>();</a:t>
            </a:r>
            <a:endParaRPr sz="2000">
              <a:latin typeface="Calibri"/>
              <a:cs typeface="Calibri"/>
            </a:endParaRPr>
          </a:p>
          <a:p>
            <a:pPr marL="209902" marR="3083380"/>
            <a:r>
              <a:rPr sz="2000" spc="-4" dirty="0">
                <a:latin typeface="Calibri"/>
                <a:cs typeface="Calibri"/>
              </a:rPr>
              <a:t>String </a:t>
            </a:r>
            <a:r>
              <a:rPr sz="2000" spc="-9" dirty="0">
                <a:latin typeface="Calibri"/>
                <a:cs typeface="Calibri"/>
              </a:rPr>
              <a:t>n=request.getParameter("userName");  out.print("Welcome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"+n);</a:t>
            </a:r>
            <a:endParaRPr sz="2000">
              <a:latin typeface="Calibri"/>
              <a:cs typeface="Calibri"/>
            </a:endParaRPr>
          </a:p>
          <a:p>
            <a:pPr marL="209902" marR="1803928"/>
            <a:r>
              <a:rPr sz="2000" spc="-4" dirty="0">
                <a:solidFill>
                  <a:srgbClr val="0000FF"/>
                </a:solidFill>
                <a:latin typeface="Calibri"/>
                <a:cs typeface="Calibri"/>
              </a:rPr>
              <a:t>Cookie ck=</a:t>
            </a:r>
            <a:r>
              <a:rPr sz="2000" b="1" spc="-4" dirty="0">
                <a:solidFill>
                  <a:srgbClr val="0000FF"/>
                </a:solidFill>
                <a:latin typeface="Calibri"/>
                <a:cs typeface="Calibri"/>
              </a:rPr>
              <a:t>new </a:t>
            </a:r>
            <a:r>
              <a:rPr sz="2000" spc="-4" dirty="0">
                <a:solidFill>
                  <a:srgbClr val="0000FF"/>
                </a:solidFill>
                <a:latin typeface="Calibri"/>
                <a:cs typeface="Calibri"/>
              </a:rPr>
              <a:t>Cookie("uname",n);//creating cookie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object  </a:t>
            </a:r>
            <a:r>
              <a:rPr sz="2000" spc="-4" dirty="0">
                <a:solidFill>
                  <a:srgbClr val="0000FF"/>
                </a:solidFill>
                <a:latin typeface="Calibri"/>
                <a:cs typeface="Calibri"/>
              </a:rPr>
              <a:t>response.addCookie(ck);//adding cookie in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0000FF"/>
                </a:solidFill>
                <a:latin typeface="Calibri"/>
                <a:cs typeface="Calibri"/>
              </a:rPr>
              <a:t>response</a:t>
            </a:r>
            <a:endParaRPr sz="2000">
              <a:solidFill>
                <a:srgbClr val="0000FF"/>
              </a:solidFill>
              <a:latin typeface="Calibri"/>
              <a:cs typeface="Calibri"/>
            </a:endParaRPr>
          </a:p>
          <a:p>
            <a:pPr marL="209902" marR="3797715"/>
            <a:r>
              <a:rPr sz="2000" spc="-9" dirty="0">
                <a:latin typeface="Calibri"/>
                <a:cs typeface="Calibri"/>
              </a:rPr>
              <a:t>//creating </a:t>
            </a:r>
            <a:r>
              <a:rPr sz="2000" spc="-4" dirty="0">
                <a:latin typeface="Calibri"/>
                <a:cs typeface="Calibri"/>
              </a:rPr>
              <a:t>submit </a:t>
            </a:r>
            <a:r>
              <a:rPr sz="2000" spc="-9" dirty="0">
                <a:latin typeface="Calibri"/>
                <a:cs typeface="Calibri"/>
              </a:rPr>
              <a:t>button  </a:t>
            </a:r>
            <a:r>
              <a:rPr sz="2000" spc="-4" dirty="0">
                <a:latin typeface="Calibri"/>
                <a:cs typeface="Calibri"/>
              </a:rPr>
              <a:t>out.print</a:t>
            </a:r>
            <a:r>
              <a:rPr sz="2000" spc="-4">
                <a:latin typeface="Calibri"/>
                <a:cs typeface="Calibri"/>
              </a:rPr>
              <a:t>("&lt;formaction</a:t>
            </a:r>
            <a:r>
              <a:rPr sz="2000" spc="-4" dirty="0">
                <a:latin typeface="Calibri"/>
                <a:cs typeface="Calibri"/>
              </a:rPr>
              <a:t>='servlet2'&gt;");</a:t>
            </a:r>
            <a:endParaRPr sz="2000">
              <a:latin typeface="Calibri"/>
              <a:cs typeface="Calibri"/>
            </a:endParaRPr>
          </a:p>
          <a:p>
            <a:pPr marL="209902" marR="3052758"/>
            <a:r>
              <a:rPr sz="2000" spc="-4" dirty="0">
                <a:latin typeface="Calibri"/>
                <a:cs typeface="Calibri"/>
              </a:rPr>
              <a:t>out.print("&lt;input </a:t>
            </a:r>
            <a:r>
              <a:rPr sz="2000" dirty="0">
                <a:latin typeface="Calibri"/>
                <a:cs typeface="Calibri"/>
              </a:rPr>
              <a:t>type='submit' </a:t>
            </a:r>
            <a:r>
              <a:rPr sz="2000" spc="-4" dirty="0">
                <a:latin typeface="Calibri"/>
                <a:cs typeface="Calibri"/>
              </a:rPr>
              <a:t>value='go'&gt;");  out.print("&lt;/form&gt;");</a:t>
            </a:r>
            <a:endParaRPr sz="2000">
              <a:latin typeface="Calibri"/>
              <a:cs typeface="Calibri"/>
            </a:endParaRPr>
          </a:p>
          <a:p>
            <a:pPr marL="209902"/>
            <a:r>
              <a:rPr sz="2000" spc="-4" dirty="0">
                <a:latin typeface="Calibri"/>
                <a:cs typeface="Calibri"/>
              </a:rPr>
              <a:t>out.close();</a:t>
            </a:r>
            <a:endParaRPr sz="2000">
              <a:latin typeface="Calibri"/>
              <a:cs typeface="Calibri"/>
            </a:endParaRPr>
          </a:p>
          <a:p>
            <a:pPr marL="410338"/>
            <a:r>
              <a:rPr sz="2000" spc="-9" dirty="0">
                <a:latin typeface="Calibri"/>
                <a:cs typeface="Calibri"/>
              </a:rPr>
              <a:t>}</a:t>
            </a:r>
            <a:r>
              <a:rPr sz="2000" b="1" spc="-9" dirty="0">
                <a:latin typeface="Calibri"/>
                <a:cs typeface="Calibri"/>
              </a:rPr>
              <a:t>catch</a:t>
            </a:r>
            <a:r>
              <a:rPr sz="2000" spc="-9" dirty="0">
                <a:latin typeface="Calibri"/>
                <a:cs typeface="Calibri"/>
              </a:rPr>
              <a:t>(Exception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e){System.out.println(e);}</a:t>
            </a:r>
            <a:endParaRPr sz="2000">
              <a:latin typeface="Calibri"/>
              <a:cs typeface="Calibri"/>
            </a:endParaRPr>
          </a:p>
          <a:p>
            <a:pPr marL="109683"/>
            <a:r>
              <a:rPr sz="200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 marL="11135"/>
            <a:r>
              <a:rPr sz="2000">
                <a:latin typeface="Calibri"/>
                <a:cs typeface="Calibri"/>
              </a:rPr>
              <a:t>}</a:t>
            </a:r>
            <a:r>
              <a:rPr lang="en-IN" sz="2000" dirty="0">
                <a:latin typeface="Calibri"/>
                <a:cs typeface="Calibri"/>
              </a:rPr>
              <a:t> 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5866" y="512678"/>
            <a:ext cx="6262282" cy="549291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Cookie </a:t>
            </a:r>
            <a:r>
              <a:rPr sz="3500" spc="-13" dirty="0">
                <a:solidFill>
                  <a:srgbClr val="000000"/>
                </a:solidFill>
                <a:latin typeface="Calibri"/>
                <a:cs typeface="Calibri"/>
              </a:rPr>
              <a:t>Example1 </a:t>
            </a: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sz="3500" spc="-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spc="-9" dirty="0">
                <a:solidFill>
                  <a:srgbClr val="000000"/>
                </a:solidFill>
                <a:latin typeface="Calibri"/>
                <a:cs typeface="Calibri"/>
              </a:rPr>
              <a:t>SecondServlet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1915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0034" y="1735362"/>
            <a:ext cx="7732939" cy="4372438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400" b="1" spc="-4" dirty="0">
                <a:latin typeface="Calibri"/>
                <a:cs typeface="Calibri"/>
              </a:rPr>
              <a:t>public class </a:t>
            </a:r>
            <a:r>
              <a:rPr sz="2400" spc="-4" dirty="0">
                <a:latin typeface="Calibri"/>
                <a:cs typeface="Calibri"/>
              </a:rPr>
              <a:t>SecondServlet </a:t>
            </a:r>
            <a:r>
              <a:rPr sz="2400" b="1" spc="-13" dirty="0">
                <a:latin typeface="Calibri"/>
                <a:cs typeface="Calibri"/>
              </a:rPr>
              <a:t>extends </a:t>
            </a:r>
            <a:r>
              <a:rPr sz="2400" spc="-9" dirty="0">
                <a:latin typeface="Calibri"/>
                <a:cs typeface="Calibri"/>
              </a:rPr>
              <a:t>HttpServlet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311233" marR="4454" indent="-300655">
              <a:lnSpc>
                <a:spcPct val="80000"/>
              </a:lnSpc>
              <a:spcBef>
                <a:spcPts val="566"/>
              </a:spcBef>
            </a:pPr>
            <a:r>
              <a:rPr sz="2400" b="1" spc="-4" dirty="0">
                <a:latin typeface="Calibri"/>
                <a:cs typeface="Calibri"/>
              </a:rPr>
              <a:t>public </a:t>
            </a:r>
            <a:r>
              <a:rPr sz="2400" b="1" spc="-9" dirty="0">
                <a:latin typeface="Calibri"/>
                <a:cs typeface="Calibri"/>
              </a:rPr>
              <a:t>void </a:t>
            </a:r>
            <a:r>
              <a:rPr sz="2400" spc="-13" dirty="0">
                <a:latin typeface="Calibri"/>
                <a:cs typeface="Calibri"/>
              </a:rPr>
              <a:t>doPost(HttpServletRequest request, </a:t>
            </a:r>
            <a:r>
              <a:rPr sz="2400" spc="-9" dirty="0">
                <a:latin typeface="Calibri"/>
                <a:cs typeface="Calibri"/>
              </a:rPr>
              <a:t>HttpServletR  </a:t>
            </a:r>
            <a:r>
              <a:rPr sz="2400" spc="-4" dirty="0">
                <a:latin typeface="Calibri"/>
                <a:cs typeface="Calibri"/>
              </a:rPr>
              <a:t>esponse</a:t>
            </a:r>
            <a:r>
              <a:rPr sz="2400" spc="-4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response){</a:t>
            </a:r>
            <a:endParaRPr sz="2400">
              <a:latin typeface="Calibri"/>
              <a:cs typeface="Calibri"/>
            </a:endParaRPr>
          </a:p>
          <a:p>
            <a:pPr marL="282281" marR="2392989"/>
            <a:r>
              <a:rPr sz="2400" b="1" dirty="0">
                <a:latin typeface="Calibri"/>
                <a:cs typeface="Calibri"/>
              </a:rPr>
              <a:t>try</a:t>
            </a:r>
            <a:r>
              <a:rPr sz="2400" dirty="0">
                <a:latin typeface="Calibri"/>
                <a:cs typeface="Calibri"/>
              </a:rPr>
              <a:t>{  </a:t>
            </a:r>
            <a:r>
              <a:rPr sz="2400" spc="-13" dirty="0">
                <a:latin typeface="Calibri"/>
                <a:cs typeface="Calibri"/>
              </a:rPr>
              <a:t>response.setContentType("text/html");  </a:t>
            </a:r>
            <a:r>
              <a:rPr sz="2400" spc="-18" dirty="0">
                <a:latin typeface="Calibri"/>
                <a:cs typeface="Calibri"/>
              </a:rPr>
              <a:t>PrintWriter </a:t>
            </a:r>
            <a:r>
              <a:rPr sz="2400" spc="-4" dirty="0">
                <a:latin typeface="Calibri"/>
                <a:cs typeface="Calibri"/>
              </a:rPr>
              <a:t>out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3" dirty="0">
                <a:latin typeface="Calibri"/>
                <a:cs typeface="Calibri"/>
              </a:rPr>
              <a:t>response.getWriter();  </a:t>
            </a:r>
            <a:r>
              <a:rPr sz="2400" spc="-4" dirty="0">
                <a:solidFill>
                  <a:srgbClr val="0000FF"/>
                </a:solidFill>
                <a:latin typeface="Calibri"/>
                <a:cs typeface="Calibri"/>
              </a:rPr>
              <a:t>Cookie </a:t>
            </a:r>
            <a:r>
              <a:rPr sz="2400" spc="-9" dirty="0">
                <a:solidFill>
                  <a:srgbClr val="0000FF"/>
                </a:solidFill>
                <a:latin typeface="Calibri"/>
                <a:cs typeface="Calibri"/>
              </a:rPr>
              <a:t>ck[]=request.getCookies();  </a:t>
            </a:r>
            <a:r>
              <a:rPr sz="2400" spc="-4" dirty="0">
                <a:solidFill>
                  <a:srgbClr val="0000FF"/>
                </a:solidFill>
                <a:latin typeface="Calibri"/>
                <a:cs typeface="Calibri"/>
              </a:rPr>
              <a:t>out.print("Hello </a:t>
            </a:r>
            <a:r>
              <a:rPr sz="2400" spc="-13" dirty="0">
                <a:solidFill>
                  <a:srgbClr val="0000FF"/>
                </a:solidFill>
                <a:latin typeface="Calibri"/>
                <a:cs typeface="Calibri"/>
              </a:rPr>
              <a:t>"+ck[0].getValue());  </a:t>
            </a:r>
            <a:r>
              <a:rPr sz="2400" spc="-4" dirty="0">
                <a:latin typeface="Calibri"/>
                <a:cs typeface="Calibri"/>
              </a:rPr>
              <a:t>out.close();</a:t>
            </a:r>
            <a:endParaRPr sz="2400">
              <a:latin typeface="Calibri"/>
              <a:cs typeface="Calibri"/>
            </a:endParaRPr>
          </a:p>
          <a:p>
            <a:pPr marL="623023"/>
            <a:r>
              <a:rPr sz="2400" spc="-13" dirty="0">
                <a:latin typeface="Calibri"/>
                <a:cs typeface="Calibri"/>
              </a:rPr>
              <a:t>}</a:t>
            </a:r>
            <a:r>
              <a:rPr sz="2400" b="1" spc="-13" dirty="0">
                <a:latin typeface="Calibri"/>
                <a:cs typeface="Calibri"/>
              </a:rPr>
              <a:t>catch</a:t>
            </a:r>
            <a:r>
              <a:rPr sz="2400" spc="-13" dirty="0">
                <a:latin typeface="Calibri"/>
                <a:cs typeface="Calibri"/>
              </a:rPr>
              <a:t>(Exception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e){System.out.println(e);}</a:t>
            </a:r>
            <a:endParaRPr sz="2400">
              <a:latin typeface="Calibri"/>
              <a:cs typeface="Calibri"/>
            </a:endParaRPr>
          </a:p>
          <a:p>
            <a:pPr marL="282281"/>
            <a:r>
              <a:rPr sz="240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  <a:p>
            <a:pPr marL="11135"/>
            <a:r>
              <a:rPr sz="240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472" y="1496870"/>
            <a:ext cx="4572032" cy="1717816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1900" b="1" spc="-13" dirty="0">
                <a:solidFill>
                  <a:srgbClr val="C00000"/>
                </a:solidFill>
                <a:latin typeface="Calibri"/>
                <a:cs typeface="Calibri"/>
              </a:rPr>
              <a:t>Index.html</a:t>
            </a:r>
            <a:endParaRPr sz="1900">
              <a:latin typeface="Calibri"/>
              <a:cs typeface="Calibri"/>
            </a:endParaRPr>
          </a:p>
          <a:p>
            <a:pPr marL="311233" marR="4454" indent="-300655">
              <a:lnSpc>
                <a:spcPct val="80000"/>
              </a:lnSpc>
              <a:spcBef>
                <a:spcPts val="460"/>
              </a:spcBef>
            </a:pPr>
            <a:r>
              <a:rPr sz="1900" spc="-13" dirty="0">
                <a:latin typeface="Calibri"/>
                <a:cs typeface="Calibri"/>
              </a:rPr>
              <a:t>&lt;form </a:t>
            </a:r>
            <a:r>
              <a:rPr sz="1900" spc="-4" dirty="0">
                <a:latin typeface="Calibri"/>
                <a:cs typeface="Calibri"/>
              </a:rPr>
              <a:t>action="servlet1" </a:t>
            </a:r>
            <a:r>
              <a:rPr sz="1900" spc="-9" dirty="0">
                <a:latin typeface="Calibri"/>
                <a:cs typeface="Calibri"/>
              </a:rPr>
              <a:t>method</a:t>
            </a:r>
            <a:r>
              <a:rPr sz="1900" spc="-9">
                <a:latin typeface="Calibri"/>
                <a:cs typeface="Calibri"/>
              </a:rPr>
              <a:t>="post</a:t>
            </a:r>
            <a:r>
              <a:rPr sz="1900" spc="-9" dirty="0">
                <a:latin typeface="Calibri"/>
                <a:cs typeface="Calibri"/>
              </a:rPr>
              <a:t>"&gt;</a:t>
            </a:r>
            <a:endParaRPr sz="1900">
              <a:latin typeface="Calibri"/>
              <a:cs typeface="Calibri"/>
            </a:endParaRPr>
          </a:p>
          <a:p>
            <a:pPr marL="311233" marR="10022" indent="-300655">
              <a:lnSpc>
                <a:spcPct val="80000"/>
              </a:lnSpc>
              <a:spcBef>
                <a:spcPts val="465"/>
              </a:spcBef>
            </a:pPr>
            <a:r>
              <a:rPr sz="1900" spc="-9" dirty="0">
                <a:latin typeface="Calibri"/>
                <a:cs typeface="Calibri"/>
              </a:rPr>
              <a:t>Name:&lt;input type="text" name</a:t>
            </a:r>
            <a:r>
              <a:rPr sz="1900" spc="-9">
                <a:latin typeface="Calibri"/>
                <a:cs typeface="Calibri"/>
              </a:rPr>
              <a:t>="us</a:t>
            </a:r>
            <a:r>
              <a:rPr sz="1900" spc="-4">
                <a:latin typeface="Calibri"/>
                <a:cs typeface="Calibri"/>
              </a:rPr>
              <a:t>erName</a:t>
            </a:r>
            <a:r>
              <a:rPr sz="1900" spc="-4" dirty="0">
                <a:latin typeface="Calibri"/>
                <a:cs typeface="Calibri"/>
              </a:rPr>
              <a:t>"/&gt;&lt;br/&gt;</a:t>
            </a:r>
            <a:endParaRPr sz="1900">
              <a:latin typeface="Calibri"/>
              <a:cs typeface="Calibri"/>
            </a:endParaRPr>
          </a:p>
          <a:p>
            <a:pPr marL="11135"/>
            <a:r>
              <a:rPr sz="1900" spc="-9" dirty="0">
                <a:latin typeface="Calibri"/>
                <a:cs typeface="Calibri"/>
              </a:rPr>
              <a:t>&lt;input type="submit"</a:t>
            </a:r>
            <a:r>
              <a:rPr sz="1900" spc="48" dirty="0">
                <a:latin typeface="Calibri"/>
                <a:cs typeface="Calibri"/>
              </a:rPr>
              <a:t> </a:t>
            </a:r>
            <a:r>
              <a:rPr sz="1900" spc="-9" dirty="0">
                <a:latin typeface="Calibri"/>
                <a:cs typeface="Calibri"/>
              </a:rPr>
              <a:t>value="go"/&gt;</a:t>
            </a:r>
            <a:endParaRPr sz="1900">
              <a:latin typeface="Calibri"/>
              <a:cs typeface="Calibri"/>
            </a:endParaRPr>
          </a:p>
          <a:p>
            <a:pPr marL="11135"/>
            <a:r>
              <a:rPr sz="1900" spc="-9" dirty="0">
                <a:latin typeface="Calibri"/>
                <a:cs typeface="Calibri"/>
              </a:rPr>
              <a:t>&lt;/form&gt;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5852" y="328722"/>
            <a:ext cx="6257415" cy="549291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Cookie </a:t>
            </a:r>
            <a:r>
              <a:rPr sz="3500" spc="-13" dirty="0">
                <a:solidFill>
                  <a:srgbClr val="000000"/>
                </a:solidFill>
                <a:latin typeface="Calibri"/>
                <a:cs typeface="Calibri"/>
              </a:rPr>
              <a:t>Example1 </a:t>
            </a:r>
            <a:r>
              <a:rPr sz="3500" spc="-4"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sz="3500" spc="-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spc="-9" dirty="0">
                <a:solidFill>
                  <a:srgbClr val="000000"/>
                </a:solidFill>
                <a:latin typeface="Calibri"/>
                <a:cs typeface="Calibri"/>
              </a:rPr>
              <a:t>SecondServlet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3438" y="1042139"/>
            <a:ext cx="3665853" cy="2529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472" y="3623448"/>
            <a:ext cx="3656731" cy="2948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1462" y="3590253"/>
            <a:ext cx="3788352" cy="29820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Session Tracking Mechanism – Hidden Form Field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hidden field?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2984"/>
            <a:ext cx="9001156" cy="4983179"/>
          </a:xfrm>
        </p:spPr>
        <p:txBody>
          <a:bodyPr>
            <a:normAutofit/>
          </a:bodyPr>
          <a:lstStyle/>
          <a:p>
            <a:r>
              <a:rPr lang="en-IN" b="1" dirty="0"/>
              <a:t>hidden (invisible) </a:t>
            </a:r>
            <a:r>
              <a:rPr lang="en-IN" b="1" dirty="0" err="1"/>
              <a:t>textfield</a:t>
            </a:r>
            <a:r>
              <a:rPr lang="en-IN" dirty="0"/>
              <a:t> </a:t>
            </a:r>
          </a:p>
          <a:p>
            <a:pPr lvl="1"/>
            <a:r>
              <a:rPr lang="en-IN" dirty="0"/>
              <a:t>used for maintaining the state of an user</a:t>
            </a:r>
          </a:p>
          <a:p>
            <a:pPr lvl="1"/>
            <a:r>
              <a:rPr lang="en-IN" dirty="0"/>
              <a:t>Store the information in the hidden field and get it from another </a:t>
            </a:r>
            <a:r>
              <a:rPr lang="en-IN" dirty="0" err="1"/>
              <a:t>servlet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This approach is better if we have to submit form in all the pages and we don't want to depend on the browser.</a:t>
            </a:r>
          </a:p>
          <a:p>
            <a:r>
              <a:rPr lang="en-IN" dirty="0"/>
              <a:t>Example</a:t>
            </a:r>
          </a:p>
          <a:p>
            <a:pPr lvl="1"/>
            <a:r>
              <a:rPr lang="en-IN" sz="2400" b="1" dirty="0">
                <a:solidFill>
                  <a:srgbClr val="FF0000"/>
                </a:solidFill>
              </a:rPr>
              <a:t>&lt;input type="hidden" name="</a:t>
            </a:r>
            <a:r>
              <a:rPr lang="en-IN" sz="2400" b="1" dirty="0" err="1">
                <a:solidFill>
                  <a:srgbClr val="FF0000"/>
                </a:solidFill>
              </a:rPr>
              <a:t>uname</a:t>
            </a:r>
            <a:r>
              <a:rPr lang="en-IN" sz="2400" b="1" dirty="0">
                <a:solidFill>
                  <a:srgbClr val="FF0000"/>
                </a:solidFill>
              </a:rPr>
              <a:t>" value=“</a:t>
            </a:r>
            <a:r>
              <a:rPr lang="en-IN" sz="2400" b="1" dirty="0" err="1">
                <a:solidFill>
                  <a:srgbClr val="FF0000"/>
                </a:solidFill>
              </a:rPr>
              <a:t>Sharan</a:t>
            </a:r>
            <a:r>
              <a:rPr lang="en-IN" sz="2400" b="1" dirty="0">
                <a:solidFill>
                  <a:srgbClr val="FF0000"/>
                </a:solidFill>
              </a:rPr>
              <a:t> "&gt;</a:t>
            </a:r>
            <a:r>
              <a:rPr lang="en-IN" sz="2400" dirty="0"/>
              <a:t>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Advantage of Hidden Form Field</a:t>
            </a:r>
          </a:p>
          <a:p>
            <a:pPr lvl="1"/>
            <a:r>
              <a:rPr lang="en-IN" dirty="0"/>
              <a:t>It will always work whether cookie is disabled or not.</a:t>
            </a:r>
          </a:p>
          <a:p>
            <a:r>
              <a:rPr lang="en-IN" b="1" dirty="0"/>
              <a:t>Disadvantage of Hidden Form Field:</a:t>
            </a:r>
          </a:p>
          <a:p>
            <a:pPr lvl="1"/>
            <a:r>
              <a:rPr lang="en-IN" dirty="0"/>
              <a:t>It is maintained at server side</a:t>
            </a:r>
          </a:p>
          <a:p>
            <a:pPr lvl="1"/>
            <a:r>
              <a:rPr lang="en-IN" dirty="0"/>
              <a:t>Extra form submission is required on each page</a:t>
            </a:r>
          </a:p>
          <a:p>
            <a:pPr lvl="1"/>
            <a:r>
              <a:rPr lang="en-IN" dirty="0"/>
              <a:t>Only textual information can be used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of Hidden Form Field</a:t>
            </a:r>
          </a:p>
        </p:txBody>
      </p:sp>
      <p:pic>
        <p:nvPicPr>
          <p:cNvPr id="1026" name="Picture 2" descr="Hidden Form Field in Servle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8143932" cy="43577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/>
              <a:t>Hidden Form Example – web.xml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4257676" cy="462598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dirty="0"/>
              <a:t>&lt;web-app&gt;  </a:t>
            </a:r>
          </a:p>
          <a:p>
            <a:pPr>
              <a:buNone/>
            </a:pPr>
            <a:r>
              <a:rPr lang="en-IN" dirty="0"/>
              <a:t>  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servlet</a:t>
            </a:r>
            <a:r>
              <a:rPr lang="en-IN" dirty="0"/>
              <a:t>&gt;  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servlet</a:t>
            </a:r>
            <a:r>
              <a:rPr lang="en-IN" dirty="0"/>
              <a:t>-name&gt;s1&lt;/</a:t>
            </a:r>
            <a:r>
              <a:rPr lang="en-IN" dirty="0" err="1"/>
              <a:t>servlet</a:t>
            </a:r>
            <a:r>
              <a:rPr lang="en-IN" dirty="0"/>
              <a:t>-name&gt;  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servlet</a:t>
            </a:r>
            <a:r>
              <a:rPr lang="en-IN" dirty="0"/>
              <a:t>-</a:t>
            </a:r>
            <a:r>
              <a:rPr lang="en-IN" b="1" dirty="0"/>
              <a:t>class</a:t>
            </a:r>
            <a:r>
              <a:rPr lang="en-IN" dirty="0"/>
              <a:t>&gt;</a:t>
            </a:r>
            <a:r>
              <a:rPr lang="en-IN" dirty="0" err="1"/>
              <a:t>FirstServlet</a:t>
            </a:r>
            <a:r>
              <a:rPr lang="en-IN" dirty="0"/>
              <a:t>&lt;/</a:t>
            </a:r>
            <a:r>
              <a:rPr lang="en-IN" dirty="0" err="1"/>
              <a:t>servlet</a:t>
            </a:r>
            <a:r>
              <a:rPr lang="en-IN" dirty="0"/>
              <a:t>-</a:t>
            </a:r>
            <a:r>
              <a:rPr lang="en-IN" b="1" dirty="0"/>
              <a:t>class</a:t>
            </a:r>
            <a:r>
              <a:rPr lang="en-IN" dirty="0"/>
              <a:t>&gt;  </a:t>
            </a:r>
          </a:p>
          <a:p>
            <a:pPr>
              <a:buNone/>
            </a:pPr>
            <a:r>
              <a:rPr lang="en-IN" dirty="0"/>
              <a:t>&lt;/</a:t>
            </a:r>
            <a:r>
              <a:rPr lang="en-IN" dirty="0" err="1"/>
              <a:t>servlet</a:t>
            </a:r>
            <a:r>
              <a:rPr lang="en-IN" dirty="0"/>
              <a:t>&gt;  </a:t>
            </a:r>
          </a:p>
          <a:p>
            <a:pPr>
              <a:buNone/>
            </a:pPr>
            <a:r>
              <a:rPr lang="en-IN" dirty="0"/>
              <a:t>  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servlet</a:t>
            </a:r>
            <a:r>
              <a:rPr lang="en-IN" dirty="0"/>
              <a:t>-mapping&gt;  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servlet</a:t>
            </a:r>
            <a:r>
              <a:rPr lang="en-IN" dirty="0"/>
              <a:t>-name&gt;s1&lt;/</a:t>
            </a:r>
            <a:r>
              <a:rPr lang="en-IN" dirty="0" err="1"/>
              <a:t>servlet</a:t>
            </a:r>
            <a:r>
              <a:rPr lang="en-IN" dirty="0"/>
              <a:t>-name&gt;  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url</a:t>
            </a:r>
            <a:r>
              <a:rPr lang="en-IN" dirty="0"/>
              <a:t>-pattern&gt;/servlet1&lt;/</a:t>
            </a:r>
            <a:r>
              <a:rPr lang="en-IN" dirty="0" err="1"/>
              <a:t>url</a:t>
            </a:r>
            <a:r>
              <a:rPr lang="en-IN" dirty="0"/>
              <a:t>-pattern&gt;  </a:t>
            </a:r>
          </a:p>
          <a:p>
            <a:pPr>
              <a:buNone/>
            </a:pPr>
            <a:r>
              <a:rPr lang="en-IN" dirty="0"/>
              <a:t>&lt;/</a:t>
            </a:r>
            <a:r>
              <a:rPr lang="en-IN" dirty="0" err="1"/>
              <a:t>servlet</a:t>
            </a:r>
            <a:r>
              <a:rPr lang="en-IN" dirty="0"/>
              <a:t>-mapping&gt;  </a:t>
            </a:r>
          </a:p>
          <a:p>
            <a:pPr>
              <a:buNone/>
            </a:pPr>
            <a:r>
              <a:rPr lang="en-IN" dirty="0"/>
              <a:t>  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743480" y="1071546"/>
            <a:ext cx="4257676" cy="499270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-name&gt;s2&lt;/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-name&gt;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-mapping&gt;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-name&gt;s2&lt;/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-name&gt;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url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-pattern&gt;/servlet2&lt;/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url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-pattern&gt;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servlet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-mapping&gt;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&lt;/web-app&gt; 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7216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class</a:t>
            </a:r>
            <a:r>
              <a:rPr lang="en-IN" dirty="0"/>
              <a:t> </a:t>
            </a:r>
            <a:r>
              <a:rPr lang="en-IN" dirty="0" err="1"/>
              <a:t>FirstServlet</a:t>
            </a:r>
            <a:r>
              <a:rPr lang="en-IN" dirty="0"/>
              <a:t> </a:t>
            </a:r>
            <a:r>
              <a:rPr lang="en-IN" b="1" dirty="0"/>
              <a:t>extends</a:t>
            </a:r>
            <a:r>
              <a:rPr lang="en-IN" dirty="0"/>
              <a:t> </a:t>
            </a:r>
            <a:r>
              <a:rPr lang="en-IN" dirty="0" err="1"/>
              <a:t>HttpServlet</a:t>
            </a:r>
            <a:r>
              <a:rPr lang="en-IN" dirty="0"/>
              <a:t> {  </a:t>
            </a:r>
          </a:p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void</a:t>
            </a:r>
            <a:r>
              <a:rPr lang="en-IN" dirty="0"/>
              <a:t> </a:t>
            </a:r>
            <a:r>
              <a:rPr lang="en-IN" dirty="0" err="1"/>
              <a:t>doGet</a:t>
            </a:r>
            <a:r>
              <a:rPr lang="en-IN" dirty="0"/>
              <a:t>(</a:t>
            </a:r>
            <a:r>
              <a:rPr lang="en-IN" dirty="0" err="1"/>
              <a:t>HttpServletRequest</a:t>
            </a:r>
            <a:r>
              <a:rPr lang="en-IN" dirty="0"/>
              <a:t> request, </a:t>
            </a:r>
            <a:r>
              <a:rPr lang="en-IN" dirty="0" err="1"/>
              <a:t>HttpServletResponse</a:t>
            </a:r>
            <a:r>
              <a:rPr lang="en-IN" dirty="0"/>
              <a:t> response){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b="1" dirty="0"/>
              <a:t>try</a:t>
            </a:r>
            <a:r>
              <a:rPr lang="en-IN" dirty="0"/>
              <a:t>{  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response.setContentType</a:t>
            </a:r>
            <a:r>
              <a:rPr lang="en-IN" dirty="0"/>
              <a:t>("text/html");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PrintWriter</a:t>
            </a:r>
            <a:r>
              <a:rPr lang="en-IN" dirty="0"/>
              <a:t> out = </a:t>
            </a:r>
            <a:r>
              <a:rPr lang="en-IN" dirty="0" err="1"/>
              <a:t>response.getWriter</a:t>
            </a:r>
            <a:r>
              <a:rPr lang="en-IN" dirty="0"/>
              <a:t>();            </a:t>
            </a:r>
          </a:p>
          <a:p>
            <a:pPr>
              <a:buNone/>
            </a:pPr>
            <a:r>
              <a:rPr lang="en-IN" dirty="0"/>
              <a:t>        String n=</a:t>
            </a:r>
            <a:r>
              <a:rPr lang="en-IN" dirty="0" err="1"/>
              <a:t>request.getParameter</a:t>
            </a:r>
            <a:r>
              <a:rPr lang="en-IN" dirty="0"/>
              <a:t>("</a:t>
            </a:r>
            <a:r>
              <a:rPr lang="en-IN" dirty="0" err="1"/>
              <a:t>userName</a:t>
            </a:r>
            <a:r>
              <a:rPr lang="en-IN" dirty="0"/>
              <a:t>");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out.print</a:t>
            </a:r>
            <a:r>
              <a:rPr lang="en-IN" dirty="0"/>
              <a:t>("Welcome "+n);            </a:t>
            </a:r>
          </a:p>
          <a:p>
            <a:pPr>
              <a:buNone/>
            </a:pPr>
            <a:r>
              <a:rPr lang="en-IN" dirty="0"/>
              <a:t>        //creating form that have invisible </a:t>
            </a:r>
            <a:r>
              <a:rPr lang="en-IN" dirty="0" err="1"/>
              <a:t>textfield</a:t>
            </a:r>
            <a:r>
              <a:rPr lang="en-IN" dirty="0"/>
              <a:t>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>
                <a:solidFill>
                  <a:srgbClr val="0000FF"/>
                </a:solidFill>
              </a:rPr>
              <a:t>out.print</a:t>
            </a:r>
            <a:r>
              <a:rPr lang="en-IN" dirty="0">
                <a:solidFill>
                  <a:srgbClr val="0000FF"/>
                </a:solidFill>
              </a:rPr>
              <a:t>("&lt;form action='servlet2'&gt;");  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        </a:t>
            </a:r>
            <a:r>
              <a:rPr lang="en-IN" dirty="0" err="1">
                <a:solidFill>
                  <a:srgbClr val="0000FF"/>
                </a:solidFill>
              </a:rPr>
              <a:t>out.print</a:t>
            </a:r>
            <a:r>
              <a:rPr lang="en-IN" dirty="0">
                <a:solidFill>
                  <a:srgbClr val="0000FF"/>
                </a:solidFill>
              </a:rPr>
              <a:t>("&lt;input type='hidden' name='</a:t>
            </a:r>
            <a:r>
              <a:rPr lang="en-IN" dirty="0" err="1">
                <a:solidFill>
                  <a:srgbClr val="0000FF"/>
                </a:solidFill>
              </a:rPr>
              <a:t>uname</a:t>
            </a:r>
            <a:r>
              <a:rPr lang="en-IN" dirty="0">
                <a:solidFill>
                  <a:srgbClr val="0000FF"/>
                </a:solidFill>
              </a:rPr>
              <a:t>' value='"+n+"'&gt;");  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        </a:t>
            </a:r>
            <a:r>
              <a:rPr lang="en-IN" dirty="0" err="1">
                <a:solidFill>
                  <a:srgbClr val="0000FF"/>
                </a:solidFill>
              </a:rPr>
              <a:t>out.print</a:t>
            </a:r>
            <a:r>
              <a:rPr lang="en-IN" dirty="0">
                <a:solidFill>
                  <a:srgbClr val="0000FF"/>
                </a:solidFill>
              </a:rPr>
              <a:t>("&lt;input type='submit' value='go'&gt;");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out.print</a:t>
            </a:r>
            <a:r>
              <a:rPr lang="en-IN" dirty="0"/>
              <a:t>("&lt;/form&gt;");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out.close</a:t>
            </a:r>
            <a:r>
              <a:rPr lang="en-IN" dirty="0"/>
              <a:t>();    </a:t>
            </a:r>
          </a:p>
          <a:p>
            <a:pPr>
              <a:buNone/>
            </a:pPr>
            <a:r>
              <a:rPr lang="en-IN" dirty="0"/>
              <a:t>                }</a:t>
            </a:r>
            <a:r>
              <a:rPr lang="en-IN" b="1" dirty="0"/>
              <a:t>catch</a:t>
            </a:r>
            <a:r>
              <a:rPr lang="en-IN" dirty="0"/>
              <a:t>(Exception e){</a:t>
            </a:r>
            <a:r>
              <a:rPr lang="en-IN" dirty="0" err="1"/>
              <a:t>System.out.println</a:t>
            </a:r>
            <a:r>
              <a:rPr lang="en-IN" dirty="0"/>
              <a:t>(e);}  </a:t>
            </a:r>
          </a:p>
          <a:p>
            <a:pPr>
              <a:buNone/>
            </a:pPr>
            <a:r>
              <a:rPr lang="en-IN" dirty="0"/>
              <a:t>    }    </a:t>
            </a:r>
          </a:p>
          <a:p>
            <a:pPr>
              <a:buNone/>
            </a:pPr>
            <a:r>
              <a:rPr lang="en-IN" dirty="0"/>
              <a:t>}  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/>
              <a:t>Hidden Form Example – </a:t>
            </a:r>
            <a:r>
              <a:rPr lang="en-IN" dirty="0" err="1"/>
              <a:t>FirstServlet</a:t>
            </a:r>
            <a:endParaRPr lang="en-I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7216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b="1" dirty="0"/>
              <a:t>import</a:t>
            </a:r>
            <a:r>
              <a:rPr lang="en-IN" dirty="0"/>
              <a:t> java.io.*;  </a:t>
            </a:r>
          </a:p>
          <a:p>
            <a:pPr>
              <a:buNone/>
            </a:pPr>
            <a:r>
              <a:rPr lang="en-IN" b="1" dirty="0"/>
              <a:t>import</a:t>
            </a:r>
            <a:r>
              <a:rPr lang="en-IN" dirty="0"/>
              <a:t> </a:t>
            </a:r>
            <a:r>
              <a:rPr lang="en-IN" dirty="0" err="1"/>
              <a:t>javax.servlet</a:t>
            </a:r>
            <a:r>
              <a:rPr lang="en-IN" dirty="0"/>
              <a:t>.*;  </a:t>
            </a:r>
          </a:p>
          <a:p>
            <a:pPr>
              <a:buNone/>
            </a:pPr>
            <a:r>
              <a:rPr lang="en-IN" b="1" dirty="0"/>
              <a:t>import</a:t>
            </a:r>
            <a:r>
              <a:rPr lang="en-IN" dirty="0"/>
              <a:t> </a:t>
            </a:r>
            <a:r>
              <a:rPr lang="en-IN" dirty="0" err="1"/>
              <a:t>javax.servlet.http</a:t>
            </a:r>
            <a:r>
              <a:rPr lang="en-IN" dirty="0"/>
              <a:t>.*;  </a:t>
            </a:r>
          </a:p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class</a:t>
            </a:r>
            <a:r>
              <a:rPr lang="en-IN" dirty="0"/>
              <a:t> </a:t>
            </a:r>
            <a:r>
              <a:rPr lang="en-IN" dirty="0" err="1"/>
              <a:t>SecondServlet</a:t>
            </a:r>
            <a:r>
              <a:rPr lang="en-IN" dirty="0"/>
              <a:t> </a:t>
            </a:r>
            <a:r>
              <a:rPr lang="en-IN" b="1" dirty="0"/>
              <a:t>extends</a:t>
            </a:r>
            <a:r>
              <a:rPr lang="en-IN" dirty="0"/>
              <a:t> </a:t>
            </a:r>
            <a:r>
              <a:rPr lang="en-IN" dirty="0" err="1"/>
              <a:t>HttpServlet</a:t>
            </a:r>
            <a:r>
              <a:rPr lang="en-IN" dirty="0"/>
              <a:t> {  </a:t>
            </a:r>
          </a:p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void</a:t>
            </a:r>
            <a:r>
              <a:rPr lang="en-IN" dirty="0"/>
              <a:t> </a:t>
            </a:r>
            <a:r>
              <a:rPr lang="en-IN" dirty="0" err="1"/>
              <a:t>doGet</a:t>
            </a:r>
            <a:r>
              <a:rPr lang="en-IN" dirty="0"/>
              <a:t>(</a:t>
            </a:r>
            <a:r>
              <a:rPr lang="en-IN" dirty="0" err="1"/>
              <a:t>HttpServletRequest</a:t>
            </a:r>
            <a:r>
              <a:rPr lang="en-IN" dirty="0"/>
              <a:t> request, </a:t>
            </a:r>
            <a:r>
              <a:rPr lang="en-IN" dirty="0" err="1"/>
              <a:t>HttpServletResponse</a:t>
            </a:r>
            <a:r>
              <a:rPr lang="en-IN" dirty="0"/>
              <a:t> response)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b="1" dirty="0"/>
              <a:t>try</a:t>
            </a:r>
            <a:r>
              <a:rPr lang="en-IN" dirty="0"/>
              <a:t>{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response.setContentType</a:t>
            </a:r>
            <a:r>
              <a:rPr lang="en-IN" dirty="0"/>
              <a:t>("text/html");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PrintWriter</a:t>
            </a:r>
            <a:r>
              <a:rPr lang="en-IN" dirty="0"/>
              <a:t> out = </a:t>
            </a:r>
            <a:r>
              <a:rPr lang="en-IN" dirty="0" err="1"/>
              <a:t>response.getWriter</a:t>
            </a:r>
            <a:r>
              <a:rPr lang="en-IN" dirty="0"/>
              <a:t>();            </a:t>
            </a:r>
          </a:p>
          <a:p>
            <a:pPr>
              <a:buNone/>
            </a:pPr>
            <a:r>
              <a:rPr lang="en-IN" dirty="0"/>
              <a:t>        //Getting the value from the hidden field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>
                <a:solidFill>
                  <a:srgbClr val="0000FF"/>
                </a:solidFill>
              </a:rPr>
              <a:t>String n=</a:t>
            </a:r>
            <a:r>
              <a:rPr lang="en-IN" dirty="0" err="1">
                <a:solidFill>
                  <a:srgbClr val="0000FF"/>
                </a:solidFill>
              </a:rPr>
              <a:t>request.getParameter</a:t>
            </a:r>
            <a:r>
              <a:rPr lang="en-IN" dirty="0">
                <a:solidFill>
                  <a:srgbClr val="0000FF"/>
                </a:solidFill>
              </a:rPr>
              <a:t>("</a:t>
            </a:r>
            <a:r>
              <a:rPr lang="en-IN" dirty="0" err="1">
                <a:solidFill>
                  <a:srgbClr val="0000FF"/>
                </a:solidFill>
              </a:rPr>
              <a:t>uname</a:t>
            </a:r>
            <a:r>
              <a:rPr lang="en-IN" dirty="0">
                <a:solidFill>
                  <a:srgbClr val="0000FF"/>
                </a:solidFill>
              </a:rPr>
              <a:t>");  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        </a:t>
            </a:r>
            <a:r>
              <a:rPr lang="en-IN" dirty="0" err="1">
                <a:solidFill>
                  <a:srgbClr val="0000FF"/>
                </a:solidFill>
              </a:rPr>
              <a:t>out.print</a:t>
            </a:r>
            <a:r>
              <a:rPr lang="en-IN" dirty="0">
                <a:solidFill>
                  <a:srgbClr val="0000FF"/>
                </a:solidFill>
              </a:rPr>
              <a:t>("Hello "+n); </a:t>
            </a:r>
            <a:r>
              <a:rPr lang="en-IN" dirty="0"/>
              <a:t> 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out.close</a:t>
            </a:r>
            <a:r>
              <a:rPr lang="en-IN" dirty="0"/>
              <a:t>();  </a:t>
            </a:r>
          </a:p>
          <a:p>
            <a:pPr>
              <a:buNone/>
            </a:pPr>
            <a:r>
              <a:rPr lang="en-IN" dirty="0"/>
              <a:t>                }</a:t>
            </a:r>
            <a:r>
              <a:rPr lang="en-IN" b="1" dirty="0"/>
              <a:t>catch</a:t>
            </a:r>
            <a:r>
              <a:rPr lang="en-IN" dirty="0"/>
              <a:t>(Exception e){</a:t>
            </a:r>
            <a:r>
              <a:rPr lang="en-IN" dirty="0" err="1"/>
              <a:t>System.out.println</a:t>
            </a:r>
            <a:r>
              <a:rPr lang="en-IN" dirty="0"/>
              <a:t>(e);}  </a:t>
            </a:r>
          </a:p>
          <a:p>
            <a:pPr>
              <a:buNone/>
            </a:pPr>
            <a:r>
              <a:rPr lang="en-IN" dirty="0"/>
              <a:t>    }  </a:t>
            </a:r>
          </a:p>
          <a:p>
            <a:pPr>
              <a:buNone/>
            </a:pPr>
            <a:r>
              <a:rPr lang="en-IN" dirty="0"/>
              <a:t>}  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/>
              <a:t>Hidden Form Example – </a:t>
            </a:r>
            <a:r>
              <a:rPr lang="en-IN" dirty="0" err="1"/>
              <a:t>SecondServlet</a:t>
            </a:r>
            <a:endParaRPr lang="en-I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4282" y="124604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Index.html</a:t>
            </a:r>
          </a:p>
          <a:p>
            <a:r>
              <a:rPr lang="en-IN" dirty="0"/>
              <a:t>&lt;form action="servlet1"&gt;  </a:t>
            </a:r>
          </a:p>
          <a:p>
            <a:r>
              <a:rPr lang="en-IN" dirty="0"/>
              <a:t>Name:&lt;input type="text" name="</a:t>
            </a:r>
            <a:r>
              <a:rPr lang="en-IN" dirty="0" err="1"/>
              <a:t>userName</a:t>
            </a:r>
            <a:r>
              <a:rPr lang="en-IN" dirty="0"/>
              <a:t>"/&gt;&lt;</a:t>
            </a:r>
            <a:r>
              <a:rPr lang="en-IN" dirty="0" err="1"/>
              <a:t>br</a:t>
            </a:r>
            <a:r>
              <a:rPr lang="en-IN" dirty="0"/>
              <a:t>/&gt;  </a:t>
            </a:r>
          </a:p>
          <a:p>
            <a:r>
              <a:rPr lang="en-IN" dirty="0"/>
              <a:t>&lt;input type="submit" value="go"/&gt;  </a:t>
            </a:r>
          </a:p>
          <a:p>
            <a:r>
              <a:rPr lang="en-IN" dirty="0"/>
              <a:t>&lt;/form&gt;  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/>
              <a:t>Hidden Form Example – Output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222" y="714356"/>
            <a:ext cx="4143372" cy="285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714752"/>
            <a:ext cx="423862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3776685"/>
            <a:ext cx="42291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Session Tracking Mechanism – </a:t>
            </a:r>
            <a:r>
              <a:rPr lang="en-IN" dirty="0" err="1"/>
              <a:t>Url</a:t>
            </a:r>
            <a:r>
              <a:rPr lang="en-IN" dirty="0"/>
              <a:t> Rewriting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URL Rewriting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In URL rewriting, token or an identifier is appended to the URL of the next </a:t>
            </a:r>
            <a:r>
              <a:rPr lang="en-IN" dirty="0" err="1"/>
              <a:t>Servlet</a:t>
            </a:r>
            <a:r>
              <a:rPr lang="en-IN" dirty="0"/>
              <a:t> or the next resource. </a:t>
            </a:r>
          </a:p>
          <a:p>
            <a:r>
              <a:rPr lang="en-IN" dirty="0"/>
              <a:t>Can send parameter name/value pairs using the following format:</a:t>
            </a:r>
          </a:p>
          <a:p>
            <a:r>
              <a:rPr lang="en-IN" dirty="0">
                <a:solidFill>
                  <a:srgbClr val="0000FF"/>
                </a:solidFill>
              </a:rPr>
              <a:t>url?name1=value1&amp;name2=value2&amp;??</a:t>
            </a:r>
          </a:p>
          <a:p>
            <a:r>
              <a:rPr lang="en-IN" dirty="0"/>
              <a:t>When the user clicks the hyperlink, the parameter name/value pairs will be passed to the server. </a:t>
            </a:r>
          </a:p>
          <a:p>
            <a:r>
              <a:rPr lang="en-IN" dirty="0"/>
              <a:t>From a </a:t>
            </a:r>
            <a:r>
              <a:rPr lang="en-IN" dirty="0" err="1"/>
              <a:t>Servlet</a:t>
            </a:r>
            <a:r>
              <a:rPr lang="en-IN" dirty="0"/>
              <a:t>, we can use </a:t>
            </a:r>
            <a:r>
              <a:rPr lang="en-IN" dirty="0" err="1"/>
              <a:t>getParameter</a:t>
            </a:r>
            <a:r>
              <a:rPr lang="en-IN" dirty="0"/>
              <a:t>() method to obtain a parameter value.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URL Example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00174"/>
            <a:ext cx="8366449" cy="447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IN" sz="4000" dirty="0"/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r>
              <a:rPr lang="en-IN" dirty="0"/>
              <a:t>Advantage of URL Rewriting</a:t>
            </a:r>
          </a:p>
          <a:p>
            <a:pPr lvl="1"/>
            <a:r>
              <a:rPr lang="en-IN" dirty="0"/>
              <a:t>It will always work whether cookie is disabled or not (browser independent).</a:t>
            </a:r>
          </a:p>
          <a:p>
            <a:pPr lvl="1"/>
            <a:r>
              <a:rPr lang="en-IN" dirty="0"/>
              <a:t>Extra form submission is not required on each pages.</a:t>
            </a:r>
          </a:p>
          <a:p>
            <a:r>
              <a:rPr lang="en-IN" dirty="0"/>
              <a:t>Disadvantage of URL Rewriting</a:t>
            </a:r>
          </a:p>
          <a:p>
            <a:pPr lvl="1"/>
            <a:r>
              <a:rPr lang="en-IN" dirty="0"/>
              <a:t>It will work only with links.</a:t>
            </a:r>
          </a:p>
          <a:p>
            <a:pPr lvl="1"/>
            <a:r>
              <a:rPr lang="en-IN" dirty="0"/>
              <a:t>It can send Only textual information.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Rewriting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Index.html</a:t>
            </a:r>
          </a:p>
          <a:p>
            <a:pPr>
              <a:buNone/>
            </a:pPr>
            <a:r>
              <a:rPr lang="en-IN" dirty="0"/>
              <a:t>&lt;form action="servlet1"&gt;  </a:t>
            </a:r>
          </a:p>
          <a:p>
            <a:pPr>
              <a:buNone/>
            </a:pPr>
            <a:r>
              <a:rPr lang="en-IN" dirty="0"/>
              <a:t>Name:&lt;input type="text" name="</a:t>
            </a:r>
            <a:r>
              <a:rPr lang="en-IN" dirty="0" err="1"/>
              <a:t>userName</a:t>
            </a:r>
            <a:r>
              <a:rPr lang="en-IN" dirty="0"/>
              <a:t>"/&gt;&lt;</a:t>
            </a:r>
            <a:r>
              <a:rPr lang="en-IN" dirty="0" err="1"/>
              <a:t>br</a:t>
            </a:r>
            <a:r>
              <a:rPr lang="en-IN" dirty="0"/>
              <a:t>/&gt;  </a:t>
            </a:r>
          </a:p>
          <a:p>
            <a:pPr>
              <a:buNone/>
            </a:pPr>
            <a:r>
              <a:rPr lang="en-IN" dirty="0"/>
              <a:t>&lt;input type="submit" value="go"/&gt;  </a:t>
            </a:r>
          </a:p>
          <a:p>
            <a:pPr>
              <a:buNone/>
            </a:pPr>
            <a:r>
              <a:rPr lang="en-IN" dirty="0"/>
              <a:t>&lt;/form&gt;  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Firstservlet.java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57216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dirty="0"/>
              <a:t>import</a:t>
            </a:r>
            <a:r>
              <a:rPr lang="en-IN" dirty="0"/>
              <a:t> java.io.*;   </a:t>
            </a:r>
            <a:r>
              <a:rPr lang="en-IN" b="1" dirty="0"/>
              <a:t>import</a:t>
            </a:r>
            <a:r>
              <a:rPr lang="en-IN" dirty="0"/>
              <a:t> </a:t>
            </a:r>
            <a:r>
              <a:rPr lang="en-IN" dirty="0" err="1"/>
              <a:t>javax.servlet</a:t>
            </a:r>
            <a:r>
              <a:rPr lang="en-IN" dirty="0"/>
              <a:t>.*;   </a:t>
            </a:r>
            <a:r>
              <a:rPr lang="en-IN" b="1" dirty="0"/>
              <a:t>import</a:t>
            </a:r>
            <a:r>
              <a:rPr lang="en-IN" dirty="0"/>
              <a:t> </a:t>
            </a:r>
            <a:r>
              <a:rPr lang="en-IN" dirty="0" err="1"/>
              <a:t>javax.servlet.http</a:t>
            </a:r>
            <a:r>
              <a:rPr lang="en-IN" dirty="0"/>
              <a:t>.*;    </a:t>
            </a:r>
          </a:p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class</a:t>
            </a:r>
            <a:r>
              <a:rPr lang="en-IN" dirty="0"/>
              <a:t> </a:t>
            </a:r>
            <a:r>
              <a:rPr lang="en-IN" dirty="0" err="1"/>
              <a:t>FirstServlet</a:t>
            </a:r>
            <a:r>
              <a:rPr lang="en-IN" dirty="0"/>
              <a:t> </a:t>
            </a:r>
            <a:r>
              <a:rPr lang="en-IN" b="1" dirty="0"/>
              <a:t>extends</a:t>
            </a:r>
            <a:r>
              <a:rPr lang="en-IN" dirty="0"/>
              <a:t> </a:t>
            </a:r>
            <a:r>
              <a:rPr lang="en-IN" dirty="0" err="1"/>
              <a:t>HttpServlet</a:t>
            </a:r>
            <a:r>
              <a:rPr lang="en-IN" dirty="0"/>
              <a:t> {    </a:t>
            </a:r>
          </a:p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void</a:t>
            </a:r>
            <a:r>
              <a:rPr lang="en-IN" dirty="0"/>
              <a:t> </a:t>
            </a:r>
            <a:r>
              <a:rPr lang="en-IN" dirty="0" err="1"/>
              <a:t>doGet</a:t>
            </a:r>
            <a:r>
              <a:rPr lang="en-IN" dirty="0"/>
              <a:t>(</a:t>
            </a:r>
            <a:r>
              <a:rPr lang="en-IN" dirty="0" err="1"/>
              <a:t>HttpServletRequest</a:t>
            </a:r>
            <a:r>
              <a:rPr lang="en-IN" dirty="0"/>
              <a:t> request, </a:t>
            </a:r>
            <a:r>
              <a:rPr lang="en-IN" dirty="0" err="1"/>
              <a:t>HttpServletResponse</a:t>
            </a:r>
            <a:r>
              <a:rPr lang="en-IN" dirty="0"/>
              <a:t> response){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b="1" dirty="0"/>
              <a:t>try</a:t>
            </a:r>
            <a:r>
              <a:rPr lang="en-IN" dirty="0"/>
              <a:t>{  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response.setContentType</a:t>
            </a:r>
            <a:r>
              <a:rPr lang="en-IN" dirty="0"/>
              <a:t>("text/html");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PrintWriter</a:t>
            </a:r>
            <a:r>
              <a:rPr lang="en-IN" dirty="0"/>
              <a:t> out = </a:t>
            </a:r>
            <a:r>
              <a:rPr lang="en-IN" dirty="0" err="1"/>
              <a:t>response.getWriter</a:t>
            </a:r>
            <a:r>
              <a:rPr lang="en-IN" dirty="0"/>
              <a:t>();          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>
                <a:solidFill>
                  <a:srgbClr val="0000FF"/>
                </a:solidFill>
              </a:rPr>
              <a:t>String n=</a:t>
            </a:r>
            <a:r>
              <a:rPr lang="en-IN" dirty="0" err="1">
                <a:solidFill>
                  <a:srgbClr val="0000FF"/>
                </a:solidFill>
              </a:rPr>
              <a:t>request.getParameter</a:t>
            </a:r>
            <a:r>
              <a:rPr lang="en-IN" dirty="0">
                <a:solidFill>
                  <a:srgbClr val="0000FF"/>
                </a:solidFill>
              </a:rPr>
              <a:t>("</a:t>
            </a:r>
            <a:r>
              <a:rPr lang="en-IN" dirty="0" err="1">
                <a:solidFill>
                  <a:srgbClr val="0000FF"/>
                </a:solidFill>
              </a:rPr>
              <a:t>userName</a:t>
            </a:r>
            <a:r>
              <a:rPr lang="en-IN" dirty="0">
                <a:solidFill>
                  <a:srgbClr val="0000FF"/>
                </a:solidFill>
              </a:rPr>
              <a:t>");  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        </a:t>
            </a:r>
            <a:r>
              <a:rPr lang="en-IN" dirty="0" err="1">
                <a:solidFill>
                  <a:srgbClr val="0000FF"/>
                </a:solidFill>
              </a:rPr>
              <a:t>out.print</a:t>
            </a:r>
            <a:r>
              <a:rPr lang="en-IN" dirty="0">
                <a:solidFill>
                  <a:srgbClr val="0000FF"/>
                </a:solidFill>
              </a:rPr>
              <a:t>("Welcome "+n);    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        //appending the username in the query string  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        </a:t>
            </a:r>
            <a:r>
              <a:rPr lang="en-IN" dirty="0" err="1">
                <a:solidFill>
                  <a:srgbClr val="0000FF"/>
                </a:solidFill>
              </a:rPr>
              <a:t>out.print</a:t>
            </a:r>
            <a:r>
              <a:rPr lang="en-IN" dirty="0">
                <a:solidFill>
                  <a:srgbClr val="0000FF"/>
                </a:solidFill>
              </a:rPr>
              <a:t>("&lt;a </a:t>
            </a:r>
            <a:r>
              <a:rPr lang="en-IN" dirty="0" err="1">
                <a:solidFill>
                  <a:srgbClr val="0000FF"/>
                </a:solidFill>
              </a:rPr>
              <a:t>href</a:t>
            </a:r>
            <a:r>
              <a:rPr lang="en-IN" dirty="0">
                <a:solidFill>
                  <a:srgbClr val="0000FF"/>
                </a:solidFill>
              </a:rPr>
              <a:t>='servlet2?uname="+n+"'&gt;visit&lt;/a&gt;"); </a:t>
            </a:r>
            <a:r>
              <a:rPr lang="en-IN" dirty="0"/>
              <a:t>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out.close</a:t>
            </a:r>
            <a:r>
              <a:rPr lang="en-IN" dirty="0"/>
              <a:t>();    </a:t>
            </a:r>
          </a:p>
          <a:p>
            <a:pPr>
              <a:buNone/>
            </a:pPr>
            <a:r>
              <a:rPr lang="en-IN" dirty="0"/>
              <a:t>                }</a:t>
            </a:r>
            <a:r>
              <a:rPr lang="en-IN" b="1" dirty="0"/>
              <a:t>catch</a:t>
            </a:r>
            <a:r>
              <a:rPr lang="en-IN" dirty="0"/>
              <a:t>(Exception e){</a:t>
            </a:r>
            <a:r>
              <a:rPr lang="en-IN" dirty="0" err="1"/>
              <a:t>System.out.println</a:t>
            </a:r>
            <a:r>
              <a:rPr lang="en-IN" dirty="0"/>
              <a:t>(e);}      }  }  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SecondServlet.java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dirty="0"/>
              <a:t>import</a:t>
            </a:r>
            <a:r>
              <a:rPr lang="en-IN" dirty="0"/>
              <a:t> java.io.*;   </a:t>
            </a:r>
            <a:r>
              <a:rPr lang="en-IN" b="1" dirty="0"/>
              <a:t>import</a:t>
            </a:r>
            <a:r>
              <a:rPr lang="en-IN" dirty="0"/>
              <a:t> </a:t>
            </a:r>
            <a:r>
              <a:rPr lang="en-IN" dirty="0" err="1"/>
              <a:t>javax.servlet</a:t>
            </a:r>
            <a:r>
              <a:rPr lang="en-IN" dirty="0"/>
              <a:t>.*;   </a:t>
            </a:r>
            <a:r>
              <a:rPr lang="en-IN" b="1" dirty="0"/>
              <a:t>import</a:t>
            </a:r>
            <a:r>
              <a:rPr lang="en-IN" dirty="0"/>
              <a:t> </a:t>
            </a:r>
            <a:r>
              <a:rPr lang="en-IN" dirty="0" err="1"/>
              <a:t>javax.servlet.http</a:t>
            </a:r>
            <a:r>
              <a:rPr lang="en-IN" dirty="0"/>
              <a:t>.*;    </a:t>
            </a:r>
          </a:p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class</a:t>
            </a:r>
            <a:r>
              <a:rPr lang="en-IN" dirty="0"/>
              <a:t> </a:t>
            </a:r>
            <a:r>
              <a:rPr lang="en-IN" dirty="0" err="1"/>
              <a:t>SecondServlet</a:t>
            </a:r>
            <a:r>
              <a:rPr lang="en-IN" dirty="0"/>
              <a:t> </a:t>
            </a:r>
            <a:r>
              <a:rPr lang="en-IN" b="1" dirty="0"/>
              <a:t>extends</a:t>
            </a:r>
            <a:r>
              <a:rPr lang="en-IN" dirty="0"/>
              <a:t> </a:t>
            </a:r>
            <a:r>
              <a:rPr lang="en-IN" dirty="0" err="1"/>
              <a:t>HttpServlet</a:t>
            </a:r>
            <a:r>
              <a:rPr lang="en-IN" dirty="0"/>
              <a:t> {    </a:t>
            </a:r>
          </a:p>
          <a:p>
            <a:pPr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void</a:t>
            </a:r>
            <a:r>
              <a:rPr lang="en-IN" dirty="0"/>
              <a:t> </a:t>
            </a:r>
            <a:r>
              <a:rPr lang="en-IN" dirty="0" err="1"/>
              <a:t>doGet</a:t>
            </a:r>
            <a:r>
              <a:rPr lang="en-IN" dirty="0"/>
              <a:t>(</a:t>
            </a:r>
            <a:r>
              <a:rPr lang="en-IN" dirty="0" err="1"/>
              <a:t>HttpServletRequest</a:t>
            </a:r>
            <a:r>
              <a:rPr lang="en-IN" dirty="0"/>
              <a:t> request, </a:t>
            </a:r>
          </a:p>
          <a:p>
            <a:pPr>
              <a:buNone/>
            </a:pPr>
            <a:r>
              <a:rPr lang="en-IN" dirty="0"/>
              <a:t>                                  </a:t>
            </a:r>
            <a:r>
              <a:rPr lang="en-IN" dirty="0" err="1"/>
              <a:t>HttpServletResponse</a:t>
            </a:r>
            <a:r>
              <a:rPr lang="en-IN" dirty="0"/>
              <a:t> response)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b="1" dirty="0"/>
              <a:t>try</a:t>
            </a:r>
            <a:r>
              <a:rPr lang="en-IN" dirty="0"/>
              <a:t>{  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response.setContentType</a:t>
            </a:r>
            <a:r>
              <a:rPr lang="en-IN" dirty="0"/>
              <a:t>("text/html");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PrintWriter</a:t>
            </a:r>
            <a:r>
              <a:rPr lang="en-IN" dirty="0"/>
              <a:t> out = </a:t>
            </a:r>
            <a:r>
              <a:rPr lang="en-IN" dirty="0" err="1"/>
              <a:t>response.getWriter</a:t>
            </a:r>
            <a:r>
              <a:rPr lang="en-IN" dirty="0"/>
              <a:t>();            </a:t>
            </a:r>
          </a:p>
          <a:p>
            <a:pPr>
              <a:buNone/>
            </a:pPr>
            <a:r>
              <a:rPr lang="en-IN" dirty="0"/>
              <a:t>        //getting value from the query string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>
                <a:solidFill>
                  <a:srgbClr val="0000FF"/>
                </a:solidFill>
              </a:rPr>
              <a:t>String n=</a:t>
            </a:r>
            <a:r>
              <a:rPr lang="en-IN" dirty="0" err="1">
                <a:solidFill>
                  <a:srgbClr val="0000FF"/>
                </a:solidFill>
              </a:rPr>
              <a:t>request.getParameter</a:t>
            </a:r>
            <a:r>
              <a:rPr lang="en-IN" dirty="0">
                <a:solidFill>
                  <a:srgbClr val="0000FF"/>
                </a:solidFill>
              </a:rPr>
              <a:t>("</a:t>
            </a:r>
            <a:r>
              <a:rPr lang="en-IN" dirty="0" err="1">
                <a:solidFill>
                  <a:srgbClr val="0000FF"/>
                </a:solidFill>
              </a:rPr>
              <a:t>uname</a:t>
            </a:r>
            <a:r>
              <a:rPr lang="en-IN" dirty="0">
                <a:solidFill>
                  <a:srgbClr val="0000FF"/>
                </a:solidFill>
              </a:rPr>
              <a:t>");  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</a:rPr>
              <a:t>        </a:t>
            </a:r>
            <a:r>
              <a:rPr lang="en-IN" dirty="0" err="1">
                <a:solidFill>
                  <a:srgbClr val="0000FF"/>
                </a:solidFill>
              </a:rPr>
              <a:t>out.print</a:t>
            </a:r>
            <a:r>
              <a:rPr lang="en-IN" dirty="0">
                <a:solidFill>
                  <a:srgbClr val="0000FF"/>
                </a:solidFill>
              </a:rPr>
              <a:t>("Hello "+n);    </a:t>
            </a:r>
          </a:p>
          <a:p>
            <a:pPr>
              <a:buNone/>
            </a:pPr>
            <a:r>
              <a:rPr lang="en-IN" dirty="0"/>
              <a:t>        </a:t>
            </a:r>
            <a:r>
              <a:rPr lang="en-IN" dirty="0" err="1"/>
              <a:t>out.close</a:t>
            </a:r>
            <a:r>
              <a:rPr lang="en-IN" dirty="0"/>
              <a:t>();    </a:t>
            </a:r>
          </a:p>
          <a:p>
            <a:pPr>
              <a:buNone/>
            </a:pPr>
            <a:r>
              <a:rPr lang="en-IN" dirty="0"/>
              <a:t>                }</a:t>
            </a:r>
            <a:r>
              <a:rPr lang="en-IN" b="1" dirty="0"/>
              <a:t>catch</a:t>
            </a:r>
            <a:r>
              <a:rPr lang="en-IN" dirty="0"/>
              <a:t>(Exception e){</a:t>
            </a:r>
            <a:r>
              <a:rPr lang="en-IN" dirty="0" err="1"/>
              <a:t>System.out.println</a:t>
            </a:r>
            <a:r>
              <a:rPr lang="en-IN" dirty="0"/>
              <a:t>(e);}      }  }  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3"/>
          </a:xfrm>
        </p:spPr>
        <p:txBody>
          <a:bodyPr/>
          <a:lstStyle/>
          <a:p>
            <a:r>
              <a:rPr lang="en-US" sz="3600"/>
              <a:t>Simple Questions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81600"/>
          </a:xfrm>
        </p:spPr>
        <p:txBody>
          <a:bodyPr>
            <a:normAutofit lnSpcReduction="10000"/>
          </a:bodyPr>
          <a:lstStyle/>
          <a:p>
            <a:pPr marL="514350" indent="-514350">
              <a:buFontTx/>
              <a:buAutoNum type="arabicPeriod"/>
            </a:pPr>
            <a:r>
              <a:rPr lang="en-US" dirty="0"/>
              <a:t>Why session tracking is needed?</a:t>
            </a:r>
          </a:p>
          <a:p>
            <a:pPr marL="514350" indent="-514350">
              <a:buFontTx/>
              <a:buAutoNum type="arabicPeriod"/>
            </a:pPr>
            <a:r>
              <a:rPr lang="en-US" dirty="0"/>
              <a:t>What are the different techniques?</a:t>
            </a:r>
          </a:p>
          <a:p>
            <a:pPr marL="514350" indent="-514350">
              <a:buFontTx/>
              <a:buAutoNum type="arabicPeriod"/>
            </a:pPr>
            <a:r>
              <a:rPr lang="en-US" dirty="0"/>
              <a:t>Write the difference between </a:t>
            </a:r>
            <a:r>
              <a:rPr lang="en-US" dirty="0" err="1"/>
              <a:t>request.getSession</a:t>
            </a:r>
            <a:r>
              <a:rPr lang="en-US" dirty="0"/>
              <a:t>(true) and </a:t>
            </a:r>
            <a:r>
              <a:rPr lang="en-US" dirty="0" err="1"/>
              <a:t>request.getSession</a:t>
            </a:r>
            <a:r>
              <a:rPr lang="en-US" dirty="0"/>
              <a:t>(false)</a:t>
            </a:r>
          </a:p>
          <a:p>
            <a:pPr marL="514350" indent="-514350">
              <a:buFontTx/>
              <a:buAutoNum type="arabicPeriod"/>
            </a:pPr>
            <a:r>
              <a:rPr lang="en-US" dirty="0"/>
              <a:t>Which session mechanisms are maintaining the state of the information in the server?</a:t>
            </a:r>
          </a:p>
          <a:p>
            <a:pPr marL="514350" indent="-514350">
              <a:buFontTx/>
              <a:buAutoNum type="arabicPeriod"/>
            </a:pPr>
            <a:r>
              <a:rPr lang="en-US" dirty="0"/>
              <a:t>Which session mechanisms are maintaining the state of the information in the cache of the browser?</a:t>
            </a:r>
          </a:p>
          <a:p>
            <a:pPr marL="514350" indent="-514350">
              <a:buFontTx/>
              <a:buAutoNum type="arabicPeriod"/>
            </a:pPr>
            <a:endParaRPr lang="en-US" dirty="0"/>
          </a:p>
          <a:p>
            <a:pPr marL="514350" indent="-514350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Deitel</a:t>
            </a:r>
            <a:r>
              <a:rPr lang="en-IN" dirty="0"/>
              <a:t> and </a:t>
            </a:r>
            <a:r>
              <a:rPr lang="en-IN" dirty="0" err="1"/>
              <a:t>Deitel</a:t>
            </a:r>
            <a:r>
              <a:rPr lang="en-IN" dirty="0"/>
              <a:t> and Nieto, ―Internet and World Wide Web - How to Program‖, Prentice Hall, 5th Edition, 2011. </a:t>
            </a:r>
            <a:endParaRPr lang="en-US" dirty="0"/>
          </a:p>
          <a:p>
            <a:r>
              <a:rPr lang="en-IN" dirty="0"/>
              <a:t>Jeffrey C and Jackson, ―Web Technologies A Computer Science Perspective‖, Pearson Education, 2011. </a:t>
            </a:r>
          </a:p>
          <a:p>
            <a:r>
              <a:rPr lang="en-IN" dirty="0" err="1"/>
              <a:t>Javatpoint</a:t>
            </a:r>
            <a:r>
              <a:rPr lang="en-IN" dirty="0"/>
              <a:t> tutorial page</a:t>
            </a:r>
            <a:endParaRPr lang="en-US" dirty="0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will be able to </a:t>
            </a:r>
          </a:p>
          <a:p>
            <a:pPr lvl="1"/>
            <a:r>
              <a:rPr lang="en-US" dirty="0"/>
              <a:t>Write three tier web application using any session tracking mechanism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3120</TotalTime>
  <Words>2971</Words>
  <Application>Microsoft Office PowerPoint</Application>
  <PresentationFormat>On-screen Show (4:3)</PresentationFormat>
  <Paragraphs>408</Paragraphs>
  <Slides>57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Consolas</vt:lpstr>
      <vt:lpstr>Nunito</vt:lpstr>
      <vt:lpstr>Times New Roman</vt:lpstr>
      <vt:lpstr>Wingdings</vt:lpstr>
      <vt:lpstr>Office Theme</vt:lpstr>
      <vt:lpstr>Session Tracking Mechanisms</vt:lpstr>
      <vt:lpstr>Objective</vt:lpstr>
      <vt:lpstr>Outcome</vt:lpstr>
      <vt:lpstr>Context</vt:lpstr>
      <vt:lpstr>Sessions</vt:lpstr>
      <vt:lpstr>Sessions</vt:lpstr>
      <vt:lpstr>Session tracking techniques</vt:lpstr>
      <vt:lpstr>PowerPoint Presentation</vt:lpstr>
      <vt:lpstr>PowerPoint Presentation</vt:lpstr>
      <vt:lpstr>Session Tracking Mechanism -  HttpSession</vt:lpstr>
      <vt:lpstr>Sessions tracking using session object</vt:lpstr>
      <vt:lpstr>Sessions tracking using session object</vt:lpstr>
      <vt:lpstr>Sessions tracking using session object</vt:lpstr>
      <vt:lpstr>Sessions tracking using session object</vt:lpstr>
      <vt:lpstr>Sessions tracking using session object</vt:lpstr>
      <vt:lpstr>How Sessions Work?</vt:lpstr>
      <vt:lpstr>How Sessions Work?</vt:lpstr>
      <vt:lpstr>PowerPoint Presentation</vt:lpstr>
      <vt:lpstr>PowerPoint Presentation</vt:lpstr>
      <vt:lpstr>Methods and Description </vt:lpstr>
      <vt:lpstr>Methods and Description </vt:lpstr>
      <vt:lpstr>Session Attributes</vt:lpstr>
      <vt:lpstr>How to check whether the session is new or not?</vt:lpstr>
      <vt:lpstr>Example for HTTP Session</vt:lpstr>
      <vt:lpstr>Example for HTTP Session</vt:lpstr>
      <vt:lpstr>FirstServlet.java</vt:lpstr>
      <vt:lpstr>SecondServlet.java</vt:lpstr>
      <vt:lpstr>Session Tracking Mechanism -  Cookies</vt:lpstr>
      <vt:lpstr>What is Cookie?</vt:lpstr>
      <vt:lpstr>How Cookie works?</vt:lpstr>
      <vt:lpstr>PowerPoint Presentation</vt:lpstr>
      <vt:lpstr>Advantages &amp; Disadvantages</vt:lpstr>
      <vt:lpstr>Constructors &amp; Methods</vt:lpstr>
      <vt:lpstr>Creation and Deletion of Cookies</vt:lpstr>
      <vt:lpstr>How to get Cookies?</vt:lpstr>
      <vt:lpstr>Cookie Example1 – web.xml</vt:lpstr>
      <vt:lpstr>Cookie Example1 – FirstServlet</vt:lpstr>
      <vt:lpstr>Cookie Example1 – SecondServlet</vt:lpstr>
      <vt:lpstr>Cookie Example1 – SecondServlet</vt:lpstr>
      <vt:lpstr>Session Tracking Mechanism – Hidden Form Field</vt:lpstr>
      <vt:lpstr>What is hidden field?</vt:lpstr>
      <vt:lpstr>Advantages &amp; Disadvantages</vt:lpstr>
      <vt:lpstr>Example of Hidden Form Field</vt:lpstr>
      <vt:lpstr>Hidden Form Example – web.xml</vt:lpstr>
      <vt:lpstr>Hidden Form Example – FirstServlet</vt:lpstr>
      <vt:lpstr>Hidden Form Example – SecondServlet</vt:lpstr>
      <vt:lpstr>Hidden Form Example – Output</vt:lpstr>
      <vt:lpstr>Session Tracking Mechanism – Url Rewriting</vt:lpstr>
      <vt:lpstr>URL Rewriting</vt:lpstr>
      <vt:lpstr>URL Example</vt:lpstr>
      <vt:lpstr>Advantages &amp; Disadvantages</vt:lpstr>
      <vt:lpstr>URL Rewriting Example</vt:lpstr>
      <vt:lpstr>Firstservlet.java</vt:lpstr>
      <vt:lpstr>SecondServlet.java</vt:lpstr>
      <vt:lpstr>Simple Questions</vt:lpstr>
      <vt:lpstr>References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Tracking Mechanisms</dc:title>
  <dc:creator>staff</dc:creator>
  <cp:lastModifiedBy>B Prabavathy</cp:lastModifiedBy>
  <cp:revision>61</cp:revision>
  <dcterms:created xsi:type="dcterms:W3CDTF">2016-08-27T05:15:36Z</dcterms:created>
  <dcterms:modified xsi:type="dcterms:W3CDTF">2025-03-19T09:15:24Z</dcterms:modified>
</cp:coreProperties>
</file>