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2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6978B9-0648-4996-B574-2D68C2A1172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A7239-C782-467A-B435-C76C3C9863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253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A7239-C782-467A-B435-C76C3C986372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1827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D6153-23D5-6250-C2A1-15F3E25B1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C8BA78-4AB0-126D-2E1A-77D38B7105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C22F5D-BA6B-E8FB-8CC6-5E7AF6FC59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7052E1-7CB6-07FF-696A-4B4955993D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A7239-C782-467A-B435-C76C3C986372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328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1FD38-ECA2-465E-8616-2CE61D6DAFFA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27894-10A2-4646-AC70-3F29101F0E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83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1FD38-ECA2-465E-8616-2CE61D6DAFFA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27894-10A2-4646-AC70-3F29101F0E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734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1FD38-ECA2-465E-8616-2CE61D6DAFFA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27894-10A2-4646-AC70-3F29101F0E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5859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1FD38-ECA2-465E-8616-2CE61D6DAFFA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27894-10A2-4646-AC70-3F29101F0E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9772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1FD38-ECA2-465E-8616-2CE61D6DAFFA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27894-10A2-4646-AC70-3F29101F0E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860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1FD38-ECA2-465E-8616-2CE61D6DAFFA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27894-10A2-4646-AC70-3F29101F0E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1375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1FD38-ECA2-465E-8616-2CE61D6DAFFA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27894-10A2-4646-AC70-3F29101F0E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231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1FD38-ECA2-465E-8616-2CE61D6DAFFA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27894-10A2-4646-AC70-3F29101F0E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3307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1FD38-ECA2-465E-8616-2CE61D6DAFFA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27894-10A2-4646-AC70-3F29101F0E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2972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1FD38-ECA2-465E-8616-2CE61D6DAFFA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27894-10A2-4646-AC70-3F29101F0E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88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1FD38-ECA2-465E-8616-2CE61D6DAFFA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27894-10A2-4646-AC70-3F29101F0E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32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31FD38-ECA2-465E-8616-2CE61D6DAFFA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827894-10A2-4646-AC70-3F29101F0E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0822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A4A5B-4958-15F7-770B-A88E76AE68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Monolithic vs. Microservice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108672-0B1A-758E-1E1B-8E4F77F351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661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CF327-E915-6E5D-018D-71EA7392D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564" y="131763"/>
            <a:ext cx="7886700" cy="549274"/>
          </a:xfrm>
        </p:spPr>
        <p:txBody>
          <a:bodyPr>
            <a:normAutofit/>
          </a:bodyPr>
          <a:lstStyle/>
          <a:p>
            <a:r>
              <a:rPr lang="en-IN" sz="2800" dirty="0"/>
              <a:t>What is Monolithic Architecture?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DFB13-B786-37A6-0DE0-650EF1C07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564" y="845421"/>
            <a:ext cx="8743308" cy="5473183"/>
          </a:xfrm>
        </p:spPr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A monolithic architecture is one where the </a:t>
            </a:r>
            <a:r>
              <a:rPr lang="en-US" dirty="0">
                <a:solidFill>
                  <a:srgbClr val="0000FF"/>
                </a:solidFill>
                <a:latin typeface="+mj-lt"/>
              </a:rPr>
              <a:t>entire application is built as a single, unified unit.</a:t>
            </a:r>
          </a:p>
          <a:p>
            <a:r>
              <a:rPr lang="en-US" dirty="0">
                <a:latin typeface="+mj-lt"/>
              </a:rPr>
              <a:t>Characteristics</a:t>
            </a:r>
          </a:p>
          <a:p>
            <a:pPr lvl="1"/>
            <a:r>
              <a:rPr lang="en-US" dirty="0">
                <a:latin typeface="+mj-lt"/>
              </a:rPr>
              <a:t>Single codebase</a:t>
            </a:r>
          </a:p>
          <a:p>
            <a:pPr lvl="1"/>
            <a:r>
              <a:rPr lang="en-US" dirty="0">
                <a:latin typeface="+mj-lt"/>
              </a:rPr>
              <a:t>Single deployment unit (one WAR/JAR)</a:t>
            </a:r>
          </a:p>
          <a:p>
            <a:pPr lvl="1"/>
            <a:r>
              <a:rPr lang="en-US" dirty="0">
                <a:latin typeface="+mj-lt"/>
              </a:rPr>
              <a:t>Shared database</a:t>
            </a:r>
          </a:p>
          <a:p>
            <a:pPr lvl="1"/>
            <a:r>
              <a:rPr lang="en-US" dirty="0">
                <a:latin typeface="+mj-lt"/>
              </a:rPr>
              <a:t>Components are tightly coupled</a:t>
            </a:r>
          </a:p>
          <a:p>
            <a:r>
              <a:rPr lang="en-US" dirty="0">
                <a:latin typeface="+mj-lt"/>
              </a:rPr>
              <a:t>An 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e-commerce</a:t>
            </a:r>
            <a:r>
              <a:rPr lang="en-US" dirty="0">
                <a:latin typeface="+mj-lt"/>
              </a:rPr>
              <a:t> 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application</a:t>
            </a:r>
            <a:r>
              <a:rPr lang="en-US" dirty="0">
                <a:latin typeface="+mj-lt"/>
              </a:rPr>
              <a:t> where:</a:t>
            </a:r>
          </a:p>
          <a:p>
            <a:pPr lvl="1"/>
            <a:r>
              <a:rPr lang="en-US" dirty="0">
                <a:latin typeface="+mj-lt"/>
              </a:rPr>
              <a:t>User Management</a:t>
            </a:r>
          </a:p>
          <a:p>
            <a:pPr lvl="1"/>
            <a:r>
              <a:rPr lang="en-US" dirty="0">
                <a:latin typeface="+mj-lt"/>
              </a:rPr>
              <a:t>Product Catalog</a:t>
            </a:r>
          </a:p>
          <a:p>
            <a:pPr lvl="1"/>
            <a:r>
              <a:rPr lang="en-US" dirty="0">
                <a:latin typeface="+mj-lt"/>
              </a:rPr>
              <a:t>Order Processing</a:t>
            </a:r>
          </a:p>
          <a:p>
            <a:pPr lvl="1"/>
            <a:r>
              <a:rPr lang="en-US" dirty="0">
                <a:latin typeface="+mj-lt"/>
              </a:rPr>
              <a:t>Payment</a:t>
            </a:r>
          </a:p>
          <a:p>
            <a:pPr marL="457200" lvl="1" indent="0">
              <a:buNone/>
            </a:pPr>
            <a:r>
              <a:rPr lang="en-US" dirty="0">
                <a:latin typeface="+mj-lt"/>
              </a:rPr>
              <a:t>are all part of one Spring Boot application</a:t>
            </a:r>
          </a:p>
          <a:p>
            <a:endParaRPr lang="en-IN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B97723-B585-AF31-1960-B9AA4780A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6062" y="1766655"/>
            <a:ext cx="2728204" cy="48088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C99D33-62FF-2A34-45BF-C421F38CE737}"/>
              </a:ext>
            </a:extLst>
          </p:cNvPr>
          <p:cNvSpPr txBox="1"/>
          <p:nvPr/>
        </p:nvSpPr>
        <p:spPr>
          <a:xfrm>
            <a:off x="2843784" y="1602271"/>
            <a:ext cx="415137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solidFill>
                  <a:srgbClr val="C00000"/>
                </a:solidFill>
                <a:effectLst/>
                <a:latin typeface="+mj-lt"/>
              </a:rPr>
              <a:t>A codebase is </a:t>
            </a:r>
            <a:r>
              <a:rPr lang="en-US" sz="1600" b="1" dirty="0">
                <a:solidFill>
                  <a:srgbClr val="C00000"/>
                </a:solidFill>
                <a:latin typeface="+mj-lt"/>
              </a:rPr>
              <a:t>the complete collection of source code, configuration files, and documentation used to build and maintain a specific software application </a:t>
            </a:r>
            <a:endParaRPr lang="en-IN" sz="1600" b="1" dirty="0">
              <a:solidFill>
                <a:srgbClr val="C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93040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ABCF1-29F9-ACF0-088A-36DF16E13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F7D40-2834-CEF1-1B84-34A0789B7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564" y="131763"/>
            <a:ext cx="7886700" cy="549274"/>
          </a:xfrm>
        </p:spPr>
        <p:txBody>
          <a:bodyPr>
            <a:normAutofit/>
          </a:bodyPr>
          <a:lstStyle/>
          <a:p>
            <a:r>
              <a:rPr lang="en-IN" sz="2800" dirty="0"/>
              <a:t>What is Microservice Architecture?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902FE-25F6-7D83-61E3-01CAD733E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564" y="845421"/>
            <a:ext cx="8743308" cy="5473183"/>
          </a:xfrm>
        </p:spPr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An application is divided into small, independent services, each responsible for a specific business capability</a:t>
            </a:r>
          </a:p>
          <a:p>
            <a:r>
              <a:rPr lang="en-US" dirty="0">
                <a:latin typeface="+mj-lt"/>
              </a:rPr>
              <a:t>Characteristics</a:t>
            </a:r>
          </a:p>
          <a:p>
            <a:pPr lvl="1"/>
            <a:r>
              <a:rPr lang="en-US" dirty="0">
                <a:latin typeface="+mj-lt"/>
              </a:rPr>
              <a:t>Each service is independently deployable</a:t>
            </a:r>
          </a:p>
          <a:p>
            <a:pPr lvl="1"/>
            <a:r>
              <a:rPr lang="en-US" dirty="0">
                <a:latin typeface="+mj-lt"/>
              </a:rPr>
              <a:t>Loose coupling between services</a:t>
            </a:r>
          </a:p>
          <a:p>
            <a:pPr lvl="1"/>
            <a:r>
              <a:rPr lang="en-US" dirty="0">
                <a:latin typeface="+mj-lt"/>
              </a:rPr>
              <a:t>Each service can have its own database</a:t>
            </a:r>
          </a:p>
          <a:p>
            <a:pPr lvl="1"/>
            <a:r>
              <a:rPr lang="en-US" dirty="0">
                <a:latin typeface="+mj-lt"/>
              </a:rPr>
              <a:t>Communication via REST messaging</a:t>
            </a:r>
          </a:p>
          <a:p>
            <a:r>
              <a:rPr lang="en-US" dirty="0">
                <a:latin typeface="+mj-lt"/>
              </a:rPr>
              <a:t>An 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e-commerce</a:t>
            </a:r>
            <a:r>
              <a:rPr lang="en-US" dirty="0">
                <a:latin typeface="+mj-lt"/>
              </a:rPr>
              <a:t> 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application</a:t>
            </a:r>
            <a:r>
              <a:rPr lang="en-US" dirty="0">
                <a:latin typeface="+mj-lt"/>
              </a:rPr>
              <a:t> where:</a:t>
            </a:r>
          </a:p>
          <a:p>
            <a:pPr lvl="1"/>
            <a:r>
              <a:rPr lang="en-US" dirty="0">
                <a:latin typeface="+mj-lt"/>
              </a:rPr>
              <a:t>User Management</a:t>
            </a:r>
          </a:p>
          <a:p>
            <a:pPr lvl="1"/>
            <a:r>
              <a:rPr lang="en-US" dirty="0">
                <a:latin typeface="+mj-lt"/>
              </a:rPr>
              <a:t>Product Catalog</a:t>
            </a:r>
          </a:p>
          <a:p>
            <a:pPr lvl="1"/>
            <a:r>
              <a:rPr lang="en-US" dirty="0">
                <a:latin typeface="+mj-lt"/>
              </a:rPr>
              <a:t>Order Processing</a:t>
            </a:r>
          </a:p>
          <a:p>
            <a:pPr lvl="1"/>
            <a:r>
              <a:rPr lang="en-US" dirty="0">
                <a:latin typeface="+mj-lt"/>
              </a:rPr>
              <a:t>Payment</a:t>
            </a:r>
          </a:p>
          <a:p>
            <a:pPr marL="457200" lvl="1" indent="0">
              <a:buNone/>
            </a:pPr>
            <a:r>
              <a:rPr lang="en-US" dirty="0">
                <a:latin typeface="+mj-lt"/>
              </a:rPr>
              <a:t>Each service is a Spring Boot application</a:t>
            </a:r>
          </a:p>
          <a:p>
            <a:endParaRPr lang="en-IN" dirty="0">
              <a:latin typeface="+mj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68DF7E-E282-2B8C-AFA2-81396215E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205" y="2520684"/>
            <a:ext cx="3905795" cy="329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246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51439-17F3-8A56-519E-F4531CB53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209" y="375400"/>
            <a:ext cx="8753582" cy="1325563"/>
          </a:xfrm>
        </p:spPr>
        <p:txBody>
          <a:bodyPr>
            <a:normAutofit/>
          </a:bodyPr>
          <a:lstStyle/>
          <a:p>
            <a:r>
              <a:rPr lang="en-IN" sz="2800" dirty="0"/>
              <a:t>Comparison between Monolithic and Microservice Architecture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1322813-08D5-92BA-B2E1-A6B7D7669B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960237"/>
              </p:ext>
            </p:extLst>
          </p:nvPr>
        </p:nvGraphicFramePr>
        <p:xfrm>
          <a:off x="277401" y="1944921"/>
          <a:ext cx="8866599" cy="3962400"/>
        </p:xfrm>
        <a:graphic>
          <a:graphicData uri="http://schemas.openxmlformats.org/drawingml/2006/table">
            <a:tbl>
              <a:tblPr/>
              <a:tblGrid>
                <a:gridCol w="2955533">
                  <a:extLst>
                    <a:ext uri="{9D8B030D-6E8A-4147-A177-3AD203B41FA5}">
                      <a16:colId xmlns:a16="http://schemas.microsoft.com/office/drawing/2014/main" val="1830898771"/>
                    </a:ext>
                  </a:extLst>
                </a:gridCol>
                <a:gridCol w="2955533">
                  <a:extLst>
                    <a:ext uri="{9D8B030D-6E8A-4147-A177-3AD203B41FA5}">
                      <a16:colId xmlns:a16="http://schemas.microsoft.com/office/drawing/2014/main" val="4011225481"/>
                    </a:ext>
                  </a:extLst>
                </a:gridCol>
                <a:gridCol w="2955533">
                  <a:extLst>
                    <a:ext uri="{9D8B030D-6E8A-4147-A177-3AD203B41FA5}">
                      <a16:colId xmlns:a16="http://schemas.microsoft.com/office/drawing/2014/main" val="4963530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solidFill>
                            <a:srgbClr val="0000FF"/>
                          </a:solidFill>
                          <a:latin typeface="+mj-lt"/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solidFill>
                            <a:srgbClr val="0000FF"/>
                          </a:solidFill>
                          <a:latin typeface="+mj-lt"/>
                        </a:rPr>
                        <a:t>Monolithic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solidFill>
                            <a:srgbClr val="0000FF"/>
                          </a:solidFill>
                          <a:latin typeface="+mj-lt"/>
                        </a:rPr>
                        <a:t>Microservices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2145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+mj-lt"/>
                        </a:rPr>
                        <a:t>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+mj-lt"/>
                        </a:rPr>
                        <a:t>Single application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+mj-lt"/>
                        </a:rPr>
                        <a:t>Multiple small services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7891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+mj-lt"/>
                        </a:rPr>
                        <a:t>Deployment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+mj-lt"/>
                        </a:rPr>
                        <a:t>One unit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+mj-lt"/>
                        </a:rPr>
                        <a:t>Independent deployments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064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+mj-lt"/>
                        </a:rPr>
                        <a:t>Scalability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+mj-lt"/>
                        </a:rPr>
                        <a:t>Entire app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+mj-lt"/>
                        </a:rPr>
                        <a:t>Individual services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16947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+mj-lt"/>
                        </a:rPr>
                        <a:t>Coupling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+mj-lt"/>
                        </a:rPr>
                        <a:t>Tight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+mj-lt"/>
                        </a:rPr>
                        <a:t>Loose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580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+mj-lt"/>
                        </a:rPr>
                        <a:t>Technology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+mj-lt"/>
                        </a:rPr>
                        <a:t>Single stack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+mj-lt"/>
                        </a:rPr>
                        <a:t>Multiple stacks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395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1360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155F8-0588-CC4F-9086-CA094B709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483" y="142037"/>
            <a:ext cx="8938517" cy="539000"/>
          </a:xfrm>
        </p:spPr>
        <p:txBody>
          <a:bodyPr>
            <a:normAutofit fontScale="90000"/>
          </a:bodyPr>
          <a:lstStyle/>
          <a:p>
            <a:br>
              <a:rPr lang="en-IN" sz="2800" dirty="0"/>
            </a:br>
            <a:r>
              <a:rPr lang="en-IN" sz="2800" dirty="0"/>
              <a:t>Deployment - </a:t>
            </a:r>
            <a:r>
              <a:rPr lang="en-US" sz="2800" dirty="0">
                <a:solidFill>
                  <a:srgbClr val="C00000"/>
                </a:solidFill>
              </a:rPr>
              <a:t>Monolithic Architecture: E-commerce Application</a:t>
            </a:r>
            <a:br>
              <a:rPr lang="en-US" sz="2800" dirty="0">
                <a:solidFill>
                  <a:srgbClr val="C00000"/>
                </a:solidFill>
              </a:rPr>
            </a:b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F3302-C73D-1272-F445-9402411802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94" y="1633592"/>
            <a:ext cx="4592547" cy="4774542"/>
          </a:xfrm>
        </p:spPr>
        <p:txBody>
          <a:bodyPr>
            <a:noAutofit/>
          </a:bodyPr>
          <a:lstStyle/>
          <a:p>
            <a:r>
              <a:rPr lang="en-US" sz="2400" dirty="0">
                <a:latin typeface="+mj-lt"/>
              </a:rPr>
              <a:t>Modules:</a:t>
            </a:r>
          </a:p>
          <a:p>
            <a:pPr lvl="1"/>
            <a:r>
              <a:rPr lang="en-US" sz="2000" dirty="0">
                <a:latin typeface="+mj-lt"/>
              </a:rPr>
              <a:t>User</a:t>
            </a:r>
          </a:p>
          <a:p>
            <a:pPr lvl="1"/>
            <a:r>
              <a:rPr lang="en-US" sz="2000" dirty="0">
                <a:latin typeface="+mj-lt"/>
              </a:rPr>
              <a:t>Product</a:t>
            </a:r>
          </a:p>
          <a:p>
            <a:pPr lvl="1"/>
            <a:r>
              <a:rPr lang="en-US" sz="2000" dirty="0">
                <a:latin typeface="+mj-lt"/>
              </a:rPr>
              <a:t>Order</a:t>
            </a:r>
          </a:p>
          <a:p>
            <a:pPr lvl="1"/>
            <a:r>
              <a:rPr lang="en-US" sz="2000" dirty="0">
                <a:latin typeface="+mj-lt"/>
              </a:rPr>
              <a:t>Payment</a:t>
            </a:r>
          </a:p>
          <a:p>
            <a:r>
              <a:rPr lang="en-US" sz="2400" dirty="0">
                <a:latin typeface="+mj-lt"/>
              </a:rPr>
              <a:t>All modules are inside one application.</a:t>
            </a:r>
          </a:p>
          <a:p>
            <a:r>
              <a:rPr lang="en-US" sz="2400" dirty="0">
                <a:latin typeface="+mj-lt"/>
              </a:rPr>
              <a:t>How Deployment Works</a:t>
            </a:r>
          </a:p>
          <a:p>
            <a:pPr lvl="1"/>
            <a:r>
              <a:rPr lang="en-US" sz="2000" dirty="0">
                <a:latin typeface="+mj-lt"/>
              </a:rPr>
              <a:t>Entire application is built as one JAR/WAR</a:t>
            </a:r>
          </a:p>
          <a:p>
            <a:pPr lvl="1"/>
            <a:r>
              <a:rPr lang="en-US" sz="2000" dirty="0">
                <a:latin typeface="+mj-lt"/>
              </a:rPr>
              <a:t>Deployed as a single unit – (</a:t>
            </a:r>
            <a:r>
              <a:rPr lang="en-US" sz="2400" dirty="0">
                <a:latin typeface="+mj-lt"/>
              </a:rPr>
              <a:t>ecommerce-app.jar)</a:t>
            </a:r>
          </a:p>
          <a:p>
            <a:pPr lvl="1"/>
            <a:r>
              <a:rPr lang="en-US" sz="2000" dirty="0">
                <a:latin typeface="+mj-lt"/>
              </a:rPr>
              <a:t>(User + Product + Order + Payment)</a:t>
            </a:r>
            <a:endParaRPr lang="en-IN" sz="2400" dirty="0">
              <a:latin typeface="+mj-lt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C96AA08-3087-6465-FF52-C76287810140}"/>
              </a:ext>
            </a:extLst>
          </p:cNvPr>
          <p:cNvSpPr txBox="1">
            <a:spLocks/>
          </p:cNvSpPr>
          <p:nvPr/>
        </p:nvSpPr>
        <p:spPr>
          <a:xfrm>
            <a:off x="4539467" y="1402422"/>
            <a:ext cx="4522339" cy="47745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+mj-lt"/>
              </a:rPr>
              <a:t>Example Scenario</a:t>
            </a:r>
          </a:p>
          <a:p>
            <a:r>
              <a:rPr lang="en-US" sz="2400" dirty="0">
                <a:latin typeface="+mj-lt"/>
              </a:rPr>
              <a:t>You fix a small bug in Payment module</a:t>
            </a:r>
          </a:p>
          <a:p>
            <a:r>
              <a:rPr lang="en-US" sz="2400" dirty="0">
                <a:latin typeface="+mj-lt"/>
              </a:rPr>
              <a:t>You must:</a:t>
            </a:r>
          </a:p>
          <a:p>
            <a:pPr lvl="1"/>
            <a:r>
              <a:rPr lang="en-US" sz="2000" dirty="0">
                <a:latin typeface="+mj-lt"/>
              </a:rPr>
              <a:t>Rebuild entire application</a:t>
            </a:r>
          </a:p>
          <a:p>
            <a:pPr lvl="1"/>
            <a:r>
              <a:rPr lang="en-US" sz="2000" dirty="0">
                <a:latin typeface="+mj-lt"/>
              </a:rPr>
              <a:t>Redeploy the whole JAR</a:t>
            </a:r>
          </a:p>
          <a:p>
            <a:pPr lvl="1"/>
            <a:r>
              <a:rPr lang="en-US" sz="2000" dirty="0">
                <a:latin typeface="+mj-lt"/>
              </a:rPr>
              <a:t>Restart the server</a:t>
            </a:r>
          </a:p>
          <a:p>
            <a:r>
              <a:rPr lang="en-US" sz="2400" dirty="0">
                <a:latin typeface="+mj-lt"/>
              </a:rPr>
              <a:t>Problems</a:t>
            </a:r>
          </a:p>
          <a:p>
            <a:pPr lvl="1"/>
            <a:r>
              <a:rPr lang="en-US" sz="2000" dirty="0">
                <a:latin typeface="+mj-lt"/>
              </a:rPr>
              <a:t>Downtime during redeployment</a:t>
            </a:r>
          </a:p>
          <a:p>
            <a:pPr lvl="1"/>
            <a:r>
              <a:rPr lang="en-US" sz="2000" dirty="0">
                <a:latin typeface="+mj-lt"/>
              </a:rPr>
              <a:t>Risky (one change affects whole system)</a:t>
            </a:r>
          </a:p>
          <a:p>
            <a:pPr lvl="1"/>
            <a:r>
              <a:rPr lang="en-US" sz="2000" dirty="0">
                <a:latin typeface="+mj-lt"/>
              </a:rPr>
              <a:t>Slower release cycles</a:t>
            </a:r>
          </a:p>
          <a:p>
            <a:endParaRPr lang="en-IN" sz="2400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610C5F-A383-99C8-15B5-932F1736DB41}"/>
              </a:ext>
            </a:extLst>
          </p:cNvPr>
          <p:cNvSpPr txBox="1"/>
          <p:nvPr/>
        </p:nvSpPr>
        <p:spPr>
          <a:xfrm>
            <a:off x="287677" y="718564"/>
            <a:ext cx="82398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latin typeface="+mj-lt"/>
              </a:rPr>
              <a:t>Process of </a:t>
            </a:r>
            <a:r>
              <a:rPr lang="en-US" sz="2400" dirty="0">
                <a:solidFill>
                  <a:srgbClr val="0000FF"/>
                </a:solidFill>
                <a:latin typeface="+mj-lt"/>
              </a:rPr>
              <a:t>releasing an application or service to a server </a:t>
            </a:r>
            <a:r>
              <a:rPr lang="en-US" sz="2400" dirty="0">
                <a:latin typeface="+mj-lt"/>
              </a:rPr>
              <a:t>so that users can access it.</a:t>
            </a:r>
          </a:p>
        </p:txBody>
      </p:sp>
    </p:spTree>
    <p:extLst>
      <p:ext uri="{BB962C8B-B14F-4D97-AF65-F5344CB8AC3E}">
        <p14:creationId xmlns:p14="http://schemas.microsoft.com/office/powerpoint/2010/main" val="860949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BD25D-4825-61EC-A8A0-C1637AA03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265B6-C896-F8CE-9402-4145BF191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483" y="142037"/>
            <a:ext cx="8938517" cy="539000"/>
          </a:xfrm>
        </p:spPr>
        <p:txBody>
          <a:bodyPr>
            <a:normAutofit fontScale="90000"/>
          </a:bodyPr>
          <a:lstStyle/>
          <a:p>
            <a:r>
              <a:rPr lang="en-IN" sz="2800" dirty="0"/>
              <a:t>Deployment - </a:t>
            </a:r>
            <a:r>
              <a:rPr lang="en-US" sz="2800" dirty="0">
                <a:solidFill>
                  <a:srgbClr val="C00000"/>
                </a:solidFill>
              </a:rPr>
              <a:t>Microservice Architecture: E-commerce Application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CF3EF-C663-0FD8-4433-E324E9D5D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94" y="1633592"/>
            <a:ext cx="4592547" cy="4774542"/>
          </a:xfrm>
        </p:spPr>
        <p:txBody>
          <a:bodyPr>
            <a:noAutofit/>
          </a:bodyPr>
          <a:lstStyle/>
          <a:p>
            <a:r>
              <a:rPr lang="en-US" sz="2400" dirty="0">
                <a:latin typeface="+mj-lt"/>
              </a:rPr>
              <a:t>Modules:</a:t>
            </a:r>
          </a:p>
          <a:p>
            <a:pPr lvl="1"/>
            <a:r>
              <a:rPr lang="en-US" sz="2000" dirty="0">
                <a:latin typeface="+mj-lt"/>
              </a:rPr>
              <a:t>User</a:t>
            </a:r>
          </a:p>
          <a:p>
            <a:pPr lvl="1"/>
            <a:r>
              <a:rPr lang="en-US" sz="2000" dirty="0">
                <a:latin typeface="+mj-lt"/>
              </a:rPr>
              <a:t>Product</a:t>
            </a:r>
          </a:p>
          <a:p>
            <a:pPr lvl="1"/>
            <a:r>
              <a:rPr lang="en-US" sz="2000" dirty="0">
                <a:latin typeface="+mj-lt"/>
              </a:rPr>
              <a:t>Order</a:t>
            </a:r>
          </a:p>
          <a:p>
            <a:pPr lvl="1"/>
            <a:r>
              <a:rPr lang="en-US" sz="2000" dirty="0">
                <a:latin typeface="+mj-lt"/>
              </a:rPr>
              <a:t>Payment</a:t>
            </a:r>
          </a:p>
          <a:p>
            <a:r>
              <a:rPr lang="en-US" sz="2400" dirty="0">
                <a:latin typeface="+mj-lt"/>
              </a:rPr>
              <a:t>Each service is independent</a:t>
            </a:r>
          </a:p>
          <a:p>
            <a:r>
              <a:rPr lang="en-US" sz="2400" dirty="0">
                <a:latin typeface="+mj-lt"/>
              </a:rPr>
              <a:t>How Deployment Works</a:t>
            </a:r>
          </a:p>
          <a:p>
            <a:r>
              <a:rPr lang="en-US" sz="2000" dirty="0">
                <a:latin typeface="+mj-lt"/>
              </a:rPr>
              <a:t>Each service has:</a:t>
            </a:r>
          </a:p>
          <a:p>
            <a:pPr lvl="1"/>
            <a:r>
              <a:rPr lang="en-US" sz="1800" dirty="0">
                <a:latin typeface="+mj-lt"/>
              </a:rPr>
              <a:t>Its own codebase</a:t>
            </a:r>
          </a:p>
          <a:p>
            <a:pPr lvl="1"/>
            <a:r>
              <a:rPr lang="en-US" sz="1800" dirty="0">
                <a:latin typeface="+mj-lt"/>
              </a:rPr>
              <a:t>Its own build</a:t>
            </a:r>
          </a:p>
          <a:p>
            <a:pPr lvl="1"/>
            <a:r>
              <a:rPr lang="en-US" sz="1800" dirty="0">
                <a:latin typeface="+mj-lt"/>
              </a:rPr>
              <a:t>Its own deployment pipeline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C00000"/>
                </a:solidFill>
                <a:latin typeface="+mj-lt"/>
              </a:rPr>
              <a:t>user-service.jar, product-service.jar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C00000"/>
                </a:solidFill>
                <a:latin typeface="+mj-lt"/>
              </a:rPr>
              <a:t>order-service.jar, payment-service.jar</a:t>
            </a:r>
          </a:p>
          <a:p>
            <a:pPr marL="457200" lvl="1" indent="0">
              <a:buNone/>
            </a:pPr>
            <a:endParaRPr lang="en-IN" sz="2400" dirty="0">
              <a:latin typeface="+mj-lt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28CBA50-E57C-5803-2B90-22BAEF377A47}"/>
              </a:ext>
            </a:extLst>
          </p:cNvPr>
          <p:cNvSpPr txBox="1">
            <a:spLocks/>
          </p:cNvSpPr>
          <p:nvPr/>
        </p:nvSpPr>
        <p:spPr>
          <a:xfrm>
            <a:off x="4539467" y="1402422"/>
            <a:ext cx="4522339" cy="47745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+mj-lt"/>
              </a:rPr>
              <a:t>Example Scenario</a:t>
            </a:r>
          </a:p>
          <a:p>
            <a:r>
              <a:rPr lang="en-US" sz="2400" dirty="0">
                <a:latin typeface="+mj-lt"/>
              </a:rPr>
              <a:t>Bug fix in Payment Service</a:t>
            </a:r>
          </a:p>
          <a:p>
            <a:r>
              <a:rPr lang="en-US" sz="2400" dirty="0">
                <a:latin typeface="+mj-lt"/>
              </a:rPr>
              <a:t>Only payment-service.jar is redeployed</a:t>
            </a:r>
          </a:p>
          <a:p>
            <a:r>
              <a:rPr lang="en-US" sz="2400" dirty="0">
                <a:latin typeface="+mj-lt"/>
              </a:rPr>
              <a:t>Other services continue running</a:t>
            </a:r>
          </a:p>
          <a:p>
            <a:r>
              <a:rPr lang="en-US" sz="2400" dirty="0">
                <a:latin typeface="+mj-lt"/>
              </a:rPr>
              <a:t>Benefits</a:t>
            </a:r>
          </a:p>
          <a:p>
            <a:pPr lvl="1"/>
            <a:r>
              <a:rPr lang="en-US" sz="2000" dirty="0">
                <a:latin typeface="+mj-lt"/>
              </a:rPr>
              <a:t>No system-wide downtime</a:t>
            </a:r>
          </a:p>
          <a:p>
            <a:pPr lvl="1"/>
            <a:r>
              <a:rPr lang="en-US" sz="2000" dirty="0">
                <a:latin typeface="+mj-lt"/>
              </a:rPr>
              <a:t>Faster and safer releases</a:t>
            </a:r>
          </a:p>
          <a:p>
            <a:pPr lvl="1"/>
            <a:r>
              <a:rPr lang="en-US" sz="2000" dirty="0">
                <a:latin typeface="+mj-lt"/>
              </a:rPr>
              <a:t>Continuous deployment possible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3DE6BA-DAFD-221F-95AC-20644D731C58}"/>
              </a:ext>
            </a:extLst>
          </p:cNvPr>
          <p:cNvSpPr txBox="1"/>
          <p:nvPr/>
        </p:nvSpPr>
        <p:spPr>
          <a:xfrm>
            <a:off x="287677" y="718564"/>
            <a:ext cx="82398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latin typeface="+mj-lt"/>
              </a:rPr>
              <a:t>Process of </a:t>
            </a:r>
            <a:r>
              <a:rPr lang="en-US" sz="2400" dirty="0">
                <a:solidFill>
                  <a:srgbClr val="0000FF"/>
                </a:solidFill>
                <a:latin typeface="+mj-lt"/>
              </a:rPr>
              <a:t>releasing an application or service to a server </a:t>
            </a:r>
            <a:r>
              <a:rPr lang="en-US" sz="2400" dirty="0">
                <a:latin typeface="+mj-lt"/>
              </a:rPr>
              <a:t>so that users can access it.</a:t>
            </a:r>
          </a:p>
        </p:txBody>
      </p:sp>
    </p:spTree>
    <p:extLst>
      <p:ext uri="{BB962C8B-B14F-4D97-AF65-F5344CB8AC3E}">
        <p14:creationId xmlns:p14="http://schemas.microsoft.com/office/powerpoint/2010/main" val="84810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93BC2-9541-E534-73C2-C33E58E44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94" y="1818523"/>
            <a:ext cx="4592548" cy="4897439"/>
          </a:xfrm>
        </p:spPr>
        <p:txBody>
          <a:bodyPr>
            <a:noAutofit/>
          </a:bodyPr>
          <a:lstStyle/>
          <a:p>
            <a:r>
              <a:rPr lang="en-US" sz="2000" dirty="0">
                <a:latin typeface="+mj-lt"/>
              </a:rPr>
              <a:t>Modules:</a:t>
            </a:r>
          </a:p>
          <a:p>
            <a:pPr lvl="1"/>
            <a:r>
              <a:rPr lang="en-US" sz="2000" dirty="0">
                <a:latin typeface="+mj-lt"/>
              </a:rPr>
              <a:t>User</a:t>
            </a:r>
          </a:p>
          <a:p>
            <a:pPr lvl="1"/>
            <a:r>
              <a:rPr lang="en-US" sz="2000" dirty="0">
                <a:latin typeface="+mj-lt"/>
              </a:rPr>
              <a:t>Product</a:t>
            </a:r>
          </a:p>
          <a:p>
            <a:pPr lvl="1"/>
            <a:r>
              <a:rPr lang="en-US" sz="2000" dirty="0">
                <a:latin typeface="+mj-lt"/>
              </a:rPr>
              <a:t>Order</a:t>
            </a:r>
          </a:p>
          <a:p>
            <a:pPr lvl="1"/>
            <a:r>
              <a:rPr lang="en-US" sz="2000" dirty="0">
                <a:latin typeface="+mj-lt"/>
              </a:rPr>
              <a:t>Payment</a:t>
            </a:r>
          </a:p>
          <a:p>
            <a:r>
              <a:rPr lang="en-US" sz="2000" dirty="0">
                <a:latin typeface="+mj-lt"/>
              </a:rPr>
              <a:t>Suppose during a festival sale:</a:t>
            </a:r>
          </a:p>
          <a:p>
            <a:pPr lvl="1"/>
            <a:r>
              <a:rPr lang="en-US" sz="2000" dirty="0">
                <a:latin typeface="+mj-lt"/>
              </a:rPr>
              <a:t>Product browsing traffic increases heavily</a:t>
            </a:r>
          </a:p>
          <a:p>
            <a:pPr lvl="1"/>
            <a:r>
              <a:rPr lang="en-US" sz="2000" dirty="0">
                <a:latin typeface="+mj-lt"/>
              </a:rPr>
              <a:t>Order and Payment traffic remain normal</a:t>
            </a:r>
          </a:p>
          <a:p>
            <a:r>
              <a:rPr lang="en-US" sz="2000" dirty="0">
                <a:latin typeface="+mj-lt"/>
              </a:rPr>
              <a:t>How Scaling Works</a:t>
            </a:r>
          </a:p>
          <a:p>
            <a:pPr lvl="1"/>
            <a:r>
              <a:rPr lang="en-US" sz="2000" dirty="0">
                <a:latin typeface="+mj-lt"/>
              </a:rPr>
              <a:t>cannot scale Product module alone</a:t>
            </a:r>
          </a:p>
          <a:p>
            <a:pPr lvl="1"/>
            <a:r>
              <a:rPr lang="en-US" sz="2000" dirty="0">
                <a:latin typeface="+mj-lt"/>
              </a:rPr>
              <a:t>must scale the entire application</a:t>
            </a:r>
            <a:endParaRPr lang="en-IN" sz="2000" dirty="0">
              <a:latin typeface="+mj-lt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C272043-E380-9C13-35D0-E7CDAB756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483" y="142037"/>
            <a:ext cx="8938517" cy="539000"/>
          </a:xfrm>
        </p:spPr>
        <p:txBody>
          <a:bodyPr>
            <a:normAutofit/>
          </a:bodyPr>
          <a:lstStyle/>
          <a:p>
            <a:r>
              <a:rPr lang="en-IN" sz="2800" dirty="0"/>
              <a:t>Scalability - </a:t>
            </a:r>
            <a:r>
              <a:rPr lang="en-US" sz="2800" dirty="0">
                <a:solidFill>
                  <a:srgbClr val="C00000"/>
                </a:solidFill>
              </a:rPr>
              <a:t>Monolithic Architecture: E-commerce Application</a:t>
            </a:r>
            <a:endParaRPr lang="en-IN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8A7A4B-EF61-518C-559B-120AF07FEE00}"/>
              </a:ext>
            </a:extLst>
          </p:cNvPr>
          <p:cNvSpPr txBox="1"/>
          <p:nvPr/>
        </p:nvSpPr>
        <p:spPr>
          <a:xfrm>
            <a:off x="256855" y="848492"/>
            <a:ext cx="88255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+mj-lt"/>
              </a:rPr>
              <a:t>Scalability is the ability of a system to handle increased load (users, requests, data) by adding resources without performance degradation.</a:t>
            </a:r>
            <a:endParaRPr lang="en-IN" sz="2000" dirty="0">
              <a:latin typeface="+mj-lt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7E53CD9-077D-9513-7441-7EDCF4CB663D}"/>
              </a:ext>
            </a:extLst>
          </p:cNvPr>
          <p:cNvSpPr txBox="1">
            <a:spLocks/>
          </p:cNvSpPr>
          <p:nvPr/>
        </p:nvSpPr>
        <p:spPr>
          <a:xfrm>
            <a:off x="4859890" y="1960647"/>
            <a:ext cx="3996433" cy="35365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+mj-lt"/>
              </a:rPr>
              <a:t>Solution:</a:t>
            </a:r>
          </a:p>
          <a:p>
            <a:pPr lvl="1"/>
            <a:r>
              <a:rPr lang="en-US" sz="2000" dirty="0">
                <a:latin typeface="+mj-lt"/>
              </a:rPr>
              <a:t>Deploy multiple instances of the same monolithic app</a:t>
            </a:r>
          </a:p>
          <a:p>
            <a:pPr lvl="1"/>
            <a:r>
              <a:rPr lang="en-US" sz="2000" dirty="0">
                <a:latin typeface="+mj-lt"/>
              </a:rPr>
              <a:t>Use a load balancer</a:t>
            </a:r>
          </a:p>
          <a:p>
            <a:r>
              <a:rPr lang="en-US" sz="2000" dirty="0">
                <a:latin typeface="+mj-lt"/>
              </a:rPr>
              <a:t>Problem</a:t>
            </a:r>
          </a:p>
          <a:p>
            <a:pPr lvl="1"/>
            <a:r>
              <a:rPr lang="en-US" sz="2000" dirty="0">
                <a:latin typeface="+mj-lt"/>
              </a:rPr>
              <a:t>Wastes resources (scaling unused modules)</a:t>
            </a:r>
          </a:p>
          <a:p>
            <a:pPr lvl="1"/>
            <a:r>
              <a:rPr lang="en-US" sz="2000" dirty="0">
                <a:latin typeface="+mj-lt"/>
              </a:rPr>
              <a:t>Higher cost</a:t>
            </a:r>
          </a:p>
          <a:p>
            <a:pPr lvl="1"/>
            <a:r>
              <a:rPr lang="en-US" sz="2000" dirty="0">
                <a:latin typeface="+mj-lt"/>
              </a:rPr>
              <a:t>Performance bottlenecks remain</a:t>
            </a:r>
          </a:p>
          <a:p>
            <a:endParaRPr lang="en-IN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47636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025E4-8623-20F3-0497-B5C5D6976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797" y="200268"/>
            <a:ext cx="8568646" cy="446531"/>
          </a:xfrm>
        </p:spPr>
        <p:txBody>
          <a:bodyPr>
            <a:noAutofit/>
          </a:bodyPr>
          <a:lstStyle/>
          <a:p>
            <a:br>
              <a:rPr lang="en-IN" sz="2800" dirty="0"/>
            </a:br>
            <a:br>
              <a:rPr lang="en-IN" sz="2800" dirty="0"/>
            </a:br>
            <a:r>
              <a:rPr lang="en-IN" sz="2800" dirty="0"/>
              <a:t>Load balancing - </a:t>
            </a:r>
            <a:r>
              <a:rPr lang="en-US" sz="2800" dirty="0"/>
              <a:t>Example: E-commerce Application</a:t>
            </a:r>
            <a:br>
              <a:rPr lang="en-US" sz="2800" dirty="0"/>
            </a:br>
            <a:br>
              <a:rPr lang="en-IN" sz="2800" dirty="0"/>
            </a:b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7E8E0-5048-3423-3435-ADF409FE8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55" y="1787703"/>
            <a:ext cx="7212457" cy="4572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+mj-lt"/>
              </a:rPr>
              <a:t>Scenario</a:t>
            </a:r>
          </a:p>
          <a:p>
            <a:r>
              <a:rPr lang="en-US" sz="2400" dirty="0">
                <a:latin typeface="+mj-lt"/>
              </a:rPr>
              <a:t>During a festival sale:</a:t>
            </a:r>
          </a:p>
          <a:p>
            <a:pPr lvl="1"/>
            <a:r>
              <a:rPr lang="en-US" dirty="0">
                <a:latin typeface="+mj-lt"/>
              </a:rPr>
              <a:t>Thousands of users browse products</a:t>
            </a:r>
          </a:p>
          <a:p>
            <a:pPr lvl="1"/>
            <a:r>
              <a:rPr lang="en-US" dirty="0">
                <a:latin typeface="+mj-lt"/>
              </a:rPr>
              <a:t>You run 3 instances of Product Service</a:t>
            </a:r>
          </a:p>
          <a:p>
            <a:pPr marL="1371600" lvl="3" indent="0">
              <a:buNone/>
            </a:pPr>
            <a:r>
              <a:rPr lang="en-US" sz="2400" dirty="0">
                <a:latin typeface="+mj-lt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+mj-lt"/>
              </a:rPr>
              <a:t>User Requests</a:t>
            </a:r>
          </a:p>
          <a:p>
            <a:pPr marL="1371600" lvl="3" indent="0">
              <a:buNone/>
            </a:pPr>
            <a:r>
              <a:rPr lang="en-US" sz="2400" dirty="0">
                <a:solidFill>
                  <a:srgbClr val="0000FF"/>
                </a:solidFill>
                <a:latin typeface="+mj-lt"/>
              </a:rPr>
              <a:t>       |</a:t>
            </a:r>
          </a:p>
          <a:p>
            <a:pPr marL="1371600" lvl="3" indent="0">
              <a:buNone/>
            </a:pPr>
            <a:r>
              <a:rPr lang="en-US" sz="2400" dirty="0">
                <a:solidFill>
                  <a:srgbClr val="0000FF"/>
                </a:solidFill>
                <a:latin typeface="+mj-lt"/>
              </a:rPr>
              <a:t>  Load Balancer</a:t>
            </a:r>
          </a:p>
          <a:p>
            <a:pPr marL="1371600" lvl="3" indent="0">
              <a:buNone/>
            </a:pPr>
            <a:r>
              <a:rPr lang="en-US" sz="2400" dirty="0">
                <a:solidFill>
                  <a:srgbClr val="0000FF"/>
                </a:solidFill>
                <a:latin typeface="+mj-lt"/>
              </a:rPr>
              <a:t>   /     |     \</a:t>
            </a:r>
          </a:p>
          <a:p>
            <a:pPr marL="1371600" lvl="3" indent="0">
              <a:buNone/>
            </a:pPr>
            <a:r>
              <a:rPr lang="en-US" sz="2400" dirty="0">
                <a:solidFill>
                  <a:srgbClr val="0000FF"/>
                </a:solidFill>
                <a:latin typeface="+mj-lt"/>
              </a:rPr>
              <a:t>PS-1   PS-2   PS-3</a:t>
            </a:r>
          </a:p>
          <a:p>
            <a:r>
              <a:rPr lang="en-US" sz="2400" dirty="0">
                <a:latin typeface="+mj-lt"/>
              </a:rPr>
              <a:t>What the Load Balancer Does</a:t>
            </a:r>
          </a:p>
          <a:p>
            <a:pPr lvl="1"/>
            <a:r>
              <a:rPr lang="en-US" dirty="0">
                <a:latin typeface="+mj-lt"/>
              </a:rPr>
              <a:t>Receives all incoming requests</a:t>
            </a:r>
          </a:p>
          <a:p>
            <a:pPr lvl="1"/>
            <a:r>
              <a:rPr lang="en-US" dirty="0">
                <a:latin typeface="+mj-lt"/>
              </a:rPr>
              <a:t>Forwards each request to a healthy instance</a:t>
            </a:r>
          </a:p>
          <a:p>
            <a:pPr lvl="1"/>
            <a:r>
              <a:rPr lang="en-US" dirty="0">
                <a:latin typeface="+mj-lt"/>
              </a:rPr>
              <a:t>Ensures no instance is overloaded</a:t>
            </a:r>
          </a:p>
          <a:p>
            <a:endParaRPr lang="en-IN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7BFA08-6F6F-4DCB-9667-F50ED4B998EC}"/>
              </a:ext>
            </a:extLst>
          </p:cNvPr>
          <p:cNvSpPr txBox="1"/>
          <p:nvPr/>
        </p:nvSpPr>
        <p:spPr>
          <a:xfrm>
            <a:off x="462337" y="811657"/>
            <a:ext cx="84781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+mj-lt"/>
              </a:rPr>
              <a:t>A load balancer is a component that distributes incoming client requests across multiple server or service instances so that no single instance is overloaded.</a:t>
            </a:r>
            <a:endParaRPr lang="en-IN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55277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85A40-C120-E36A-49E2-59D287599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854" y="914400"/>
            <a:ext cx="4530904" cy="3493213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+mj-lt"/>
              </a:rPr>
              <a:t>Same Example Split into Services</a:t>
            </a:r>
          </a:p>
          <a:p>
            <a:pPr lvl="1"/>
            <a:r>
              <a:rPr lang="en-US" sz="2200" dirty="0">
                <a:latin typeface="+mj-lt"/>
              </a:rPr>
              <a:t>User Service</a:t>
            </a:r>
          </a:p>
          <a:p>
            <a:pPr lvl="1"/>
            <a:r>
              <a:rPr lang="en-US" sz="2200" dirty="0">
                <a:latin typeface="+mj-lt"/>
              </a:rPr>
              <a:t>Product Service</a:t>
            </a:r>
          </a:p>
          <a:p>
            <a:pPr lvl="1"/>
            <a:r>
              <a:rPr lang="en-US" sz="2200" dirty="0">
                <a:latin typeface="+mj-lt"/>
              </a:rPr>
              <a:t>Order Service</a:t>
            </a:r>
          </a:p>
          <a:p>
            <a:pPr lvl="1"/>
            <a:r>
              <a:rPr lang="en-US" sz="2200" dirty="0">
                <a:latin typeface="+mj-lt"/>
              </a:rPr>
              <a:t>Payment Service</a:t>
            </a:r>
          </a:p>
          <a:p>
            <a:r>
              <a:rPr lang="en-US" sz="2200" dirty="0">
                <a:latin typeface="+mj-lt"/>
              </a:rPr>
              <a:t>Festival Sale Scenario</a:t>
            </a:r>
          </a:p>
          <a:p>
            <a:pPr lvl="1"/>
            <a:r>
              <a:rPr lang="en-US" sz="2200" dirty="0">
                <a:latin typeface="+mj-lt"/>
              </a:rPr>
              <a:t>Product Service gets 10× traffic</a:t>
            </a:r>
          </a:p>
          <a:p>
            <a:pPr lvl="1"/>
            <a:r>
              <a:rPr lang="en-US" sz="2200" dirty="0">
                <a:latin typeface="+mj-lt"/>
              </a:rPr>
              <a:t>Other services get normal traffic</a:t>
            </a:r>
          </a:p>
          <a:p>
            <a:endParaRPr lang="en-IN" sz="2200" dirty="0">
              <a:latin typeface="+mj-lt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926CB0F-5301-5A77-036C-8040B0102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483" y="131763"/>
            <a:ext cx="8938517" cy="539000"/>
          </a:xfrm>
        </p:spPr>
        <p:txBody>
          <a:bodyPr>
            <a:normAutofit fontScale="90000"/>
          </a:bodyPr>
          <a:lstStyle/>
          <a:p>
            <a:r>
              <a:rPr lang="en-IN" sz="2800" dirty="0"/>
              <a:t>Scalability - </a:t>
            </a:r>
            <a:r>
              <a:rPr lang="en-US" sz="2800" dirty="0">
                <a:solidFill>
                  <a:srgbClr val="C00000"/>
                </a:solidFill>
              </a:rPr>
              <a:t>Microservice Architecture: E-commerce Application</a:t>
            </a:r>
            <a:endParaRPr lang="en-IN" sz="28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FC028CE-9DAA-F1AE-88AB-1FC8282A639F}"/>
              </a:ext>
            </a:extLst>
          </p:cNvPr>
          <p:cNvSpPr txBox="1">
            <a:spLocks/>
          </p:cNvSpPr>
          <p:nvPr/>
        </p:nvSpPr>
        <p:spPr>
          <a:xfrm>
            <a:off x="4787758" y="2176409"/>
            <a:ext cx="4253500" cy="3361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>
                <a:latin typeface="+mj-lt"/>
              </a:rPr>
              <a:t>How Scaling Works</a:t>
            </a:r>
          </a:p>
          <a:p>
            <a:pPr lvl="1"/>
            <a:r>
              <a:rPr lang="en-US" sz="1800" dirty="0">
                <a:latin typeface="+mj-lt"/>
              </a:rPr>
              <a:t>Scale only Product Service</a:t>
            </a:r>
          </a:p>
          <a:p>
            <a:pPr lvl="1"/>
            <a:r>
              <a:rPr lang="en-US" sz="1800" dirty="0">
                <a:latin typeface="+mj-lt"/>
              </a:rPr>
              <a:t>Deploy more instances of Product Service</a:t>
            </a:r>
          </a:p>
          <a:p>
            <a:pPr lvl="1"/>
            <a:r>
              <a:rPr lang="en-US" sz="1800" dirty="0">
                <a:latin typeface="+mj-lt"/>
              </a:rPr>
              <a:t>No need to scale Order or Payment services</a:t>
            </a:r>
          </a:p>
          <a:p>
            <a:r>
              <a:rPr lang="en-US" sz="2200" dirty="0">
                <a:latin typeface="+mj-lt"/>
              </a:rPr>
              <a:t>Benefit</a:t>
            </a:r>
          </a:p>
          <a:p>
            <a:pPr lvl="1"/>
            <a:r>
              <a:rPr lang="en-US" sz="1800" dirty="0">
                <a:latin typeface="+mj-lt"/>
              </a:rPr>
              <a:t>Efficient resource usage</a:t>
            </a:r>
          </a:p>
          <a:p>
            <a:pPr lvl="1"/>
            <a:r>
              <a:rPr lang="en-US" sz="1800" dirty="0">
                <a:latin typeface="+mj-lt"/>
              </a:rPr>
              <a:t>Lower cost</a:t>
            </a:r>
          </a:p>
          <a:p>
            <a:pPr lvl="1"/>
            <a:r>
              <a:rPr lang="en-US" sz="1800" dirty="0">
                <a:latin typeface="+mj-lt"/>
              </a:rPr>
              <a:t>Better performance</a:t>
            </a:r>
          </a:p>
          <a:p>
            <a:endParaRPr lang="en-IN" sz="2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538958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71946-60EF-FF68-E2BD-839213A6D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56E89-F612-B737-0EC9-076CA9F378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525" y="2113044"/>
            <a:ext cx="4849402" cy="47055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>
                <a:latin typeface="+mj-lt"/>
              </a:rPr>
              <a:t> Tight Coupling (Monolithic Architecture)</a:t>
            </a:r>
          </a:p>
          <a:p>
            <a:pPr lvl="1"/>
            <a:r>
              <a:rPr lang="en-US" sz="2200" dirty="0">
                <a:latin typeface="+mj-lt"/>
              </a:rPr>
              <a:t>Modules:</a:t>
            </a:r>
          </a:p>
          <a:p>
            <a:pPr lvl="2"/>
            <a:r>
              <a:rPr lang="en-US" sz="1800" dirty="0">
                <a:latin typeface="+mj-lt"/>
              </a:rPr>
              <a:t>User Management</a:t>
            </a:r>
          </a:p>
          <a:p>
            <a:pPr lvl="2"/>
            <a:r>
              <a:rPr lang="en-US" sz="1800" dirty="0">
                <a:latin typeface="+mj-lt"/>
              </a:rPr>
              <a:t>Product Catalog</a:t>
            </a:r>
          </a:p>
          <a:p>
            <a:pPr lvl="2"/>
            <a:r>
              <a:rPr lang="en-US" sz="1800" dirty="0">
                <a:latin typeface="+mj-lt"/>
              </a:rPr>
              <a:t>Order Processing</a:t>
            </a:r>
          </a:p>
          <a:p>
            <a:pPr lvl="2"/>
            <a:r>
              <a:rPr lang="en-US" sz="1800" dirty="0">
                <a:latin typeface="+mj-lt"/>
              </a:rPr>
              <a:t>Payment</a:t>
            </a:r>
          </a:p>
          <a:p>
            <a:r>
              <a:rPr lang="en-US" sz="2200" dirty="0">
                <a:latin typeface="+mj-lt"/>
              </a:rPr>
              <a:t>All are inside one application.</a:t>
            </a:r>
          </a:p>
          <a:p>
            <a:r>
              <a:rPr lang="en-US" sz="2200" dirty="0">
                <a:latin typeface="+mj-lt"/>
              </a:rPr>
              <a:t>How Tight Coupling Happens</a:t>
            </a:r>
          </a:p>
          <a:p>
            <a:pPr marL="0" indent="0">
              <a:buNone/>
            </a:pPr>
            <a:r>
              <a:rPr lang="en-US" sz="2200" dirty="0">
                <a:latin typeface="+mj-lt"/>
              </a:rPr>
              <a:t>1. Direct method calls</a:t>
            </a:r>
          </a:p>
          <a:p>
            <a:pPr lvl="1"/>
            <a:r>
              <a:rPr lang="en-US" sz="2200" dirty="0" err="1">
                <a:latin typeface="+mj-lt"/>
              </a:rPr>
              <a:t>OrderService</a:t>
            </a:r>
            <a:r>
              <a:rPr lang="en-US" sz="2200" dirty="0">
                <a:latin typeface="+mj-lt"/>
              </a:rPr>
              <a:t> </a:t>
            </a:r>
            <a:r>
              <a:rPr lang="en-US" sz="2200" dirty="0" err="1">
                <a:latin typeface="+mj-lt"/>
              </a:rPr>
              <a:t>orderService</a:t>
            </a:r>
            <a:r>
              <a:rPr lang="en-US" sz="2200" dirty="0">
                <a:latin typeface="+mj-lt"/>
              </a:rPr>
              <a:t> = new </a:t>
            </a:r>
            <a:r>
              <a:rPr lang="en-US" sz="2200" dirty="0" err="1">
                <a:latin typeface="+mj-lt"/>
              </a:rPr>
              <a:t>OrderService</a:t>
            </a:r>
            <a:r>
              <a:rPr lang="en-US" sz="2200" dirty="0">
                <a:latin typeface="+mj-lt"/>
              </a:rPr>
              <a:t>();</a:t>
            </a:r>
          </a:p>
          <a:p>
            <a:pPr lvl="1"/>
            <a:r>
              <a:rPr lang="en-US" sz="2200" dirty="0" err="1">
                <a:latin typeface="+mj-lt"/>
              </a:rPr>
              <a:t>orderService.createOrder</a:t>
            </a:r>
            <a:r>
              <a:rPr lang="en-US" sz="2200" dirty="0">
                <a:latin typeface="+mj-lt"/>
              </a:rPr>
              <a:t>();</a:t>
            </a:r>
          </a:p>
          <a:p>
            <a:endParaRPr lang="en-IN" sz="2200" dirty="0">
              <a:latin typeface="+mj-lt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F067C22-7FA4-6960-0F82-E3B86E638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483" y="142037"/>
            <a:ext cx="8938517" cy="539000"/>
          </a:xfrm>
        </p:spPr>
        <p:txBody>
          <a:bodyPr>
            <a:normAutofit/>
          </a:bodyPr>
          <a:lstStyle/>
          <a:p>
            <a:r>
              <a:rPr lang="en-IN" sz="2800" dirty="0"/>
              <a:t>Coupling - </a:t>
            </a:r>
            <a:r>
              <a:rPr lang="en-US" sz="2800" dirty="0">
                <a:solidFill>
                  <a:srgbClr val="C00000"/>
                </a:solidFill>
              </a:rPr>
              <a:t>Monolithic Architecture: E-commerce Application</a:t>
            </a:r>
            <a:endParaRPr lang="en-IN" sz="2800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76C44AA-1B79-B494-3FAA-31C1F85BC45C}"/>
              </a:ext>
            </a:extLst>
          </p:cNvPr>
          <p:cNvSpPr txBox="1">
            <a:spLocks/>
          </p:cNvSpPr>
          <p:nvPr/>
        </p:nvSpPr>
        <p:spPr>
          <a:xfrm>
            <a:off x="5183313" y="1586964"/>
            <a:ext cx="3575407" cy="5128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latin typeface="+mj-lt"/>
              </a:rPr>
              <a:t>2. Shared database</a:t>
            </a:r>
          </a:p>
          <a:p>
            <a:pPr lvl="1"/>
            <a:r>
              <a:rPr lang="en-US" sz="2200" dirty="0">
                <a:latin typeface="+mj-lt"/>
              </a:rPr>
              <a:t>All modules access the same tables</a:t>
            </a:r>
          </a:p>
          <a:p>
            <a:pPr lvl="1"/>
            <a:r>
              <a:rPr lang="en-US" sz="2200" dirty="0">
                <a:latin typeface="+mj-lt"/>
              </a:rPr>
              <a:t>A schema change affects every module</a:t>
            </a:r>
          </a:p>
          <a:p>
            <a:pPr marL="0" indent="0">
              <a:buNone/>
            </a:pPr>
            <a:r>
              <a:rPr lang="en-US" sz="2200" dirty="0">
                <a:latin typeface="+mj-lt"/>
              </a:rPr>
              <a:t>3. Single deployment</a:t>
            </a:r>
          </a:p>
          <a:p>
            <a:pPr lvl="1"/>
            <a:r>
              <a:rPr lang="en-US" sz="2200" dirty="0">
                <a:latin typeface="+mj-lt"/>
              </a:rPr>
              <a:t>Changing Payment module → redeploy entire application</a:t>
            </a:r>
          </a:p>
          <a:p>
            <a:r>
              <a:rPr lang="en-US" sz="2200" dirty="0">
                <a:latin typeface="+mj-lt"/>
              </a:rPr>
              <a:t>Result</a:t>
            </a:r>
          </a:p>
          <a:p>
            <a:pPr lvl="1"/>
            <a:r>
              <a:rPr lang="en-US" sz="2200" dirty="0">
                <a:latin typeface="+mj-lt"/>
              </a:rPr>
              <a:t>Order module cannot work independently</a:t>
            </a:r>
          </a:p>
          <a:p>
            <a:pPr lvl="1"/>
            <a:r>
              <a:rPr lang="en-US" sz="2200" dirty="0">
                <a:latin typeface="+mj-lt"/>
              </a:rPr>
              <a:t>Any change in one module affects others</a:t>
            </a:r>
          </a:p>
          <a:p>
            <a:endParaRPr lang="en-IN" sz="22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B6554D-D6C5-8EF7-D9E8-2475DC9F4280}"/>
              </a:ext>
            </a:extLst>
          </p:cNvPr>
          <p:cNvSpPr txBox="1"/>
          <p:nvPr/>
        </p:nvSpPr>
        <p:spPr>
          <a:xfrm>
            <a:off x="226033" y="666494"/>
            <a:ext cx="868166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0000FF"/>
                </a:solidFill>
              </a:rPr>
              <a:t>Coupling refers to how strongly one component/service depends on another.</a:t>
            </a:r>
          </a:p>
          <a:p>
            <a:r>
              <a:rPr lang="en-US" sz="2200" dirty="0">
                <a:solidFill>
                  <a:srgbClr val="0000FF"/>
                </a:solidFill>
              </a:rPr>
              <a:t>Tight coupling → strong dependency</a:t>
            </a:r>
          </a:p>
          <a:p>
            <a:r>
              <a:rPr lang="en-US" sz="2200" dirty="0">
                <a:solidFill>
                  <a:srgbClr val="0000FF"/>
                </a:solidFill>
              </a:rPr>
              <a:t>Loose coupling → minimal dependency</a:t>
            </a:r>
            <a:endParaRPr lang="en-IN" sz="22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0611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BA515-0EE0-5822-FD16-BFA0CCAF2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483" y="1047964"/>
            <a:ext cx="4520629" cy="5517223"/>
          </a:xfrm>
        </p:spPr>
        <p:txBody>
          <a:bodyPr>
            <a:noAutofit/>
          </a:bodyPr>
          <a:lstStyle/>
          <a:p>
            <a:r>
              <a:rPr lang="en-US" sz="2200" dirty="0">
                <a:latin typeface="+mj-lt"/>
              </a:rPr>
              <a:t>Loose Coupling (Microservices Architecture)</a:t>
            </a:r>
          </a:p>
          <a:p>
            <a:r>
              <a:rPr lang="en-US" sz="2200" dirty="0">
                <a:latin typeface="+mj-lt"/>
              </a:rPr>
              <a:t>Same Example Split into Services</a:t>
            </a:r>
          </a:p>
          <a:p>
            <a:pPr lvl="1"/>
            <a:r>
              <a:rPr lang="en-US" sz="2200" dirty="0">
                <a:latin typeface="+mj-lt"/>
              </a:rPr>
              <a:t>User Service</a:t>
            </a:r>
          </a:p>
          <a:p>
            <a:pPr lvl="1"/>
            <a:r>
              <a:rPr lang="en-US" sz="2200" dirty="0">
                <a:latin typeface="+mj-lt"/>
              </a:rPr>
              <a:t>Product Service</a:t>
            </a:r>
          </a:p>
          <a:p>
            <a:pPr lvl="1"/>
            <a:r>
              <a:rPr lang="en-US" sz="2200" dirty="0">
                <a:latin typeface="+mj-lt"/>
              </a:rPr>
              <a:t>Order Service</a:t>
            </a:r>
          </a:p>
          <a:p>
            <a:pPr lvl="1"/>
            <a:r>
              <a:rPr lang="en-US" sz="2200" dirty="0">
                <a:latin typeface="+mj-lt"/>
              </a:rPr>
              <a:t>Payment Service</a:t>
            </a:r>
          </a:p>
          <a:p>
            <a:r>
              <a:rPr lang="en-US" sz="2200" dirty="0">
                <a:latin typeface="+mj-lt"/>
              </a:rPr>
              <a:t>Each is a separate application.</a:t>
            </a:r>
          </a:p>
          <a:p>
            <a:r>
              <a:rPr lang="en-US" sz="2200" dirty="0">
                <a:latin typeface="+mj-lt"/>
              </a:rPr>
              <a:t>How Loose Coupling is Achieved</a:t>
            </a:r>
          </a:p>
          <a:p>
            <a:pPr marL="0" indent="0">
              <a:buNone/>
            </a:pPr>
            <a:r>
              <a:rPr lang="en-US" sz="2200" dirty="0">
                <a:latin typeface="+mj-lt"/>
              </a:rPr>
              <a:t>1. Communication via APIs</a:t>
            </a:r>
          </a:p>
          <a:p>
            <a:pPr lvl="1"/>
            <a:r>
              <a:rPr lang="en-US" sz="2200" dirty="0">
                <a:latin typeface="+mj-lt"/>
              </a:rPr>
              <a:t>Order Service talks to Payment Service using REST:</a:t>
            </a:r>
          </a:p>
          <a:p>
            <a:pPr lvl="1"/>
            <a:r>
              <a:rPr lang="en-US" sz="2200" dirty="0">
                <a:latin typeface="+mj-lt"/>
              </a:rPr>
              <a:t>POST /payment/process</a:t>
            </a:r>
          </a:p>
          <a:p>
            <a:r>
              <a:rPr lang="en-US" sz="2200" dirty="0">
                <a:latin typeface="+mj-lt"/>
              </a:rPr>
              <a:t>No direct access to internal code.</a:t>
            </a:r>
          </a:p>
          <a:p>
            <a:pPr marL="0" indent="0">
              <a:buNone/>
            </a:pPr>
            <a:endParaRPr lang="en-IN" sz="2200" dirty="0">
              <a:latin typeface="+mj-lt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55EC3B0-4944-B133-6222-4F799C1E5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483" y="142037"/>
            <a:ext cx="8938517" cy="539000"/>
          </a:xfrm>
        </p:spPr>
        <p:txBody>
          <a:bodyPr>
            <a:normAutofit fontScale="90000"/>
          </a:bodyPr>
          <a:lstStyle/>
          <a:p>
            <a:r>
              <a:rPr lang="en-IN" sz="2800" dirty="0"/>
              <a:t>Coupling - </a:t>
            </a:r>
            <a:r>
              <a:rPr lang="en-US" sz="2800" dirty="0">
                <a:solidFill>
                  <a:srgbClr val="C00000"/>
                </a:solidFill>
              </a:rPr>
              <a:t>Microservice Architecture: E-commerce Application</a:t>
            </a:r>
            <a:endParaRPr lang="en-IN" sz="28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8A5345E-4DE7-7526-4E64-657743F78C74}"/>
              </a:ext>
            </a:extLst>
          </p:cNvPr>
          <p:cNvSpPr txBox="1">
            <a:spLocks/>
          </p:cNvSpPr>
          <p:nvPr/>
        </p:nvSpPr>
        <p:spPr>
          <a:xfrm>
            <a:off x="5197011" y="893854"/>
            <a:ext cx="3431569" cy="56679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latin typeface="+mj-lt"/>
              </a:rPr>
              <a:t>2. Independent Databases</a:t>
            </a:r>
          </a:p>
          <a:p>
            <a:pPr lvl="1"/>
            <a:r>
              <a:rPr lang="en-US" sz="1800" dirty="0">
                <a:latin typeface="+mj-lt"/>
              </a:rPr>
              <a:t>Order Service → Order DB</a:t>
            </a:r>
          </a:p>
          <a:p>
            <a:pPr lvl="1"/>
            <a:r>
              <a:rPr lang="en-US" sz="1800" dirty="0">
                <a:latin typeface="+mj-lt"/>
              </a:rPr>
              <a:t>Payment Service → Payment DB</a:t>
            </a:r>
          </a:p>
          <a:p>
            <a:pPr lvl="1"/>
            <a:r>
              <a:rPr lang="en-US" sz="1800" dirty="0">
                <a:latin typeface="+mj-lt"/>
              </a:rPr>
              <a:t>Schema changes in Payment DB do not affect Order Service.</a:t>
            </a:r>
          </a:p>
          <a:p>
            <a:pPr marL="0" indent="0">
              <a:buNone/>
            </a:pPr>
            <a:r>
              <a:rPr lang="en-US" sz="2200" dirty="0">
                <a:latin typeface="+mj-lt"/>
              </a:rPr>
              <a:t>3. Independent Deployment</a:t>
            </a:r>
          </a:p>
          <a:p>
            <a:pPr lvl="1"/>
            <a:r>
              <a:rPr lang="en-US" sz="1800" dirty="0">
                <a:latin typeface="+mj-lt"/>
              </a:rPr>
              <a:t>Update Payment Service</a:t>
            </a:r>
          </a:p>
          <a:p>
            <a:pPr lvl="1"/>
            <a:r>
              <a:rPr lang="en-US" sz="1800" dirty="0">
                <a:latin typeface="+mj-lt"/>
              </a:rPr>
              <a:t>Order Service continues running unchanged</a:t>
            </a:r>
            <a:endParaRPr lang="en-US" sz="2200" dirty="0">
              <a:latin typeface="+mj-lt"/>
            </a:endParaRPr>
          </a:p>
          <a:p>
            <a:r>
              <a:rPr lang="en-US" sz="2200" dirty="0">
                <a:latin typeface="+mj-lt"/>
              </a:rPr>
              <a:t>Result</a:t>
            </a:r>
          </a:p>
          <a:p>
            <a:pPr lvl="1"/>
            <a:r>
              <a:rPr lang="en-US" sz="1800" dirty="0">
                <a:latin typeface="+mj-lt"/>
              </a:rPr>
              <a:t>Services are independent</a:t>
            </a:r>
          </a:p>
          <a:p>
            <a:pPr lvl="1"/>
            <a:r>
              <a:rPr lang="en-US" sz="1800" dirty="0">
                <a:latin typeface="+mj-lt"/>
              </a:rPr>
              <a:t>Failure in Payment Service does not crash Order Service</a:t>
            </a:r>
          </a:p>
          <a:p>
            <a:pPr lvl="1"/>
            <a:r>
              <a:rPr lang="en-US" sz="1800" dirty="0">
                <a:latin typeface="+mj-lt"/>
              </a:rPr>
              <a:t>Easy scaling and maintenance</a:t>
            </a:r>
          </a:p>
          <a:p>
            <a:endParaRPr lang="en-IN" sz="2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67050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59</TotalTime>
  <Words>865</Words>
  <Application>Microsoft Office PowerPoint</Application>
  <PresentationFormat>On-screen Show (4:3)</PresentationFormat>
  <Paragraphs>193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Monolithic vs. Microservice Architecture</vt:lpstr>
      <vt:lpstr>What is Monolithic Architecture?</vt:lpstr>
      <vt:lpstr>What is Microservice Architecture?</vt:lpstr>
      <vt:lpstr>Comparison between Monolithic and Microservice Architecture</vt:lpstr>
      <vt:lpstr> Deployment - Monolithic Architecture: E-commerce Application </vt:lpstr>
      <vt:lpstr>Deployment - Microservice Architecture: E-commerce Application</vt:lpstr>
      <vt:lpstr>Scalability - Monolithic Architecture: E-commerce Application</vt:lpstr>
      <vt:lpstr>  Load balancing - Example: E-commerce Application  </vt:lpstr>
      <vt:lpstr>Scalability - Microservice Architecture: E-commerce Application</vt:lpstr>
      <vt:lpstr>Coupling - Monolithic Architecture: E-commerce Application</vt:lpstr>
      <vt:lpstr>Coupling - Microservice Architecture: E-commerce Application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Monolithic vs. Microservice Architecture</dc:title>
  <dc:creator>sharan ramesh</dc:creator>
  <cp:lastModifiedBy>B Prabavathy</cp:lastModifiedBy>
  <cp:revision>62</cp:revision>
  <dcterms:created xsi:type="dcterms:W3CDTF">2026-02-01T09:42:08Z</dcterms:created>
  <dcterms:modified xsi:type="dcterms:W3CDTF">2026-02-02T03:59:24Z</dcterms:modified>
</cp:coreProperties>
</file>