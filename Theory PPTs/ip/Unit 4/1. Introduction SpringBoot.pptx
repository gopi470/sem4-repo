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6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5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2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196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9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26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1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44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30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17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532BC-CA40-4D97-8792-14E3161DBB12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894FA-036D-405D-A8C3-B0630B760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9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CF21-4EBD-ADF2-249E-C9B517433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Spring Boot -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9FA3A-8BD9-DC38-C3F3-0A2C9AC02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259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17D1-1EEB-F7EA-AB4A-837B395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315911"/>
          </a:xfrm>
        </p:spPr>
        <p:txBody>
          <a:bodyPr>
            <a:noAutofit/>
          </a:bodyPr>
          <a:lstStyle/>
          <a:p>
            <a:r>
              <a:rPr lang="en-IN" sz="3200" dirty="0"/>
              <a:t>What is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17F8-A509-1D71-A3BB-196619286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0431"/>
            <a:ext cx="7886700" cy="5036532"/>
          </a:xfrm>
        </p:spPr>
        <p:txBody>
          <a:bodyPr>
            <a:normAutofit/>
          </a:bodyPr>
          <a:lstStyle/>
          <a:p>
            <a:r>
              <a:rPr lang="en-US" sz="3200" dirty="0"/>
              <a:t>Structured foundation that provides </a:t>
            </a:r>
          </a:p>
          <a:p>
            <a:pPr lvl="1"/>
            <a:r>
              <a:rPr lang="en-US" sz="2800" dirty="0"/>
              <a:t>set of tools</a:t>
            </a:r>
          </a:p>
          <a:p>
            <a:pPr lvl="1"/>
            <a:r>
              <a:rPr lang="en-US" sz="2800" dirty="0"/>
              <a:t>libraries</a:t>
            </a:r>
          </a:p>
          <a:p>
            <a:pPr lvl="1"/>
            <a:r>
              <a:rPr lang="en-US" sz="2800" dirty="0"/>
              <a:t>guidelines to simplify and accelerate the development process</a:t>
            </a:r>
          </a:p>
          <a:p>
            <a:r>
              <a:rPr lang="en-US" sz="3200" dirty="0"/>
              <a:t>Designed to </a:t>
            </a:r>
          </a:p>
          <a:p>
            <a:pPr lvl="1"/>
            <a:r>
              <a:rPr lang="en-US" sz="2800" dirty="0"/>
              <a:t>reduce redundancy</a:t>
            </a:r>
          </a:p>
          <a:p>
            <a:pPr lvl="1"/>
            <a:r>
              <a:rPr lang="en-US" sz="2800" dirty="0"/>
              <a:t>improve code quality</a:t>
            </a:r>
          </a:p>
          <a:p>
            <a:pPr lvl="1"/>
            <a:r>
              <a:rPr lang="en-US" sz="2800" dirty="0"/>
              <a:t>enhance collaboration by offering pre-built components and standardized practices.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54020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E069-03BE-64DD-B3D9-B7F008847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742"/>
            <a:ext cx="7886700" cy="739739"/>
          </a:xfrm>
        </p:spPr>
        <p:txBody>
          <a:bodyPr>
            <a:normAutofit/>
          </a:bodyPr>
          <a:lstStyle/>
          <a:p>
            <a:r>
              <a:rPr lang="en-IN" sz="3200" dirty="0"/>
              <a:t>What is Spring Boot?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C376-E414-9433-7F64-A6FA2FCEC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9609"/>
            <a:ext cx="7886700" cy="5067354"/>
          </a:xfrm>
        </p:spPr>
        <p:txBody>
          <a:bodyPr>
            <a:normAutofit/>
          </a:bodyPr>
          <a:lstStyle/>
          <a:p>
            <a:r>
              <a:rPr lang="en-US" dirty="0"/>
              <a:t>Spring </a:t>
            </a:r>
          </a:p>
          <a:p>
            <a:pPr lvl="1"/>
            <a:r>
              <a:rPr lang="en-US" dirty="0"/>
              <a:t>most popular frameworks for building enterprise applications</a:t>
            </a:r>
          </a:p>
          <a:p>
            <a:r>
              <a:rPr lang="en-US" dirty="0"/>
              <a:t>Challenge</a:t>
            </a:r>
          </a:p>
          <a:p>
            <a:pPr lvl="1"/>
            <a:r>
              <a:rPr lang="en-US" dirty="0"/>
              <a:t>require heavy XML configuration, making them complex for beginners.</a:t>
            </a:r>
          </a:p>
          <a:p>
            <a:r>
              <a:rPr lang="en-US" dirty="0"/>
              <a:t>Spring Boot </a:t>
            </a:r>
          </a:p>
          <a:p>
            <a:pPr lvl="1"/>
            <a:r>
              <a:rPr lang="en-US" dirty="0"/>
              <a:t>solves this problem by providing a ready-to-use, production-grade framework on top of Spring</a:t>
            </a:r>
          </a:p>
          <a:p>
            <a:pPr lvl="1"/>
            <a:r>
              <a:rPr lang="en-US" dirty="0"/>
              <a:t>eliminates boilerplate configuration, </a:t>
            </a:r>
          </a:p>
          <a:p>
            <a:pPr lvl="1"/>
            <a:r>
              <a:rPr lang="en-US" dirty="0"/>
              <a:t>comes with an embedded server </a:t>
            </a:r>
          </a:p>
          <a:p>
            <a:pPr lvl="1"/>
            <a:r>
              <a:rPr lang="en-US" dirty="0"/>
              <a:t>focuses on rapid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22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C147-34C5-6AA4-02AD-32E70AFC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78" y="215758"/>
            <a:ext cx="7886700" cy="46528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Features of Spring Boot?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AB00-299A-2AFA-94DC-46F46D7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10" y="981182"/>
            <a:ext cx="8598506" cy="587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</a:rPr>
              <a:t>1. Auto-Configuration: </a:t>
            </a:r>
          </a:p>
          <a:p>
            <a:pPr lvl="1"/>
            <a:r>
              <a:rPr lang="en-US" sz="2800" dirty="0"/>
              <a:t>Automatically configures components (like Hibernate)</a:t>
            </a:r>
          </a:p>
          <a:p>
            <a:r>
              <a:rPr lang="en-US" sz="3200" dirty="0"/>
              <a:t>Hibernate is a powerful tool for Java developers </a:t>
            </a:r>
          </a:p>
          <a:p>
            <a:pPr lvl="1"/>
            <a:r>
              <a:rPr lang="en-US" sz="2800" dirty="0"/>
              <a:t>simplify database interactions. </a:t>
            </a:r>
          </a:p>
          <a:p>
            <a:pPr lvl="1"/>
            <a:r>
              <a:rPr lang="en-US" sz="2800" dirty="0"/>
              <a:t>Object-Relational Mapping (ORM)</a:t>
            </a:r>
          </a:p>
          <a:p>
            <a:pPr lvl="2"/>
            <a:r>
              <a:rPr lang="en-US" sz="2400" dirty="0"/>
              <a:t>It maps Java classes to database tables and Java data types to SQL data types</a:t>
            </a:r>
          </a:p>
          <a:p>
            <a:pPr lvl="2"/>
            <a:r>
              <a:rPr lang="en-US" sz="2400" dirty="0"/>
              <a:t>allowing developers to focus on business logic rather than database plumbing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8368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63D0-94AC-C1ED-B31B-F0F87D805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63" y="837343"/>
            <a:ext cx="8227674" cy="535797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2. Easy Maintenance and Creation of REST Endpoints: </a:t>
            </a:r>
          </a:p>
          <a:p>
            <a:r>
              <a:rPr lang="en-US" sz="2400" dirty="0">
                <a:latin typeface="+mj-lt"/>
              </a:rPr>
              <a:t>REST API stands for Representational State Transfer API. </a:t>
            </a:r>
          </a:p>
          <a:p>
            <a:pPr lvl="1"/>
            <a:r>
              <a:rPr lang="en-US" sz="2000" dirty="0">
                <a:latin typeface="+mj-lt"/>
              </a:rPr>
              <a:t>It is a type of API (Application Programming Interface) that allows communication between different systems over the internet. </a:t>
            </a:r>
          </a:p>
          <a:p>
            <a:pPr lvl="1"/>
            <a:r>
              <a:rPr lang="en-US" sz="2000" dirty="0">
                <a:latin typeface="+mj-lt"/>
              </a:rPr>
              <a:t>REST APIs work by sending requests and receiving responses, typically in JSON format, between the client and server.</a:t>
            </a:r>
          </a:p>
          <a:p>
            <a:r>
              <a:rPr lang="en-US" sz="2400" dirty="0">
                <a:latin typeface="+mj-lt"/>
              </a:rPr>
              <a:t>Request is sent from the client to the server</a:t>
            </a:r>
          </a:p>
          <a:p>
            <a:r>
              <a:rPr lang="en-US" sz="2400" dirty="0">
                <a:latin typeface="+mj-lt"/>
              </a:rPr>
              <a:t>Server responds with the requested resource, with JSON being the most commonly used format for modern web services.</a:t>
            </a:r>
          </a:p>
          <a:p>
            <a:r>
              <a:rPr lang="en-US" sz="2400" dirty="0">
                <a:latin typeface="+mj-lt"/>
              </a:rPr>
              <a:t>These methods map to CRUD operations (Create, Read, Update, Delete) for managing resources on the web.</a:t>
            </a:r>
            <a:endParaRPr lang="en-IN" sz="24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15D6F6-327D-C7CD-A267-ED9FF22A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5758"/>
            <a:ext cx="7886700" cy="46528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Features of Spring Boot?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820A4C-E392-995C-84CE-AE0085329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99" y="4953301"/>
            <a:ext cx="5782638" cy="178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8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3555A-6DDD-3A13-8DEC-64438F644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69" y="976045"/>
            <a:ext cx="8322067" cy="5200918"/>
          </a:xfrm>
        </p:spPr>
        <p:txBody>
          <a:bodyPr/>
          <a:lstStyle/>
          <a:p>
            <a:r>
              <a:rPr lang="en-US" dirty="0"/>
              <a:t>Annotations in Java </a:t>
            </a:r>
          </a:p>
          <a:p>
            <a:pPr lvl="1"/>
            <a:r>
              <a:rPr lang="en-US" dirty="0"/>
              <a:t>form of metadata that provides instructions or information about code to the compiler</a:t>
            </a:r>
          </a:p>
          <a:p>
            <a:pPr lvl="1"/>
            <a:r>
              <a:rPr lang="en-IN" dirty="0"/>
              <a:t>Annotations start with ‘@’</a:t>
            </a:r>
          </a:p>
          <a:p>
            <a:r>
              <a:rPr lang="en-US" dirty="0"/>
              <a:t>@Data annotation — this is a Lombok annotation commonly used in Spring Boot projects</a:t>
            </a:r>
          </a:p>
          <a:p>
            <a:r>
              <a:rPr lang="en-US" dirty="0"/>
              <a:t>@Data is a Lombok annotation that automatically generates </a:t>
            </a:r>
            <a:r>
              <a:rPr lang="en-US" dirty="0">
                <a:solidFill>
                  <a:srgbClr val="0000FF"/>
                </a:solidFill>
              </a:rPr>
              <a:t>boilerplate code like getters, setters, </a:t>
            </a:r>
            <a:r>
              <a:rPr lang="en-US" dirty="0" err="1">
                <a:solidFill>
                  <a:srgbClr val="0000FF"/>
                </a:solidFill>
              </a:rPr>
              <a:t>toString</a:t>
            </a:r>
            <a:r>
              <a:rPr lang="en-US" dirty="0">
                <a:solidFill>
                  <a:srgbClr val="0000FF"/>
                </a:solidFill>
              </a:rPr>
              <a:t>(), equals(), </a:t>
            </a:r>
            <a:r>
              <a:rPr lang="en-US" dirty="0" err="1">
                <a:solidFill>
                  <a:srgbClr val="0000FF"/>
                </a:solidFill>
              </a:rPr>
              <a:t>hashCode</a:t>
            </a:r>
            <a:r>
              <a:rPr lang="en-US" dirty="0">
                <a:solidFill>
                  <a:srgbClr val="0000FF"/>
                </a:solidFill>
              </a:rPr>
              <a:t>(), </a:t>
            </a:r>
            <a:r>
              <a:rPr lang="en-US" dirty="0"/>
              <a:t>and a required-arguments constructor at compile time.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DCBE4C-C216-C3D3-B11C-3198EF44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5758"/>
            <a:ext cx="7886700" cy="46528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Features of Spring Boot?</a:t>
            </a:r>
          </a:p>
        </p:txBody>
      </p:sp>
    </p:spTree>
    <p:extLst>
      <p:ext uri="{BB962C8B-B14F-4D97-AF65-F5344CB8AC3E}">
        <p14:creationId xmlns:p14="http://schemas.microsoft.com/office/powerpoint/2010/main" val="79048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CD83-6140-7209-3EB5-C2EBE153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40" y="365127"/>
            <a:ext cx="7886700" cy="446532"/>
          </a:xfrm>
        </p:spPr>
        <p:txBody>
          <a:bodyPr>
            <a:noAutofit/>
          </a:bodyPr>
          <a:lstStyle/>
          <a:p>
            <a:r>
              <a:rPr lang="en-IN" sz="3200" dirty="0"/>
              <a:t>Example for @data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154F-0DF1-FFE5-46D3-A76FBD2E2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70" y="1037690"/>
            <a:ext cx="3883631" cy="5139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FF"/>
                </a:solidFill>
              </a:rPr>
              <a:t>Traditional code</a:t>
            </a:r>
          </a:p>
          <a:p>
            <a:pPr marL="0" indent="0">
              <a:buNone/>
            </a:pPr>
            <a:r>
              <a:rPr lang="en-IN" dirty="0"/>
              <a:t>public class Student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private Long id;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String email;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Setter &amp; Getter methods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540F8D-1A69-30D6-BCFB-466986E76B85}"/>
              </a:ext>
            </a:extLst>
          </p:cNvPr>
          <p:cNvSpPr txBox="1">
            <a:spLocks/>
          </p:cNvSpPr>
          <p:nvPr/>
        </p:nvSpPr>
        <p:spPr>
          <a:xfrm>
            <a:off x="4438656" y="1037690"/>
            <a:ext cx="4076694" cy="51889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Using @Data in Spring Boot Entity</a:t>
            </a:r>
            <a:endParaRPr lang="en-I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lombok.Data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0000FF"/>
                </a:solidFill>
              </a:rPr>
              <a:t>@Data</a:t>
            </a:r>
          </a:p>
          <a:p>
            <a:pPr marL="0" indent="0">
              <a:buNone/>
            </a:pPr>
            <a:r>
              <a:rPr lang="en-IN" dirty="0"/>
              <a:t>public class Student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private Long id;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String email;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362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E302-21CA-9D91-D98C-7004109E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3483"/>
            <a:ext cx="7886700" cy="559548"/>
          </a:xfrm>
        </p:spPr>
        <p:txBody>
          <a:bodyPr>
            <a:normAutofit/>
          </a:bodyPr>
          <a:lstStyle/>
          <a:p>
            <a:r>
              <a:rPr lang="en-IN" sz="3200" dirty="0"/>
              <a:t>Example for @document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42D0B-2CB0-64AA-DEC6-BE87D6309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924674"/>
            <a:ext cx="8558373" cy="576380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+mj-lt"/>
              </a:rPr>
              <a:t>@Document is a Spring Data MongoDB annotation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used to map a Java class to a MongoDB collection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+mj-lt"/>
              </a:rPr>
              <a:t>Why @Document is Needed</a:t>
            </a:r>
          </a:p>
          <a:p>
            <a:pPr lvl="1"/>
            <a:r>
              <a:rPr lang="en-US" dirty="0">
                <a:latin typeface="+mj-lt"/>
              </a:rPr>
              <a:t>MongoDB is </a:t>
            </a:r>
            <a:r>
              <a:rPr lang="en-US" b="1" dirty="0">
                <a:latin typeface="+mj-lt"/>
              </a:rPr>
              <a:t>document-based (NoSQL)</a:t>
            </a:r>
            <a:r>
              <a:rPr lang="en-US" dirty="0">
                <a:latin typeface="+mj-lt"/>
              </a:rPr>
              <a:t>:</a:t>
            </a:r>
          </a:p>
          <a:p>
            <a:pPr lvl="2"/>
            <a:r>
              <a:rPr lang="en-US" dirty="0">
                <a:latin typeface="+mj-lt"/>
              </a:rPr>
              <a:t>Data is stored as </a:t>
            </a:r>
            <a:r>
              <a:rPr lang="en-US" b="1" dirty="0">
                <a:latin typeface="+mj-lt"/>
              </a:rPr>
              <a:t>JSON-like documents</a:t>
            </a:r>
            <a:endParaRPr lang="en-US" dirty="0">
              <a:latin typeface="+mj-lt"/>
            </a:endParaRPr>
          </a:p>
          <a:p>
            <a:pPr lvl="2"/>
            <a:r>
              <a:rPr lang="en-US" dirty="0">
                <a:latin typeface="+mj-lt"/>
              </a:rPr>
              <a:t>Documents are grouped into </a:t>
            </a:r>
            <a:r>
              <a:rPr lang="en-US" b="1" dirty="0">
                <a:latin typeface="+mj-lt"/>
              </a:rPr>
              <a:t>collections</a:t>
            </a:r>
            <a:endParaRPr lang="en-US" dirty="0">
              <a:latin typeface="+mj-lt"/>
            </a:endParaRPr>
          </a:p>
          <a:p>
            <a:pPr lvl="2"/>
            <a:r>
              <a:rPr lang="en-US" dirty="0">
                <a:latin typeface="+mj-lt"/>
              </a:rPr>
              <a:t>@Document tells Spring:</a:t>
            </a:r>
          </a:p>
          <a:p>
            <a:pPr lvl="3"/>
            <a:r>
              <a:rPr lang="en-US" dirty="0">
                <a:solidFill>
                  <a:srgbClr val="0000FF"/>
                </a:solidFill>
                <a:latin typeface="+mj-lt"/>
              </a:rPr>
              <a:t>“This Java class represents a MongoDB collection.”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+mj-lt"/>
              </a:rPr>
              <a:t>@Document(collection = "students")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public class Student {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@Id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private String id;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private String name;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private String email;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}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372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BE5A6E-8B6C-7648-6DD3-09FAC2DDB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347705"/>
              </p:ext>
            </p:extLst>
          </p:nvPr>
        </p:nvGraphicFramePr>
        <p:xfrm>
          <a:off x="508571" y="1234440"/>
          <a:ext cx="7886700" cy="219456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19255218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682965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0000FF"/>
                          </a:solidFill>
                          <a:latin typeface="+mj-lt"/>
                        </a:rPr>
                        <a:t>Annotation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0000FF"/>
                          </a:solidFill>
                          <a:latin typeface="+mj-lt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528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+mj-lt"/>
                        </a:rPr>
                        <a:t>@Document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+mj-lt"/>
                        </a:rPr>
                        <a:t>Maps class to MongoDB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928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j-lt"/>
                        </a:rPr>
                        <a:t>collection = "students"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j-lt"/>
                        </a:rPr>
                        <a:t>Collection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8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+mj-lt"/>
                        </a:rPr>
                        <a:t>@Id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+mj-lt"/>
                        </a:rPr>
                        <a:t>Primary key (MongoDB _id)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1221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AE17D3-29BF-D631-F6AA-8ED254044236}"/>
              </a:ext>
            </a:extLst>
          </p:cNvPr>
          <p:cNvSpPr txBox="1"/>
          <p:nvPr/>
        </p:nvSpPr>
        <p:spPr>
          <a:xfrm>
            <a:off x="508571" y="3702263"/>
            <a:ext cx="81268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+mj-lt"/>
              </a:rPr>
              <a:t>MongoDB Document Stored</a:t>
            </a:r>
          </a:p>
          <a:p>
            <a:pPr rtl="0">
              <a:buNone/>
            </a:pPr>
            <a:r>
              <a:rPr lang="en-IN" sz="2400" dirty="0">
                <a:latin typeface="+mj-lt"/>
              </a:rPr>
              <a:t>{</a:t>
            </a:r>
          </a:p>
          <a:p>
            <a:pPr rtl="0">
              <a:buNone/>
            </a:pPr>
            <a:r>
              <a:rPr lang="en-IN" sz="2400" dirty="0">
                <a:latin typeface="+mj-lt"/>
              </a:rPr>
              <a:t>  "_id": "64fd12ab",</a:t>
            </a:r>
          </a:p>
          <a:p>
            <a:pPr rtl="0">
              <a:buNone/>
            </a:pPr>
            <a:r>
              <a:rPr lang="en-IN" sz="2400" dirty="0">
                <a:latin typeface="+mj-lt"/>
              </a:rPr>
              <a:t>  "name": "Arun",</a:t>
            </a:r>
          </a:p>
          <a:p>
            <a:pPr rtl="0">
              <a:buNone/>
            </a:pPr>
            <a:r>
              <a:rPr lang="en-IN" sz="2400" dirty="0">
                <a:latin typeface="+mj-lt"/>
              </a:rPr>
              <a:t>  "email": "arun@gmail.com"</a:t>
            </a:r>
          </a:p>
          <a:p>
            <a:pPr rtl="0">
              <a:buNone/>
            </a:pPr>
            <a:r>
              <a:rPr lang="en-IN" sz="2400" dirty="0">
                <a:latin typeface="+mj-lt"/>
              </a:rPr>
              <a:t>}</a:t>
            </a:r>
          </a:p>
          <a:p>
            <a:pPr>
              <a:buNone/>
            </a:pPr>
            <a:r>
              <a:rPr lang="en-IN" sz="2400" dirty="0">
                <a:latin typeface="+mj-lt"/>
              </a:rPr>
              <a:t>Java field id → MongoDB _id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D87C5C-7B23-5132-9B91-269F99BE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3483"/>
            <a:ext cx="7886700" cy="559548"/>
          </a:xfrm>
        </p:spPr>
        <p:txBody>
          <a:bodyPr>
            <a:normAutofit/>
          </a:bodyPr>
          <a:lstStyle/>
          <a:p>
            <a:r>
              <a:rPr lang="en-IN" sz="3200" dirty="0"/>
              <a:t>Example for @document annotation</a:t>
            </a:r>
          </a:p>
        </p:txBody>
      </p:sp>
    </p:spTree>
    <p:extLst>
      <p:ext uri="{BB962C8B-B14F-4D97-AF65-F5344CB8AC3E}">
        <p14:creationId xmlns:p14="http://schemas.microsoft.com/office/powerpoint/2010/main" val="166988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6B16-2683-36D4-56FE-878CB189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44" y="365126"/>
            <a:ext cx="8135206" cy="71366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How setter and getter methods used to map object to document?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7A0A-D4DC-0F08-134A-3760320E1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" y="1356189"/>
            <a:ext cx="8135206" cy="4820774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+mj-lt"/>
              </a:rPr>
              <a:t>Spring Data MongoDB </a:t>
            </a:r>
            <a:r>
              <a:rPr lang="en-US" dirty="0">
                <a:latin typeface="+mj-lt"/>
              </a:rPr>
              <a:t>uses getters and setters to convert between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Java objects and MongoDB documents</a:t>
            </a:r>
          </a:p>
          <a:p>
            <a:r>
              <a:rPr lang="en-US" b="1" dirty="0">
                <a:latin typeface="+mj-lt"/>
              </a:rPr>
              <a:t>The Flow: Object ⇄ Document</a:t>
            </a:r>
          </a:p>
          <a:p>
            <a:r>
              <a:rPr lang="en-US" dirty="0">
                <a:latin typeface="+mj-lt"/>
              </a:rPr>
              <a:t>There are </a:t>
            </a:r>
            <a:r>
              <a:rPr lang="en-US" b="1" dirty="0">
                <a:latin typeface="+mj-lt"/>
              </a:rPr>
              <a:t>two directions</a:t>
            </a:r>
            <a:r>
              <a:rPr lang="en-US" dirty="0">
                <a:latin typeface="+mj-lt"/>
              </a:rPr>
              <a:t>:</a:t>
            </a:r>
          </a:p>
          <a:p>
            <a:pPr lvl="1"/>
            <a:r>
              <a:rPr lang="en-US" b="1" dirty="0">
                <a:latin typeface="+mj-lt"/>
              </a:rPr>
              <a:t>A. Java Object → MongoDB Document (Saving)</a:t>
            </a:r>
          </a:p>
          <a:p>
            <a:pPr lvl="1"/>
            <a:r>
              <a:rPr lang="en-US" b="1" dirty="0">
                <a:latin typeface="+mj-lt"/>
              </a:rPr>
              <a:t>B. MongoDB Document → Java Object (Reading)</a:t>
            </a:r>
          </a:p>
          <a:p>
            <a:r>
              <a:rPr lang="en-US" dirty="0">
                <a:latin typeface="+mj-lt"/>
              </a:rPr>
              <a:t>In </a:t>
            </a:r>
            <a:r>
              <a:rPr lang="en-US" b="1" dirty="0">
                <a:latin typeface="+mj-lt"/>
              </a:rPr>
              <a:t>both cases</a:t>
            </a:r>
            <a:r>
              <a:rPr lang="en-US" dirty="0">
                <a:latin typeface="+mj-lt"/>
              </a:rPr>
              <a:t>, Spring relies on </a:t>
            </a:r>
            <a:r>
              <a:rPr lang="en-US" b="1" dirty="0">
                <a:latin typeface="+mj-lt"/>
              </a:rPr>
              <a:t>getters and setters</a:t>
            </a:r>
            <a:r>
              <a:rPr lang="en-US" dirty="0">
                <a:latin typeface="+mj-lt"/>
              </a:rPr>
              <a:t>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610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1204-9EEE-51BE-464C-8BC944EB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08177"/>
          </a:xfrm>
        </p:spPr>
        <p:txBody>
          <a:bodyPr>
            <a:normAutofit/>
          </a:bodyPr>
          <a:lstStyle/>
          <a:p>
            <a:r>
              <a:rPr lang="en-IN" sz="2800" dirty="0"/>
              <a:t>A. Saving Object →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A730-E203-F49A-C64A-5C6762598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0980"/>
            <a:ext cx="7886700" cy="53318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+mj-lt"/>
              </a:rPr>
              <a:t>What Happens Internally?</a:t>
            </a:r>
          </a:p>
          <a:p>
            <a:r>
              <a:rPr lang="en-US" dirty="0">
                <a:solidFill>
                  <a:srgbClr val="0000FF"/>
                </a:solidFill>
                <a:latin typeface="+mj-lt"/>
              </a:rPr>
              <a:t>Spring Data </a:t>
            </a:r>
            <a:r>
              <a:rPr lang="en-US" dirty="0">
                <a:latin typeface="+mj-lt"/>
              </a:rPr>
              <a:t>scans the class annotated with @Document</a:t>
            </a:r>
          </a:p>
          <a:p>
            <a:r>
              <a:rPr lang="en-US" dirty="0">
                <a:latin typeface="+mj-lt"/>
              </a:rPr>
              <a:t>It calls getter methods:</a:t>
            </a:r>
          </a:p>
          <a:p>
            <a:pPr lvl="1"/>
            <a:r>
              <a:rPr lang="en-US" dirty="0" err="1">
                <a:latin typeface="+mj-lt"/>
              </a:rPr>
              <a:t>getName</a:t>
            </a:r>
            <a:r>
              <a:rPr lang="en-US" dirty="0">
                <a:latin typeface="+mj-lt"/>
              </a:rPr>
              <a:t>() → "Arun"</a:t>
            </a:r>
          </a:p>
          <a:p>
            <a:pPr lvl="1"/>
            <a:r>
              <a:rPr lang="en-US" dirty="0" err="1">
                <a:latin typeface="+mj-lt"/>
              </a:rPr>
              <a:t>getAge</a:t>
            </a:r>
            <a:r>
              <a:rPr lang="en-US" dirty="0">
                <a:latin typeface="+mj-lt"/>
              </a:rPr>
              <a:t>()  → 22</a:t>
            </a:r>
          </a:p>
          <a:p>
            <a:r>
              <a:rPr lang="en-US" dirty="0">
                <a:latin typeface="+mj-lt"/>
              </a:rPr>
              <a:t>It creates a MongoDB document: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  "name": "Arun",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  "age": 22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}</a:t>
            </a:r>
          </a:p>
          <a:p>
            <a:r>
              <a:rPr lang="en-US" dirty="0">
                <a:latin typeface="+mj-lt"/>
              </a:rPr>
              <a:t>Getters are used to READ values from the object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894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DBC0-35B1-2290-BFD9-28ECD269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59548"/>
          </a:xfrm>
        </p:spPr>
        <p:txBody>
          <a:bodyPr>
            <a:normAutofit/>
          </a:bodyPr>
          <a:lstStyle/>
          <a:p>
            <a:r>
              <a:rPr lang="en-US" sz="3200" dirty="0"/>
              <a:t>B. Reading Document → Object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45B4-01E3-D8C4-CE8D-1F275F2A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9610"/>
            <a:ext cx="7886700" cy="52522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+mj-lt"/>
              </a:rPr>
              <a:t>What Happens Internally?</a:t>
            </a:r>
          </a:p>
          <a:p>
            <a:r>
              <a:rPr lang="en-US" dirty="0">
                <a:latin typeface="+mj-lt"/>
              </a:rPr>
              <a:t>Spring creates an empty Student object</a:t>
            </a:r>
          </a:p>
          <a:p>
            <a:r>
              <a:rPr lang="en-US" dirty="0">
                <a:latin typeface="+mj-lt"/>
              </a:rPr>
              <a:t>Reads document fields</a:t>
            </a:r>
          </a:p>
          <a:p>
            <a:r>
              <a:rPr lang="en-US" dirty="0">
                <a:latin typeface="+mj-lt"/>
              </a:rPr>
              <a:t>Calls setter methods:</a:t>
            </a:r>
          </a:p>
          <a:p>
            <a:pPr lvl="1"/>
            <a:r>
              <a:rPr lang="en-US" dirty="0" err="1">
                <a:latin typeface="+mj-lt"/>
              </a:rPr>
              <a:t>setName</a:t>
            </a:r>
            <a:r>
              <a:rPr lang="en-US" dirty="0">
                <a:latin typeface="+mj-lt"/>
              </a:rPr>
              <a:t>("Arun");</a:t>
            </a:r>
          </a:p>
          <a:p>
            <a:pPr lvl="1"/>
            <a:r>
              <a:rPr lang="en-US" dirty="0" err="1">
                <a:latin typeface="+mj-lt"/>
              </a:rPr>
              <a:t>setAge</a:t>
            </a:r>
            <a:r>
              <a:rPr lang="en-US" dirty="0">
                <a:latin typeface="+mj-lt"/>
              </a:rPr>
              <a:t>(22);</a:t>
            </a:r>
          </a:p>
          <a:p>
            <a:r>
              <a:rPr lang="en-US" dirty="0">
                <a:latin typeface="+mj-lt"/>
              </a:rPr>
              <a:t>Fully populated Java object is returned</a:t>
            </a:r>
          </a:p>
          <a:p>
            <a:r>
              <a:rPr lang="en-US" dirty="0">
                <a:latin typeface="+mj-lt"/>
              </a:rPr>
              <a:t>Setters are used to WRITE values into the object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272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F0AA-9D8D-F683-B6AD-753416C5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97903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Web and REST API Annotations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F679-7313-037A-E0FC-CEC7CA2A7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142"/>
            <a:ext cx="7886700" cy="5159821"/>
          </a:xfrm>
        </p:spPr>
        <p:txBody>
          <a:bodyPr>
            <a:normAutofit fontScale="92500"/>
          </a:bodyPr>
          <a:lstStyle/>
          <a:p>
            <a:pPr marL="0" indent="0" fontAlgn="base">
              <a:buNone/>
            </a:pPr>
            <a:r>
              <a:rPr lang="en-US" b="1" dirty="0">
                <a:latin typeface="+mj-lt"/>
              </a:rPr>
              <a:t>@RestController</a:t>
            </a:r>
          </a:p>
          <a:p>
            <a:pPr fontAlgn="base"/>
            <a:r>
              <a:rPr lang="en-US" dirty="0">
                <a:latin typeface="+mj-lt"/>
              </a:rPr>
              <a:t>Used to create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RESTful web services </a:t>
            </a:r>
            <a:r>
              <a:rPr lang="en-US" dirty="0">
                <a:latin typeface="+mj-lt"/>
              </a:rPr>
              <a:t>and automatically returns data in JSON format</a:t>
            </a:r>
          </a:p>
          <a:p>
            <a:pPr fontAlgn="base"/>
            <a:r>
              <a:rPr lang="en-US" i="1" dirty="0">
                <a:latin typeface="+mj-lt"/>
              </a:rPr>
              <a:t>@RestController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public class </a:t>
            </a:r>
            <a:r>
              <a:rPr lang="en-US" i="1" dirty="0" err="1">
                <a:latin typeface="+mj-lt"/>
              </a:rPr>
              <a:t>HelloController</a:t>
            </a:r>
            <a:r>
              <a:rPr lang="en-US" i="1" dirty="0">
                <a:latin typeface="+mj-lt"/>
              </a:rPr>
              <a:t> {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}</a:t>
            </a:r>
          </a:p>
          <a:p>
            <a:pPr marL="0" indent="0" fontAlgn="base">
              <a:buNone/>
            </a:pPr>
            <a:r>
              <a:rPr lang="en-US" b="1" dirty="0">
                <a:latin typeface="+mj-lt"/>
              </a:rPr>
              <a:t>@RequestMapping</a:t>
            </a:r>
          </a:p>
          <a:p>
            <a:pPr fontAlgn="base"/>
            <a:r>
              <a:rPr lang="en-US" dirty="0">
                <a:solidFill>
                  <a:srgbClr val="0000FF"/>
                </a:solidFill>
                <a:latin typeface="+mj-lt"/>
              </a:rPr>
              <a:t>Maps HTTP requests to controller classes </a:t>
            </a:r>
            <a:r>
              <a:rPr lang="en-US" dirty="0">
                <a:latin typeface="+mj-lt"/>
              </a:rPr>
              <a:t>or methods. Defines the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base URL path </a:t>
            </a:r>
            <a:r>
              <a:rPr lang="en-US" dirty="0">
                <a:latin typeface="+mj-lt"/>
              </a:rPr>
              <a:t>for request handling.</a:t>
            </a:r>
          </a:p>
          <a:p>
            <a:pPr fontAlgn="base"/>
            <a:r>
              <a:rPr lang="en-US" i="1" dirty="0">
                <a:latin typeface="+mj-lt"/>
              </a:rPr>
              <a:t>@RequestMapping("/api")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public class </a:t>
            </a:r>
            <a:r>
              <a:rPr lang="en-US" i="1" dirty="0" err="1">
                <a:latin typeface="+mj-lt"/>
              </a:rPr>
              <a:t>ApiController</a:t>
            </a:r>
            <a:r>
              <a:rPr lang="en-US" i="1" dirty="0">
                <a:latin typeface="+mj-lt"/>
              </a:rPr>
              <a:t> {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}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315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93645A-F347-047D-BFB5-3EB1A065E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120845"/>
              </p:ext>
            </p:extLst>
          </p:nvPr>
        </p:nvGraphicFramePr>
        <p:xfrm>
          <a:off x="525907" y="1108930"/>
          <a:ext cx="7886701" cy="2849880"/>
        </p:xfrm>
        <a:graphic>
          <a:graphicData uri="http://schemas.openxmlformats.org/drawingml/2006/table">
            <a:tbl>
              <a:tblPr/>
              <a:tblGrid>
                <a:gridCol w="2217293">
                  <a:extLst>
                    <a:ext uri="{9D8B030D-6E8A-4147-A177-3AD203B41FA5}">
                      <a16:colId xmlns:a16="http://schemas.microsoft.com/office/drawing/2014/main" val="2876727673"/>
                    </a:ext>
                  </a:extLst>
                </a:gridCol>
                <a:gridCol w="2711895">
                  <a:extLst>
                    <a:ext uri="{9D8B030D-6E8A-4147-A177-3AD203B41FA5}">
                      <a16:colId xmlns:a16="http://schemas.microsoft.com/office/drawing/2014/main" val="2488286602"/>
                    </a:ext>
                  </a:extLst>
                </a:gridCol>
                <a:gridCol w="2957513">
                  <a:extLst>
                    <a:ext uri="{9D8B030D-6E8A-4147-A177-3AD203B41FA5}">
                      <a16:colId xmlns:a16="http://schemas.microsoft.com/office/drawing/2014/main" val="2619479484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Annotation</a:t>
                      </a:r>
                      <a:endParaRPr lang="en-IN" sz="2200" b="0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HTTP Method</a:t>
                      </a:r>
                      <a:endParaRPr lang="en-IN" sz="2200" b="0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Explanation</a:t>
                      </a:r>
                      <a:endParaRPr lang="en-IN" sz="2200" b="0" dirty="0">
                        <a:solidFill>
                          <a:srgbClr val="0000FF"/>
                        </a:solidFill>
                        <a:effectLst/>
                        <a:latin typeface="+mj-lt"/>
                      </a:endParaRP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9855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effectLst/>
                          <a:latin typeface="+mj-lt"/>
                        </a:rPr>
                        <a:t>@GetMapping</a:t>
                      </a:r>
                      <a:endParaRPr lang="en-IN" sz="2200" b="0" dirty="0">
                        <a:effectLst/>
                        <a:latin typeface="+mj-lt"/>
                      </a:endParaRPr>
                    </a:p>
                  </a:txBody>
                  <a:tcPr marL="38100" marR="38100" marT="34925" marB="3492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GET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200" b="0" dirty="0">
                          <a:effectLst/>
                          <a:latin typeface="+mj-lt"/>
                        </a:rPr>
                        <a:t>Retrieves data from the server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2709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effectLst/>
                          <a:latin typeface="+mj-lt"/>
                        </a:rPr>
                        <a:t>@PostMapping</a:t>
                      </a:r>
                      <a:endParaRPr lang="en-IN" sz="2200" b="0" dirty="0">
                        <a:effectLst/>
                        <a:latin typeface="+mj-lt"/>
                      </a:endParaRPr>
                    </a:p>
                  </a:txBody>
                  <a:tcPr marL="38100" marR="38100" marT="34925" marB="3492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POST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200" b="0" dirty="0">
                          <a:effectLst/>
                          <a:latin typeface="+mj-lt"/>
                        </a:rPr>
                        <a:t>Sends data to the server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7035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 dirty="0">
                          <a:effectLst/>
                          <a:latin typeface="+mj-lt"/>
                        </a:rPr>
                        <a:t>@PutMapping</a:t>
                      </a:r>
                      <a:endParaRPr lang="en-IN" sz="2200" b="0" dirty="0">
                        <a:effectLst/>
                        <a:latin typeface="+mj-lt"/>
                      </a:endParaRPr>
                    </a:p>
                  </a:txBody>
                  <a:tcPr marL="38100" marR="38100" marT="34925" marB="3492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PUT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Updates existing data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13598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1">
                          <a:effectLst/>
                          <a:latin typeface="+mj-lt"/>
                        </a:rPr>
                        <a:t>@DeleteMapping</a:t>
                      </a:r>
                      <a:endParaRPr lang="en-IN" sz="2200" b="0">
                        <a:effectLst/>
                        <a:latin typeface="+mj-lt"/>
                      </a:endParaRPr>
                    </a:p>
                  </a:txBody>
                  <a:tcPr marL="38100" marR="38100" marT="34925" marB="3492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DELETE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2200" b="0" dirty="0">
                          <a:effectLst/>
                          <a:latin typeface="+mj-lt"/>
                        </a:rPr>
                        <a:t>Deletes data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25044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451C4CB-17A3-FAEB-09CA-414FB57DE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2742" y="-1017142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2352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HTTP Method Annotations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7C7B7-E1B1-09DD-5DC6-2DF4373E0924}"/>
              </a:ext>
            </a:extLst>
          </p:cNvPr>
          <p:cNvSpPr txBox="1"/>
          <p:nvPr/>
        </p:nvSpPr>
        <p:spPr>
          <a:xfrm>
            <a:off x="1510404" y="4268719"/>
            <a:ext cx="5437597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IN" sz="2400" b="1" i="0" dirty="0">
                <a:solidFill>
                  <a:srgbClr val="273239"/>
                </a:solidFill>
                <a:effectLst/>
                <a:latin typeface="Calibri Light "/>
              </a:rPr>
              <a:t>Example</a:t>
            </a:r>
            <a:endParaRPr lang="en-IN" sz="2400" b="0" i="0" dirty="0">
              <a:solidFill>
                <a:srgbClr val="273239"/>
              </a:solidFill>
              <a:effectLst/>
              <a:latin typeface="Calibri Light "/>
            </a:endParaRPr>
          </a:p>
          <a:p>
            <a:pPr algn="l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@GetMapping("/users")</a:t>
            </a:r>
            <a:b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</a:b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public List&lt;User&gt; </a:t>
            </a:r>
            <a:r>
              <a:rPr lang="en-IN" sz="2400" b="0" i="1" dirty="0" err="1">
                <a:solidFill>
                  <a:srgbClr val="273239"/>
                </a:solidFill>
                <a:effectLst/>
                <a:latin typeface="Calibri Light "/>
              </a:rPr>
              <a:t>getUsers</a:t>
            </a: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() {</a:t>
            </a:r>
            <a:b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</a:b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return </a:t>
            </a:r>
            <a:r>
              <a:rPr lang="en-IN" sz="2400" b="0" i="1" dirty="0" err="1">
                <a:solidFill>
                  <a:srgbClr val="273239"/>
                </a:solidFill>
                <a:effectLst/>
                <a:latin typeface="Calibri Light "/>
              </a:rPr>
              <a:t>userService.getAllUsers</a:t>
            </a: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();</a:t>
            </a:r>
            <a:b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</a:br>
            <a:r>
              <a:rPr lang="en-IN" sz="2400" b="0" i="1" dirty="0">
                <a:solidFill>
                  <a:srgbClr val="273239"/>
                </a:solidFill>
                <a:effectLst/>
                <a:latin typeface="Calibri Light 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5E5776-9F34-9076-96E7-C12D9DB2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97903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Web and REST API Annotations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7827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CED4-EFFE-EAC8-2535-935010958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0980"/>
            <a:ext cx="7886700" cy="5414481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>
                <a:latin typeface="+mj-lt"/>
              </a:rPr>
              <a:t>@PathVariable</a:t>
            </a:r>
          </a:p>
          <a:p>
            <a:pPr fontAlgn="base"/>
            <a:r>
              <a:rPr lang="en-US" dirty="0">
                <a:solidFill>
                  <a:srgbClr val="0000FF"/>
                </a:solidFill>
                <a:latin typeface="+mj-lt"/>
              </a:rPr>
              <a:t>Extracts values from the URI path </a:t>
            </a:r>
            <a:r>
              <a:rPr lang="en-US" dirty="0">
                <a:latin typeface="+mj-lt"/>
              </a:rPr>
              <a:t>and binds them to method parameters.</a:t>
            </a:r>
          </a:p>
          <a:p>
            <a:pPr fontAlgn="base"/>
            <a:r>
              <a:rPr lang="en-US" i="1" dirty="0">
                <a:latin typeface="+mj-lt"/>
              </a:rPr>
              <a:t>@GetMapping("/users/{id}")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public User </a:t>
            </a:r>
            <a:r>
              <a:rPr lang="en-US" i="1" dirty="0" err="1">
                <a:latin typeface="+mj-lt"/>
              </a:rPr>
              <a:t>getUser</a:t>
            </a:r>
            <a:r>
              <a:rPr lang="en-US" i="1" dirty="0">
                <a:latin typeface="+mj-lt"/>
              </a:rPr>
              <a:t>(@PathVariable int id) {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return </a:t>
            </a:r>
            <a:r>
              <a:rPr lang="en-US" i="1" dirty="0" err="1">
                <a:latin typeface="+mj-lt"/>
              </a:rPr>
              <a:t>userService.getUser</a:t>
            </a:r>
            <a:r>
              <a:rPr lang="en-US" i="1" dirty="0">
                <a:latin typeface="+mj-lt"/>
              </a:rPr>
              <a:t>(id);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}</a:t>
            </a:r>
          </a:p>
          <a:p>
            <a:pPr marL="0" indent="0" fontAlgn="base">
              <a:buNone/>
            </a:pPr>
            <a:r>
              <a:rPr lang="en-US" b="1" dirty="0">
                <a:latin typeface="+mj-lt"/>
              </a:rPr>
              <a:t>@RequestParam</a:t>
            </a:r>
          </a:p>
          <a:p>
            <a:pPr fontAlgn="base"/>
            <a:r>
              <a:rPr lang="en-US" dirty="0">
                <a:solidFill>
                  <a:srgbClr val="0000FF"/>
                </a:solidFill>
                <a:latin typeface="+mj-lt"/>
              </a:rPr>
              <a:t>Reads query parameters </a:t>
            </a:r>
            <a:r>
              <a:rPr lang="en-US" dirty="0">
                <a:latin typeface="+mj-lt"/>
              </a:rPr>
              <a:t>from the request URL. Used for optional or filtering inputs.</a:t>
            </a:r>
          </a:p>
          <a:p>
            <a:pPr fontAlgn="base"/>
            <a:r>
              <a:rPr lang="en-US" i="1" dirty="0">
                <a:latin typeface="+mj-lt"/>
              </a:rPr>
              <a:t>@GetMapping("/search")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public String search(@RequestParam String keyword) {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return keyword;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}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8BC78-31E9-EC39-0779-25D2D616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97903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Web and REST API Annotations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5838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0954-59CA-0B29-527F-6AFBABDFE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+mj-lt"/>
              </a:rPr>
              <a:t>@RequestBody</a:t>
            </a:r>
          </a:p>
          <a:p>
            <a:pPr fontAlgn="base"/>
            <a:r>
              <a:rPr lang="en-US" dirty="0">
                <a:solidFill>
                  <a:srgbClr val="0000FF"/>
                </a:solidFill>
                <a:latin typeface="+mj-lt"/>
              </a:rPr>
              <a:t>Binds the HTTP request body to a Java object</a:t>
            </a:r>
            <a:r>
              <a:rPr lang="en-US" dirty="0">
                <a:latin typeface="+mj-lt"/>
              </a:rPr>
              <a:t>. Commonly used with POST and PUT requests.</a:t>
            </a:r>
          </a:p>
          <a:p>
            <a:pPr fontAlgn="base"/>
            <a:r>
              <a:rPr lang="en-US" i="1" dirty="0">
                <a:latin typeface="+mj-lt"/>
              </a:rPr>
              <a:t>@PostMapping("/users")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public User </a:t>
            </a:r>
            <a:r>
              <a:rPr lang="en-US" i="1" dirty="0" err="1">
                <a:latin typeface="+mj-lt"/>
              </a:rPr>
              <a:t>saveUser</a:t>
            </a:r>
            <a:r>
              <a:rPr lang="en-US" i="1" dirty="0">
                <a:latin typeface="+mj-lt"/>
              </a:rPr>
              <a:t>(@RequestBody User user) {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return </a:t>
            </a:r>
            <a:r>
              <a:rPr lang="en-US" i="1" dirty="0" err="1">
                <a:latin typeface="+mj-lt"/>
              </a:rPr>
              <a:t>userService.save</a:t>
            </a:r>
            <a:r>
              <a:rPr lang="en-US" i="1" dirty="0">
                <a:latin typeface="+mj-lt"/>
              </a:rPr>
              <a:t>(user);</a:t>
            </a:r>
            <a:br>
              <a:rPr lang="en-US" i="1" dirty="0">
                <a:latin typeface="+mj-lt"/>
              </a:rPr>
            </a:br>
            <a:r>
              <a:rPr lang="en-US" i="1" dirty="0">
                <a:latin typeface="+mj-lt"/>
              </a:rPr>
              <a:t>}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70F5D3-2EA3-57F5-6A97-43189D63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97903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Web and REST API Annotations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61181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EE73-3690-35B2-97C7-ABA0E311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44" y="365127"/>
            <a:ext cx="7886700" cy="549274"/>
          </a:xfrm>
        </p:spPr>
        <p:txBody>
          <a:bodyPr>
            <a:normAutofit/>
          </a:bodyPr>
          <a:lstStyle/>
          <a:p>
            <a:r>
              <a:rPr lang="en-IN" sz="3200" dirty="0"/>
              <a:t>Features of Spring Boot …Continues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B3D33-FFEE-F742-FB88-A3BCE9E5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1099335"/>
            <a:ext cx="8527551" cy="507762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+mj-lt"/>
              </a:rPr>
              <a:t>3. Embedded Tomcat Server: </a:t>
            </a:r>
          </a:p>
          <a:p>
            <a:pPr marL="0" indent="0" fontAlgn="base">
              <a:buNone/>
            </a:pPr>
            <a:r>
              <a:rPr lang="en-US" dirty="0">
                <a:latin typeface="+mj-lt"/>
              </a:rPr>
              <a:t>Spring Boot includes an embedded Tomcat server, eliminating the need for manual setup. </a:t>
            </a:r>
          </a:p>
          <a:p>
            <a:pPr marL="0" indent="0" fontAlgn="base">
              <a:buNone/>
            </a:pPr>
            <a:r>
              <a:rPr lang="en-US" b="1" dirty="0">
                <a:latin typeface="+mj-lt"/>
              </a:rPr>
              <a:t>4. Easy Deployment:</a:t>
            </a:r>
            <a:r>
              <a:rPr lang="en-US" dirty="0">
                <a:latin typeface="+mj-lt"/>
              </a:rPr>
              <a:t> Spring Boot applications can be packaged as JAR or WAR files and deployed directly to servers or cloud environments. </a:t>
            </a:r>
          </a:p>
          <a:p>
            <a:pPr marL="0" indent="0" fontAlgn="base">
              <a:buNone/>
            </a:pPr>
            <a:r>
              <a:rPr lang="en-US" b="1" dirty="0">
                <a:latin typeface="+mj-lt"/>
              </a:rPr>
              <a:t>5. Microservice-Based Architecture</a:t>
            </a:r>
            <a:r>
              <a:rPr lang="en-US" dirty="0">
                <a:latin typeface="+mj-lt"/>
              </a:rPr>
              <a:t>: Spring Boot is well-suited for microservice architecture, where applications are split into independent, modular services. </a:t>
            </a:r>
          </a:p>
          <a:p>
            <a:pPr marL="0" indent="0" fontAlgn="base">
              <a:buNone/>
            </a:pPr>
            <a:r>
              <a:rPr lang="en-US" dirty="0">
                <a:latin typeface="+mj-lt"/>
              </a:rPr>
              <a:t>Unlike monolithic systems, this approach improves scalability, maintainability and deployment flexibility.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5540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57D1-C750-93A2-5200-A0F9A475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80096"/>
          </a:xfrm>
        </p:spPr>
        <p:txBody>
          <a:bodyPr>
            <a:normAutofit/>
          </a:bodyPr>
          <a:lstStyle/>
          <a:p>
            <a:r>
              <a:rPr lang="en-IN" sz="2800" dirty="0"/>
              <a:t>Applications of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6556-747B-4857-00D8-90D17C6F6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9883"/>
            <a:ext cx="7886700" cy="505708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>
                <a:latin typeface="+mj-lt"/>
              </a:rPr>
              <a:t>Enterprise Applications</a:t>
            </a:r>
            <a:r>
              <a:rPr lang="en-US" dirty="0">
                <a:latin typeface="+mj-lt"/>
              </a:rPr>
              <a:t> </a:t>
            </a:r>
          </a:p>
          <a:p>
            <a:pPr lvl="1" fontAlgn="base"/>
            <a:r>
              <a:rPr lang="en-US" dirty="0">
                <a:latin typeface="+mj-lt"/>
              </a:rPr>
              <a:t>Build complex applications such as Hospital Management Systems</a:t>
            </a:r>
          </a:p>
          <a:p>
            <a:pPr fontAlgn="base"/>
            <a:r>
              <a:rPr lang="en-US" b="1" dirty="0">
                <a:latin typeface="+mj-lt"/>
              </a:rPr>
              <a:t>Cloud-Native Applications</a:t>
            </a:r>
          </a:p>
          <a:p>
            <a:pPr lvl="1" fontAlgn="base"/>
            <a:r>
              <a:rPr lang="en-US" dirty="0">
                <a:latin typeface="+mj-lt"/>
              </a:rPr>
              <a:t>Seamless integration with Docker, Kubernetes and cloud platforms (AWS, Azure, GCP) for deployment and scaling</a:t>
            </a:r>
          </a:p>
          <a:p>
            <a:pPr fontAlgn="base"/>
            <a:r>
              <a:rPr lang="en-US" b="1" dirty="0">
                <a:latin typeface="+mj-lt"/>
              </a:rPr>
              <a:t>Real-Time Applications</a:t>
            </a:r>
          </a:p>
          <a:p>
            <a:pPr lvl="1" fontAlgn="base"/>
            <a:r>
              <a:rPr lang="en-US" dirty="0">
                <a:latin typeface="+mj-lt"/>
              </a:rPr>
              <a:t>Supports Reactive Programming for chat applications, streaming platforms, IoT systems and event-driven systems.</a:t>
            </a:r>
          </a:p>
          <a:p>
            <a:pPr fontAlgn="base"/>
            <a:r>
              <a:rPr lang="en-US" b="1" dirty="0">
                <a:latin typeface="+mj-lt"/>
              </a:rPr>
              <a:t>Batch Processing Applications</a:t>
            </a:r>
          </a:p>
          <a:p>
            <a:pPr lvl="1" fontAlgn="base"/>
            <a:r>
              <a:rPr lang="en-US" dirty="0">
                <a:latin typeface="+mj-lt"/>
              </a:rPr>
              <a:t>With Spring Batch, Spring Boot is used for ETL (Extract, Transform, Load), report generation and large data processing.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858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</TotalTime>
  <Words>1182</Words>
  <Application>Microsoft Office PowerPoint</Application>
  <PresentationFormat>On-screen Show (4:3)</PresentationFormat>
  <Paragraphs>176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Calibri Light </vt:lpstr>
      <vt:lpstr>Nunito</vt:lpstr>
      <vt:lpstr>Office Theme</vt:lpstr>
      <vt:lpstr>Spring Boot - Features</vt:lpstr>
      <vt:lpstr>What is framework?</vt:lpstr>
      <vt:lpstr>What is Spring Boot?</vt:lpstr>
      <vt:lpstr>Features of Spring Boot?</vt:lpstr>
      <vt:lpstr>Features of Spring Boot?</vt:lpstr>
      <vt:lpstr>Features of Spring Boot?</vt:lpstr>
      <vt:lpstr>Example for @data annotation</vt:lpstr>
      <vt:lpstr>Example for @document annotation</vt:lpstr>
      <vt:lpstr>Example for @document annotation</vt:lpstr>
      <vt:lpstr>How setter and getter methods used to map object to document?</vt:lpstr>
      <vt:lpstr>A. Saving Object → Document</vt:lpstr>
      <vt:lpstr>B. Reading Document → Object</vt:lpstr>
      <vt:lpstr> Web and REST API Annotations </vt:lpstr>
      <vt:lpstr> Web and REST API Annotations </vt:lpstr>
      <vt:lpstr> Web and REST API Annotations </vt:lpstr>
      <vt:lpstr> Web and REST API Annotations </vt:lpstr>
      <vt:lpstr>Features of Spring Boot …Continues</vt:lpstr>
      <vt:lpstr>Applications of Spring Boot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- Features</dc:title>
  <dc:creator>sharan ramesh</dc:creator>
  <cp:lastModifiedBy>B Prabavathy</cp:lastModifiedBy>
  <cp:revision>118</cp:revision>
  <dcterms:created xsi:type="dcterms:W3CDTF">2026-01-31T13:01:50Z</dcterms:created>
  <dcterms:modified xsi:type="dcterms:W3CDTF">2026-02-02T03:36:46Z</dcterms:modified>
</cp:coreProperties>
</file>