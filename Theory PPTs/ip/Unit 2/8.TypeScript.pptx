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67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ran ramesh" initials="sr" lastIdx="1" clrIdx="0">
    <p:extLst>
      <p:ext uri="{19B8F6BF-5375-455C-9EA6-DF929625EA0E}">
        <p15:presenceInfo xmlns:p15="http://schemas.microsoft.com/office/powerpoint/2012/main" userId="4bac0431abd232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4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83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81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55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0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61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71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99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1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44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17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FF3FB-875A-4C1A-B80F-CA827D97E5F4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1C0CE-496C-4DF2-AF4D-7DBA5E978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22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AFEB-EC33-BE1C-81D8-BCF4F6C4F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TypeScript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957B2-1A76-B858-6303-C926E9F7A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3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4D2D-834D-C9D4-6C87-E9DAC1C6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rgbClr val="0000FF"/>
                </a:solidFill>
              </a:rPr>
              <a:t>What is TypeScript?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01B5C-E885-79E1-045A-0B485E196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35" y="1825625"/>
            <a:ext cx="8671389" cy="4351338"/>
          </a:xfrm>
        </p:spPr>
        <p:txBody>
          <a:bodyPr/>
          <a:lstStyle/>
          <a:p>
            <a:r>
              <a:rPr lang="en-US" dirty="0"/>
              <a:t>TypeScript is a high-level programming language that adds static typing with optional type annotations to JavaScript.</a:t>
            </a:r>
          </a:p>
          <a:p>
            <a:r>
              <a:rPr lang="en-US" dirty="0"/>
              <a:t>It is designed for developing large applications. It </a:t>
            </a:r>
            <a:r>
              <a:rPr lang="en-US" dirty="0" err="1"/>
              <a:t>transpiles</a:t>
            </a:r>
            <a:r>
              <a:rPr lang="en-US" dirty="0"/>
              <a:t> to JavaScript. </a:t>
            </a:r>
          </a:p>
          <a:p>
            <a:r>
              <a:rPr lang="en-US" dirty="0"/>
              <a:t>It is developed by Microsoft as free and open-source software released under an Apache License 2.0.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66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3331-E7DE-3D17-CDEF-57E88F05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76" y="272660"/>
            <a:ext cx="8465906" cy="590371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Object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4C6D2-1218-656C-A5EE-FBC0DE5FE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09" y="955497"/>
            <a:ext cx="8948791" cy="57535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Object creation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 car: { type: string, model: string, year: number } = {</a:t>
            </a:r>
            <a:br>
              <a:rPr lang="en-IN" dirty="0"/>
            </a:br>
            <a:r>
              <a:rPr lang="en-IN" dirty="0"/>
              <a:t>  type: "Toyota",</a:t>
            </a:r>
            <a:br>
              <a:rPr lang="en-IN" dirty="0"/>
            </a:br>
            <a:r>
              <a:rPr lang="en-IN" dirty="0"/>
              <a:t>  model: "Corolla",</a:t>
            </a:r>
            <a:br>
              <a:rPr lang="en-IN" dirty="0"/>
            </a:br>
            <a:r>
              <a:rPr lang="en-IN" dirty="0"/>
              <a:t>  year: 2009</a:t>
            </a:r>
            <a:br>
              <a:rPr lang="en-IN" dirty="0"/>
            </a:b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US" dirty="0"/>
              <a:t>const car = {</a:t>
            </a:r>
            <a:br>
              <a:rPr lang="en-US" dirty="0"/>
            </a:br>
            <a:r>
              <a:rPr lang="en-US" dirty="0"/>
              <a:t>  type: "Toyota",</a:t>
            </a:r>
            <a:br>
              <a:rPr lang="en-US" dirty="0"/>
            </a:br>
            <a:r>
              <a:rPr lang="en-US" dirty="0"/>
              <a:t>};</a:t>
            </a:r>
            <a:br>
              <a:rPr lang="en-US" dirty="0"/>
            </a:br>
            <a:r>
              <a:rPr lang="en-US" dirty="0" err="1"/>
              <a:t>car.type</a:t>
            </a:r>
            <a:r>
              <a:rPr lang="en-US" dirty="0"/>
              <a:t> = "Ford"; // no error</a:t>
            </a:r>
            <a:br>
              <a:rPr lang="en-US" dirty="0"/>
            </a:br>
            <a:r>
              <a:rPr lang="en-US" dirty="0" err="1"/>
              <a:t>car.type</a:t>
            </a:r>
            <a:r>
              <a:rPr lang="en-US" dirty="0"/>
              <a:t> = 2; 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// Error: Type 'number' is not assignable to type 'string’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TypeScript can infer the types of properties based on their values.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58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B248-0FA1-01E6-5899-6690C26A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59548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Object types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9E82A-1388-B5D2-C6B0-984966CE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47964"/>
            <a:ext cx="7886700" cy="5128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 err="1"/>
              <a:t>const</a:t>
            </a:r>
            <a:r>
              <a:rPr lang="en-IN" sz="3200" dirty="0"/>
              <a:t> car: { type: string, mileage: number } = { </a:t>
            </a:r>
            <a:br>
              <a:rPr lang="en-IN" sz="3200" dirty="0"/>
            </a:br>
            <a:r>
              <a:rPr lang="en-IN" sz="3200" dirty="0"/>
              <a:t>  type: "Toyota",</a:t>
            </a:r>
            <a:br>
              <a:rPr lang="en-IN" sz="3200" dirty="0"/>
            </a:br>
            <a:r>
              <a:rPr lang="en-IN" sz="3200" dirty="0"/>
              <a:t>};</a:t>
            </a:r>
            <a:br>
              <a:rPr lang="en-IN" sz="3200" dirty="0"/>
            </a:br>
            <a:r>
              <a:rPr lang="en-IN" sz="3200" dirty="0" err="1"/>
              <a:t>car.mileage</a:t>
            </a:r>
            <a:r>
              <a:rPr lang="en-IN" sz="3200" dirty="0"/>
              <a:t> = 2000;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r>
              <a:rPr lang="en-IN" sz="3200" dirty="0">
                <a:solidFill>
                  <a:srgbClr val="FF0000"/>
                </a:solidFill>
              </a:rPr>
              <a:t>// Error: Property 'mileage' is missing in type '{ type: string; }' but required in type '{ type: string; mileage: number; }’.</a:t>
            </a:r>
          </a:p>
          <a:p>
            <a:pPr marL="0" indent="0">
              <a:buNone/>
            </a:pPr>
            <a:r>
              <a:rPr lang="en-US" sz="3200" dirty="0"/>
              <a:t>Example without an optional property</a:t>
            </a:r>
          </a:p>
          <a:p>
            <a:pPr marL="0" indent="0">
              <a:buNone/>
            </a:pP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57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3F92-025E-0DDC-8BF8-54F697CA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52016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Object types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CF66A-6CCD-1F5D-B978-E25B253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7143"/>
            <a:ext cx="7886700" cy="5159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 err="1"/>
              <a:t>const</a:t>
            </a:r>
            <a:r>
              <a:rPr lang="en-IN" sz="3200" dirty="0"/>
              <a:t> car: { type: string, mileage?: number } = { // no error</a:t>
            </a:r>
            <a:br>
              <a:rPr lang="en-IN" sz="3200" dirty="0"/>
            </a:br>
            <a:r>
              <a:rPr lang="en-IN" sz="3200" dirty="0"/>
              <a:t>  type: "Toyota"</a:t>
            </a:r>
            <a:br>
              <a:rPr lang="en-IN" sz="3200" dirty="0"/>
            </a:br>
            <a:r>
              <a:rPr lang="en-IN" sz="3200" dirty="0"/>
              <a:t>};</a:t>
            </a:r>
            <a:br>
              <a:rPr lang="en-IN" sz="3200" dirty="0"/>
            </a:br>
            <a:r>
              <a:rPr lang="en-IN" sz="3200" dirty="0" err="1"/>
              <a:t>car.mileage</a:t>
            </a:r>
            <a:r>
              <a:rPr lang="en-IN" sz="3200" dirty="0"/>
              <a:t> = 2000;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0000FF"/>
                </a:solidFill>
              </a:rPr>
              <a:t>Output </a:t>
            </a:r>
            <a:r>
              <a:rPr lang="en-IN" sz="3200" dirty="0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en-IN" sz="3200" dirty="0">
                <a:solidFill>
                  <a:srgbClr val="0000FF"/>
                </a:solidFill>
              </a:rPr>
              <a:t>{ type: 'Toyota', mileage: 2000 }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</a:rPr>
              <a:t>Example with an optional property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2939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4B07-47AE-5796-C5DE-B986FEFB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00FF"/>
                </a:solidFill>
              </a:rPr>
              <a:t>Enums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CD4A3-A952-0909-F587-12A1A29F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17142"/>
            <a:ext cx="7886700" cy="5159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CardinalDirections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North,</a:t>
            </a:r>
          </a:p>
          <a:p>
            <a:pPr marL="0" indent="0">
              <a:buNone/>
            </a:pPr>
            <a:r>
              <a:rPr lang="en-US" dirty="0"/>
              <a:t>  East,</a:t>
            </a:r>
          </a:p>
          <a:p>
            <a:pPr marL="0" indent="0">
              <a:buNone/>
            </a:pPr>
            <a:r>
              <a:rPr lang="en-US" dirty="0"/>
              <a:t>  South,</a:t>
            </a:r>
          </a:p>
          <a:p>
            <a:pPr marL="0" indent="0">
              <a:buNone/>
            </a:pPr>
            <a:r>
              <a:rPr lang="en-US" dirty="0"/>
              <a:t>  West</a:t>
            </a:r>
          </a:p>
          <a:p>
            <a:pPr marL="0" indent="0">
              <a:buNone/>
            </a:pPr>
            <a:r>
              <a:rPr lang="en-US" dirty="0"/>
              <a:t>};            </a:t>
            </a:r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currentDirection</a:t>
            </a:r>
            <a:r>
              <a:rPr lang="en-US" dirty="0"/>
              <a:t> = </a:t>
            </a:r>
            <a:r>
              <a:rPr lang="en-US" dirty="0" err="1"/>
              <a:t>CardinalDirections.North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currentDirection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// North is the first value so it logs '0'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72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2032-3C9F-CED6-2BBD-77E5ED01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C05B4-2EF8-30C9-7D05-CD33A968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303" y="1825625"/>
            <a:ext cx="864891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 </a:t>
            </a:r>
            <a:r>
              <a:rPr lang="en-IN" dirty="0" err="1"/>
              <a:t>CardinalDirections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  North = 1,</a:t>
            </a:r>
            <a:br>
              <a:rPr lang="en-IN" dirty="0"/>
            </a:br>
            <a:r>
              <a:rPr lang="en-IN" dirty="0"/>
              <a:t>  East,</a:t>
            </a:r>
            <a:br>
              <a:rPr lang="en-IN" dirty="0"/>
            </a:br>
            <a:r>
              <a:rPr lang="en-IN" dirty="0"/>
              <a:t>  South,</a:t>
            </a:r>
            <a:br>
              <a:rPr lang="en-IN" dirty="0"/>
            </a:br>
            <a:r>
              <a:rPr lang="en-IN" dirty="0"/>
              <a:t>  West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>
                <a:solidFill>
                  <a:srgbClr val="0000FF"/>
                </a:solidFill>
              </a:rPr>
              <a:t>// logs 1</a:t>
            </a:r>
            <a:br>
              <a:rPr lang="en-IN" dirty="0">
                <a:solidFill>
                  <a:srgbClr val="0000FF"/>
                </a:solidFill>
              </a:rPr>
            </a:br>
            <a:r>
              <a:rPr lang="en-IN" dirty="0">
                <a:solidFill>
                  <a:srgbClr val="0000FF"/>
                </a:solidFill>
              </a:rPr>
              <a:t>console.log(</a:t>
            </a:r>
            <a:r>
              <a:rPr lang="en-IN" dirty="0" err="1">
                <a:solidFill>
                  <a:srgbClr val="0000FF"/>
                </a:solidFill>
              </a:rPr>
              <a:t>CardinalDirections.North</a:t>
            </a:r>
            <a:r>
              <a:rPr lang="en-IN" dirty="0">
                <a:solidFill>
                  <a:srgbClr val="0000FF"/>
                </a:solidFill>
              </a:rPr>
              <a:t>);</a:t>
            </a:r>
            <a:br>
              <a:rPr lang="en-IN" dirty="0">
                <a:solidFill>
                  <a:srgbClr val="0000FF"/>
                </a:solidFill>
              </a:rPr>
            </a:br>
            <a:r>
              <a:rPr lang="en-IN" dirty="0">
                <a:solidFill>
                  <a:srgbClr val="0000FF"/>
                </a:solidFill>
              </a:rPr>
              <a:t>// logs 4</a:t>
            </a:r>
            <a:br>
              <a:rPr lang="en-IN" dirty="0">
                <a:solidFill>
                  <a:srgbClr val="0000FF"/>
                </a:solidFill>
              </a:rPr>
            </a:br>
            <a:r>
              <a:rPr lang="en-IN" dirty="0">
                <a:solidFill>
                  <a:srgbClr val="0000FF"/>
                </a:solidFill>
              </a:rPr>
              <a:t>console.log(</a:t>
            </a:r>
            <a:r>
              <a:rPr lang="en-IN" dirty="0" err="1">
                <a:solidFill>
                  <a:srgbClr val="0000FF"/>
                </a:solidFill>
              </a:rPr>
              <a:t>CardinalDirections.West</a:t>
            </a:r>
            <a:r>
              <a:rPr lang="en-IN" dirty="0">
                <a:solidFill>
                  <a:srgbClr val="0000FF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5952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C989-7206-B569-D0C3-717A9935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A8C36-C412-8114-376E-CAC70233D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0301"/>
            <a:ext cx="7886700" cy="4666662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 </a:t>
            </a:r>
            <a:r>
              <a:rPr lang="en-IN" dirty="0" err="1"/>
              <a:t>StatusCodes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NotFound</a:t>
            </a:r>
            <a:r>
              <a:rPr lang="en-IN" dirty="0"/>
              <a:t> = 404,</a:t>
            </a:r>
            <a:br>
              <a:rPr lang="en-IN" dirty="0"/>
            </a:br>
            <a:r>
              <a:rPr lang="en-IN" dirty="0"/>
              <a:t>  Success = 200,</a:t>
            </a:r>
            <a:br>
              <a:rPr lang="en-IN" dirty="0"/>
            </a:br>
            <a:r>
              <a:rPr lang="en-IN" dirty="0"/>
              <a:t>  Accepted = 202,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BadRequest</a:t>
            </a:r>
            <a:r>
              <a:rPr lang="en-IN" dirty="0"/>
              <a:t> = 400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// logs 404</a:t>
            </a:r>
            <a:br>
              <a:rPr lang="en-IN" dirty="0"/>
            </a:br>
            <a:r>
              <a:rPr lang="en-IN" dirty="0"/>
              <a:t>console.log(</a:t>
            </a:r>
            <a:r>
              <a:rPr lang="en-IN" dirty="0" err="1"/>
              <a:t>StatusCodes.NotFound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// logs 200</a:t>
            </a:r>
            <a:br>
              <a:rPr lang="en-IN" dirty="0"/>
            </a:br>
            <a:r>
              <a:rPr lang="en-IN" dirty="0"/>
              <a:t>console.log(</a:t>
            </a:r>
            <a:r>
              <a:rPr lang="en-IN" dirty="0" err="1"/>
              <a:t>StatusCodes.Success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3133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A34C-4676-BAE5-4CB3-D9F764226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87629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0748A-1E0E-9D69-C9C6-F3FEBB707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38" y="852755"/>
            <a:ext cx="8669462" cy="581517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Aliases allow defining types with a custom name (an Alias).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Aliases can be used for primitives like string or more complex types such as objects and arrays: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CarYear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number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string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string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Car = {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 year: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CarYear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 type: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 model: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CarModel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carYear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CarYear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 2001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 "Toyota"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CarModel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 "Corolla"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car: Car = {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 year: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carYear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 type: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carType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  model: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carModel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06781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BCFE-0F18-850B-C6EC-75115C58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640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00FF"/>
                </a:solidFill>
              </a:rPr>
              <a:t>Union &amp; Intersections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4755-AF7D-28D1-2279-CDE4BFC9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61672"/>
            <a:ext cx="7886700" cy="461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type Animal = { name: string };</a:t>
            </a:r>
            <a:br>
              <a:rPr lang="en-IN" sz="3200" dirty="0"/>
            </a:br>
            <a:r>
              <a:rPr lang="en-IN" sz="3200" dirty="0"/>
              <a:t>type Bear = Animal &amp; { honey: </a:t>
            </a:r>
            <a:r>
              <a:rPr lang="en-IN" sz="3200" dirty="0" err="1"/>
              <a:t>boolean</a:t>
            </a:r>
            <a:r>
              <a:rPr lang="en-IN" sz="3200" dirty="0"/>
              <a:t> };</a:t>
            </a:r>
            <a:br>
              <a:rPr lang="en-IN" sz="3200" dirty="0"/>
            </a:br>
            <a:r>
              <a:rPr lang="en-IN" sz="3200" dirty="0" err="1"/>
              <a:t>const</a:t>
            </a:r>
            <a:r>
              <a:rPr lang="en-IN" sz="3200" dirty="0"/>
              <a:t> bear: Bear = { name: "Winnie", honey: true };</a:t>
            </a:r>
            <a:br>
              <a:rPr lang="en-IN" sz="3200" dirty="0"/>
            </a:br>
            <a:br>
              <a:rPr lang="en-IN" sz="3200" dirty="0"/>
            </a:br>
            <a:r>
              <a:rPr lang="en-IN" sz="3200" dirty="0"/>
              <a:t>type Status = "success" | "error";</a:t>
            </a:r>
            <a:br>
              <a:rPr lang="en-IN" sz="3200" dirty="0"/>
            </a:br>
            <a:r>
              <a:rPr lang="en-IN" sz="3200" dirty="0"/>
              <a:t>let response: Status = "success";</a:t>
            </a:r>
          </a:p>
        </p:txBody>
      </p:sp>
    </p:spTree>
    <p:extLst>
      <p:ext uri="{BB962C8B-B14F-4D97-AF65-F5344CB8AC3E}">
        <p14:creationId xmlns:p14="http://schemas.microsoft.com/office/powerpoint/2010/main" val="317420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A019-FF55-A3CA-2A32-264E1DA0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2265"/>
            <a:ext cx="7886700" cy="77530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00FF"/>
                </a:solidFill>
              </a:rPr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61D6B-0944-C2E2-115C-975866E35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4948"/>
            <a:ext cx="7886700" cy="56507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Interfaces are similar to type aliases, except they </a:t>
            </a:r>
            <a:r>
              <a:rPr lang="en-US" b="1" dirty="0"/>
              <a:t>only</a:t>
            </a:r>
            <a:r>
              <a:rPr lang="en-US" dirty="0"/>
              <a:t> apply to object types.</a:t>
            </a:r>
          </a:p>
          <a:p>
            <a:pPr marL="0" indent="0">
              <a:buNone/>
            </a:pPr>
            <a:r>
              <a:rPr lang="en-US" dirty="0"/>
              <a:t>interface Rectangle {</a:t>
            </a:r>
            <a:br>
              <a:rPr lang="en-US" dirty="0"/>
            </a:br>
            <a:r>
              <a:rPr lang="en-US" dirty="0"/>
              <a:t>  height: number,</a:t>
            </a:r>
            <a:br>
              <a:rPr lang="en-US" dirty="0"/>
            </a:br>
            <a:r>
              <a:rPr lang="en-US" dirty="0"/>
              <a:t>  width: number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const rectangle: Rectangle = {</a:t>
            </a:r>
            <a:br>
              <a:rPr lang="en-US" dirty="0"/>
            </a:br>
            <a:r>
              <a:rPr lang="en-US" dirty="0"/>
              <a:t>  height: 20,</a:t>
            </a:r>
            <a:br>
              <a:rPr lang="en-US" dirty="0"/>
            </a:br>
            <a:r>
              <a:rPr lang="en-US" dirty="0"/>
              <a:t>  width: 10</a:t>
            </a:r>
            <a:br>
              <a:rPr lang="en-US" dirty="0"/>
            </a:b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interface Animal { name: string; } interface Animal { age: number; } const dog: Animal = { name: "Fido", age: 5 };</a:t>
            </a:r>
          </a:p>
          <a:p>
            <a:pPr marL="0" indent="0">
              <a:buNone/>
            </a:pPr>
            <a:r>
              <a:rPr lang="en-US" dirty="0"/>
              <a:t>Console.log(dog);</a:t>
            </a:r>
          </a:p>
          <a:p>
            <a:pPr marL="0" indent="0">
              <a:buNone/>
            </a:pPr>
            <a:r>
              <a:rPr lang="en-US" dirty="0"/>
              <a:t>Output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IN" dirty="0"/>
              <a:t>{ name: 'Fido', age: 5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8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65CC-C461-6EE6-0D5B-073A7711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10919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FF"/>
                </a:solidFill>
              </a:rPr>
              <a:t>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B3C91-5A9A-02DF-5159-7997424A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1528"/>
            <a:ext cx="7886700" cy="49954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500" dirty="0"/>
              <a:t>function </a:t>
            </a:r>
            <a:r>
              <a:rPr lang="en-IN" sz="3500" dirty="0" err="1"/>
              <a:t>printStatusCode</a:t>
            </a:r>
            <a:r>
              <a:rPr lang="en-IN" sz="3500" dirty="0"/>
              <a:t>(code: string | number) {</a:t>
            </a:r>
            <a:br>
              <a:rPr lang="en-IN" sz="3500" dirty="0"/>
            </a:br>
            <a:r>
              <a:rPr lang="en-IN" sz="3500" dirty="0"/>
              <a:t>  console.log(`My status code is ${code}.`)</a:t>
            </a:r>
            <a:br>
              <a:rPr lang="en-IN" sz="3500" dirty="0"/>
            </a:br>
            <a:r>
              <a:rPr lang="en-IN" sz="3500" dirty="0"/>
              <a:t>}</a:t>
            </a:r>
            <a:br>
              <a:rPr lang="en-IN" sz="3500" dirty="0"/>
            </a:br>
            <a:r>
              <a:rPr lang="en-IN" sz="3500" dirty="0" err="1"/>
              <a:t>printStatusCode</a:t>
            </a:r>
            <a:r>
              <a:rPr lang="en-IN" sz="3500" dirty="0"/>
              <a:t>(404);</a:t>
            </a:r>
            <a:br>
              <a:rPr lang="en-IN" sz="3500" dirty="0"/>
            </a:br>
            <a:r>
              <a:rPr lang="en-IN" sz="3500" dirty="0" err="1"/>
              <a:t>printStatusCode</a:t>
            </a:r>
            <a:r>
              <a:rPr lang="en-IN" sz="3500" dirty="0"/>
              <a:t>('404’);</a:t>
            </a:r>
          </a:p>
          <a:p>
            <a:pPr marL="0" indent="0">
              <a:buNone/>
            </a:pPr>
            <a:r>
              <a:rPr lang="en-IN" sz="3500" dirty="0"/>
              <a:t>Output</a:t>
            </a:r>
            <a:r>
              <a:rPr lang="en-IN" sz="3500" dirty="0">
                <a:sym typeface="Wingdings" panose="05000000000000000000" pitchFamily="2" charset="2"/>
              </a:rPr>
              <a:t></a:t>
            </a:r>
            <a:endParaRPr lang="en-IN" sz="3500" dirty="0"/>
          </a:p>
          <a:p>
            <a:pPr marL="0" indent="0">
              <a:buNone/>
            </a:pPr>
            <a:r>
              <a:rPr lang="en-US" sz="3000" dirty="0"/>
              <a:t>My status code is 404.</a:t>
            </a:r>
          </a:p>
          <a:p>
            <a:pPr marL="0" indent="0">
              <a:buNone/>
            </a:pPr>
            <a:r>
              <a:rPr lang="en-US" sz="3000" dirty="0"/>
              <a:t>My status code is 404.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br>
              <a:rPr lang="en-IN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3135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062F-B86E-899A-C66C-B0C051FC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662"/>
            <a:ext cx="7886700" cy="739738"/>
          </a:xfrm>
        </p:spPr>
        <p:txBody>
          <a:bodyPr>
            <a:normAutofit fontScale="90000"/>
          </a:bodyPr>
          <a:lstStyle/>
          <a:p>
            <a:br>
              <a:rPr lang="en-US" sz="3600" dirty="0">
                <a:latin typeface="Alef" panose="00000500000000000000" pitchFamily="2" charset="-79"/>
                <a:cs typeface="Alef" panose="00000500000000000000" pitchFamily="2" charset="-79"/>
              </a:rPr>
            </a:br>
            <a:r>
              <a:rPr lang="en-US" sz="3600" dirty="0">
                <a:latin typeface="Alef" panose="00000500000000000000" pitchFamily="2" charset="-79"/>
                <a:cs typeface="Alef" panose="00000500000000000000" pitchFamily="2" charset="-79"/>
              </a:rPr>
              <a:t>What is Type Annotations in TypeScript 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89D79-6A26-1258-0B35-3096F2F4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38" y="914400"/>
            <a:ext cx="9000162" cy="58459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Type annotations in TypeScript are used to explicitly specify the type of a variable, function parameter, or object property. This helps catch errors early, improves code readability, and ensures type safety.</a:t>
            </a:r>
          </a:p>
          <a:p>
            <a:pPr marL="0" indent="0" fontAlgn="base">
              <a:buNone/>
            </a:pPr>
            <a:r>
              <a:rPr lang="en-IN" b="1" dirty="0" err="1"/>
              <a:t>const</a:t>
            </a:r>
            <a:r>
              <a:rPr lang="en-IN" dirty="0"/>
              <a:t> str: string = "</a:t>
            </a:r>
            <a:r>
              <a:rPr lang="en-IN" dirty="0" err="1"/>
              <a:t>GeeksforGeeks</a:t>
            </a:r>
            <a:r>
              <a:rPr lang="en-IN" dirty="0"/>
              <a:t>";</a:t>
            </a:r>
          </a:p>
          <a:p>
            <a:pPr marL="0" indent="0" fontAlgn="base">
              <a:buNone/>
            </a:pPr>
            <a:r>
              <a:rPr lang="en-IN" b="1" dirty="0" err="1"/>
              <a:t>const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: number = 6;</a:t>
            </a:r>
          </a:p>
          <a:p>
            <a:pPr marL="0" indent="0" fontAlgn="base">
              <a:buNone/>
            </a:pPr>
            <a:r>
              <a:rPr lang="en-IN" b="1" dirty="0" err="1"/>
              <a:t>const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: (number | string)[] = </a:t>
            </a:r>
          </a:p>
          <a:p>
            <a:pPr marL="0" indent="0" fontAlgn="base">
              <a:buNone/>
            </a:pPr>
            <a:r>
              <a:rPr lang="en-IN" dirty="0"/>
              <a:t>    ["GFG", "TypeScript", 500, 20];</a:t>
            </a:r>
          </a:p>
          <a:p>
            <a:pPr marL="0" indent="0" fontAlgn="base">
              <a:buNone/>
            </a:pPr>
            <a:r>
              <a:rPr lang="en-IN" dirty="0"/>
              <a:t>console.log(</a:t>
            </a:r>
            <a:r>
              <a:rPr lang="en-IN" b="1" dirty="0" err="1"/>
              <a:t>typeof</a:t>
            </a:r>
            <a:r>
              <a:rPr lang="en-IN" dirty="0"/>
              <a:t> str);</a:t>
            </a:r>
          </a:p>
          <a:p>
            <a:pPr marL="0" indent="0" fontAlgn="base">
              <a:buNone/>
            </a:pPr>
            <a:r>
              <a:rPr lang="en-IN" dirty="0"/>
              <a:t>console.log(</a:t>
            </a:r>
            <a:r>
              <a:rPr lang="en-IN" b="1" dirty="0" err="1"/>
              <a:t>typeof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pPr marL="0" indent="0" fontAlgn="base">
              <a:buNone/>
            </a:pPr>
            <a:r>
              <a:rPr lang="en-IN" dirty="0"/>
              <a:t>console.log(</a:t>
            </a:r>
            <a:r>
              <a:rPr lang="en-IN" dirty="0" err="1"/>
              <a:t>arr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E52B5-1CB1-93F5-7DF6-0D92BEA25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371" y="4655077"/>
            <a:ext cx="434400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27CC-CF64-DE96-D2B8-469432F8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47" y="365126"/>
            <a:ext cx="8599469" cy="713661"/>
          </a:xfrm>
        </p:spPr>
        <p:txBody>
          <a:bodyPr>
            <a:normAutofit fontScale="90000"/>
          </a:bodyPr>
          <a:lstStyle/>
          <a:p>
            <a:b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Function with Type Annotations</a:t>
            </a:r>
            <a:b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985F2-DE56-A3C1-4445-663A96064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87" y="1356189"/>
            <a:ext cx="8979613" cy="482077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Type annotations in functions let you specify the expected types of parameters and the return value. This improves readability, enforces correctness, and helps catch errors early.</a:t>
            </a:r>
          </a:p>
          <a:p>
            <a:pPr marL="0" indent="0">
              <a:buNone/>
            </a:pPr>
            <a:r>
              <a:rPr lang="en-US" dirty="0"/>
              <a:t>function greet(name: string): string {</a:t>
            </a:r>
          </a:p>
          <a:p>
            <a:pPr marL="0" indent="0">
              <a:buNone/>
            </a:pPr>
            <a:r>
              <a:rPr lang="en-US" dirty="0"/>
              <a:t>    return `Hello, ${name}!`;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console.log(greet("Alice"));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5B815-BCBC-F054-1D7C-81686918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770" y="4160517"/>
            <a:ext cx="2286319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3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7BE3-B55C-D123-14E5-85ECC23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70" y="365126"/>
            <a:ext cx="8145480" cy="734209"/>
          </a:xfrm>
        </p:spPr>
        <p:txBody>
          <a:bodyPr>
            <a:normAutofit fontScale="90000"/>
          </a:bodyPr>
          <a:lstStyle/>
          <a:p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Object with Type Annotations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0AF2B-6AE4-750F-8815-F869AD338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70" y="1387011"/>
            <a:ext cx="8299592" cy="43892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Type annotations for objects define the structure and types of properties the object must have. This ensures type safety and prevents invalid assignments</a:t>
            </a:r>
          </a:p>
          <a:p>
            <a:pPr marL="0" indent="0" fontAlgn="base">
              <a:buNone/>
            </a:pPr>
            <a:r>
              <a:rPr lang="en-US" b="1" dirty="0"/>
              <a:t>const</a:t>
            </a:r>
            <a:r>
              <a:rPr lang="en-US" dirty="0"/>
              <a:t> person: { name: string; age: number } = {</a:t>
            </a:r>
          </a:p>
          <a:p>
            <a:pPr marL="0" indent="0" fontAlgn="base">
              <a:buNone/>
            </a:pPr>
            <a:r>
              <a:rPr lang="en-US" dirty="0"/>
              <a:t>    name: "Alice",</a:t>
            </a:r>
          </a:p>
          <a:p>
            <a:pPr marL="0" indent="0" fontAlgn="base">
              <a:buNone/>
            </a:pPr>
            <a:r>
              <a:rPr lang="en-US" dirty="0"/>
              <a:t>    age: 30</a:t>
            </a:r>
          </a:p>
          <a:p>
            <a:pPr marL="0" indent="0" fontAlgn="base">
              <a:buNone/>
            </a:pPr>
            <a:r>
              <a:rPr lang="en-US" dirty="0"/>
              <a:t>};</a:t>
            </a:r>
          </a:p>
          <a:p>
            <a:pPr marL="0" indent="0" fontAlgn="base">
              <a:buNone/>
            </a:pPr>
            <a:r>
              <a:rPr lang="en-US" dirty="0"/>
              <a:t>console.log(person);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182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C266-775C-40FE-F17C-1BE4ADD7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03" y="365126"/>
            <a:ext cx="8237947" cy="1011611"/>
          </a:xfrm>
        </p:spPr>
        <p:txBody>
          <a:bodyPr>
            <a:normAutofit fontScale="90000"/>
          </a:bodyPr>
          <a:lstStyle/>
          <a:p>
            <a:b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Array with Type Annotations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6BEC-432C-2B99-0280-A3554526D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03" y="1825625"/>
            <a:ext cx="8558372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Array type annotations explicitly specify the type of elements an array can hold. This helps catch errors and improves code readability.</a:t>
            </a:r>
          </a:p>
          <a:p>
            <a:pPr marL="0" indent="0">
              <a:buNone/>
            </a:pPr>
            <a:r>
              <a:rPr lang="en-US" dirty="0"/>
              <a:t>const numbers: number[] = [1, 2, 3, 4, 5];</a:t>
            </a:r>
          </a:p>
          <a:p>
            <a:pPr marL="0" indent="0">
              <a:buNone/>
            </a:pPr>
            <a:r>
              <a:rPr lang="en-US" dirty="0"/>
              <a:t>console.log(numbers);Output[1, 2, 3, 4, 5]</a:t>
            </a:r>
          </a:p>
          <a:p>
            <a:pPr marL="0" indent="0">
              <a:buNone/>
            </a:pPr>
            <a:r>
              <a:rPr lang="en-US" dirty="0"/>
              <a:t>The numbers array is annotated to contain only number </a:t>
            </a:r>
            <a:r>
              <a:rPr lang="en-US" dirty="0" err="1"/>
              <a:t>elements.This</a:t>
            </a:r>
            <a:r>
              <a:rPr lang="en-US" dirty="0"/>
              <a:t> prevents the inclusion of elements of other types, maintaining type safety.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000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B6D6-E819-2775-346F-DF34F36F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" y="190466"/>
            <a:ext cx="8443431" cy="652016"/>
          </a:xfrm>
        </p:spPr>
        <p:txBody>
          <a:bodyPr>
            <a:noAutofit/>
          </a:bodyPr>
          <a:lstStyle/>
          <a:p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Class with Type Annotations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31447-4081-5FAD-A63F-A53F3821E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35" y="965772"/>
            <a:ext cx="8330415" cy="58922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class Rectangle </a:t>
            </a:r>
          </a:p>
          <a:p>
            <a:pPr marL="0" indent="0">
              <a:buNone/>
            </a:pPr>
            <a:r>
              <a:rPr lang="en-IN" sz="2400" dirty="0"/>
              <a:t>{    </a:t>
            </a:r>
          </a:p>
          <a:p>
            <a:pPr marL="0" indent="0">
              <a:buNone/>
            </a:pPr>
            <a:r>
              <a:rPr lang="en-IN" sz="2400" dirty="0"/>
              <a:t>    width: number;    </a:t>
            </a:r>
          </a:p>
          <a:p>
            <a:pPr marL="0" indent="0">
              <a:buNone/>
            </a:pPr>
            <a:r>
              <a:rPr lang="en-IN" sz="2400" dirty="0"/>
              <a:t>    height: number;    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FF"/>
                </a:solidFill>
              </a:rPr>
              <a:t>    constructor(width: number, height: number) {        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FF"/>
                </a:solidFill>
              </a:rPr>
              <a:t>         </a:t>
            </a:r>
            <a:r>
              <a:rPr lang="en-IN" sz="2400" dirty="0" err="1">
                <a:solidFill>
                  <a:srgbClr val="0000FF"/>
                </a:solidFill>
              </a:rPr>
              <a:t>this.width</a:t>
            </a:r>
            <a:r>
              <a:rPr lang="en-IN" sz="2400" dirty="0">
                <a:solidFill>
                  <a:srgbClr val="0000FF"/>
                </a:solidFill>
              </a:rPr>
              <a:t> = width;        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FF"/>
                </a:solidFill>
              </a:rPr>
              <a:t>         </a:t>
            </a:r>
            <a:r>
              <a:rPr lang="en-IN" sz="2400" dirty="0" err="1">
                <a:solidFill>
                  <a:srgbClr val="0000FF"/>
                </a:solidFill>
              </a:rPr>
              <a:t>this.height</a:t>
            </a:r>
            <a:r>
              <a:rPr lang="en-IN" sz="2400" dirty="0">
                <a:solidFill>
                  <a:srgbClr val="0000FF"/>
                </a:solidFill>
              </a:rPr>
              <a:t> = height;    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FF"/>
                </a:solidFill>
              </a:rPr>
              <a:t>    }    </a:t>
            </a:r>
          </a:p>
          <a:p>
            <a:pPr marL="0" indent="0">
              <a:buNone/>
            </a:pPr>
            <a:r>
              <a:rPr lang="en-IN" sz="2400" dirty="0"/>
              <a:t>    area(): number {        </a:t>
            </a:r>
          </a:p>
          <a:p>
            <a:pPr marL="0" indent="0">
              <a:buNone/>
            </a:pPr>
            <a:r>
              <a:rPr lang="en-IN" sz="2400" dirty="0"/>
              <a:t>    return </a:t>
            </a:r>
            <a:r>
              <a:rPr lang="en-IN" sz="2400" dirty="0" err="1"/>
              <a:t>this.width</a:t>
            </a:r>
            <a:r>
              <a:rPr lang="en-IN" sz="2400" dirty="0"/>
              <a:t> * </a:t>
            </a:r>
            <a:r>
              <a:rPr lang="en-IN" sz="2400" dirty="0" err="1"/>
              <a:t>this.height</a:t>
            </a:r>
            <a:r>
              <a:rPr lang="en-IN" sz="2400" dirty="0"/>
              <a:t>;    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rect</a:t>
            </a:r>
            <a:r>
              <a:rPr lang="en-IN" sz="2400" dirty="0"/>
              <a:t> = new Rectangle(5, 10);</a:t>
            </a:r>
          </a:p>
          <a:p>
            <a:pPr marL="0" indent="0">
              <a:buNone/>
            </a:pPr>
            <a:r>
              <a:rPr lang="en-IN" sz="2400" dirty="0"/>
              <a:t>console.log(</a:t>
            </a:r>
            <a:r>
              <a:rPr lang="en-IN" sz="2400" dirty="0" err="1"/>
              <a:t>rect</a:t>
            </a:r>
            <a:r>
              <a:rPr lang="en-IN" sz="2400" dirty="0"/>
              <a:t>); console.log(</a:t>
            </a:r>
            <a:r>
              <a:rPr lang="en-IN" sz="2400" dirty="0" err="1"/>
              <a:t>rect.area</a:t>
            </a:r>
            <a:r>
              <a:rPr lang="en-IN" sz="2400" dirty="0"/>
              <a:t>()); </a:t>
            </a:r>
          </a:p>
        </p:txBody>
      </p:sp>
    </p:spTree>
    <p:extLst>
      <p:ext uri="{BB962C8B-B14F-4D97-AF65-F5344CB8AC3E}">
        <p14:creationId xmlns:p14="http://schemas.microsoft.com/office/powerpoint/2010/main" val="1730194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6BE8-988F-A3FC-9D86-2BB459D3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32" y="282934"/>
            <a:ext cx="7886700" cy="71366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00FF"/>
                </a:solidFill>
              </a:rPr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44419-C205-B106-1C4B-8505CE3C1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32" y="1212351"/>
            <a:ext cx="8761930" cy="49646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class Person {</a:t>
            </a:r>
            <a:br>
              <a:rPr lang="en-US" sz="3200" dirty="0"/>
            </a:br>
            <a:r>
              <a:rPr lang="en-US" sz="3200" dirty="0"/>
              <a:t>  name: string;</a:t>
            </a:r>
            <a:br>
              <a:rPr lang="en-US" sz="3200" dirty="0"/>
            </a:b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>const person = new Person();</a:t>
            </a:r>
            <a:br>
              <a:rPr lang="en-US" sz="3200" dirty="0"/>
            </a:br>
            <a:r>
              <a:rPr lang="en-US" sz="3200" dirty="0"/>
              <a:t>person.name = "Jane";</a:t>
            </a:r>
          </a:p>
          <a:p>
            <a:r>
              <a:rPr lang="en-US" dirty="0"/>
              <a:t>There are three main visibility modifiers in TypeScript.</a:t>
            </a:r>
          </a:p>
          <a:p>
            <a:r>
              <a:rPr lang="en-US" dirty="0"/>
              <a:t>public - (default) allows access to the class member from anywhere</a:t>
            </a:r>
          </a:p>
          <a:p>
            <a:r>
              <a:rPr lang="en-US" dirty="0"/>
              <a:t>private - only allows access to the class member from within the class</a:t>
            </a:r>
          </a:p>
          <a:p>
            <a:r>
              <a:rPr lang="en-US" dirty="0"/>
              <a:t>protected - allows access to the class member from itself and any classes that inherit it, which is covered in the inheritance section below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1694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D738-CF3E-A639-8899-6BD4A79D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21" y="365127"/>
            <a:ext cx="8166029" cy="58009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FF"/>
                </a:solidFill>
              </a:rPr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65577-610A-3C1B-C986-296330F17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83" y="1047964"/>
            <a:ext cx="8309867" cy="54449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class Person {</a:t>
            </a:r>
          </a:p>
          <a:p>
            <a:pPr marL="0" indent="0">
              <a:buNone/>
            </a:pPr>
            <a:r>
              <a:rPr lang="en-IN" dirty="0"/>
              <a:t>  private name: string;</a:t>
            </a:r>
          </a:p>
          <a:p>
            <a:pPr marL="0" indent="0">
              <a:buNone/>
            </a:pPr>
            <a:r>
              <a:rPr lang="en-IN" dirty="0"/>
              <a:t>  public constructor(name: string) {</a:t>
            </a:r>
          </a:p>
          <a:p>
            <a:pPr marL="0" indent="0">
              <a:buNone/>
            </a:pPr>
            <a:r>
              <a:rPr lang="en-IN" dirty="0"/>
              <a:t>    this.name = name;</a:t>
            </a:r>
          </a:p>
          <a:p>
            <a:pPr marL="0" indent="0">
              <a:buNone/>
            </a:pPr>
            <a:r>
              <a:rPr lang="en-IN" dirty="0"/>
              <a:t>  }</a:t>
            </a:r>
          </a:p>
          <a:p>
            <a:pPr marL="0" indent="0">
              <a:buNone/>
            </a:pPr>
            <a:r>
              <a:rPr lang="en-IN" dirty="0"/>
              <a:t>  public </a:t>
            </a:r>
            <a:r>
              <a:rPr lang="en-IN" dirty="0" err="1"/>
              <a:t>getName</a:t>
            </a:r>
            <a:r>
              <a:rPr lang="en-IN" dirty="0"/>
              <a:t>(): string {</a:t>
            </a:r>
          </a:p>
          <a:p>
            <a:pPr marL="0" indent="0">
              <a:buNone/>
            </a:pPr>
            <a:r>
              <a:rPr lang="en-IN" dirty="0"/>
              <a:t>    return this.name;</a:t>
            </a:r>
          </a:p>
          <a:p>
            <a:pPr marL="0" indent="0">
              <a:buNone/>
            </a:pPr>
            <a:r>
              <a:rPr lang="en-IN" dirty="0"/>
              <a:t> 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person = new Person("Jane");</a:t>
            </a:r>
          </a:p>
          <a:p>
            <a:pPr marL="0" indent="0">
              <a:buNone/>
            </a:pPr>
            <a:r>
              <a:rPr lang="en-IN" dirty="0"/>
              <a:t>console.log(</a:t>
            </a:r>
            <a:r>
              <a:rPr lang="en-IN" dirty="0" err="1"/>
              <a:t>person.getName</a:t>
            </a:r>
            <a:r>
              <a:rPr lang="en-IN" dirty="0"/>
              <a:t>()); </a:t>
            </a:r>
          </a:p>
          <a:p>
            <a:pPr marL="0" indent="0">
              <a:buNone/>
            </a:pPr>
            <a:r>
              <a:rPr lang="en-IN" dirty="0"/>
              <a:t>// person.name isn't accessible from outside the class since it's private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140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6E42-9B7F-F6C7-84EA-EB0F5A13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72" y="139095"/>
            <a:ext cx="8671389" cy="662290"/>
          </a:xfrm>
        </p:spPr>
        <p:txBody>
          <a:bodyPr>
            <a:normAutofit/>
          </a:bodyPr>
          <a:lstStyle/>
          <a:p>
            <a:r>
              <a:rPr lang="en-IN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Readonly</a:t>
            </a:r>
            <a:r>
              <a:rPr lang="en-IN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DECF8-D633-2D6A-08F1-86A46D16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73" y="801385"/>
            <a:ext cx="8486454" cy="5727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 Person {</a:t>
            </a:r>
            <a:br>
              <a:rPr lang="en-US" dirty="0"/>
            </a:br>
            <a:r>
              <a:rPr lang="en-US" dirty="0"/>
              <a:t>  private </a:t>
            </a:r>
            <a:r>
              <a:rPr lang="en-US" dirty="0" err="1"/>
              <a:t>readonly</a:t>
            </a:r>
            <a:r>
              <a:rPr lang="en-US" dirty="0"/>
              <a:t> name: string;</a:t>
            </a:r>
            <a:br>
              <a:rPr lang="en-US" dirty="0"/>
            </a:br>
            <a:r>
              <a:rPr lang="en-US" dirty="0"/>
              <a:t>  public constructor(name: string) {</a:t>
            </a:r>
            <a:br>
              <a:rPr lang="en-US" dirty="0"/>
            </a:br>
            <a:r>
              <a:rPr lang="en-US" dirty="0"/>
              <a:t>    // name cannot be changed after this initial definition, which has to be either at its declaration or in the constructor.</a:t>
            </a:r>
            <a:br>
              <a:rPr lang="en-US" dirty="0"/>
            </a:br>
            <a:r>
              <a:rPr lang="en-US" dirty="0"/>
              <a:t>    this.name = name;</a:t>
            </a:r>
            <a:br>
              <a:rPr lang="en-US" dirty="0"/>
            </a:br>
            <a:r>
              <a:rPr lang="en-US" dirty="0"/>
              <a:t>  }</a:t>
            </a:r>
            <a:br>
              <a:rPr lang="en-US" dirty="0"/>
            </a:br>
            <a:r>
              <a:rPr lang="en-US" dirty="0"/>
              <a:t>  public </a:t>
            </a:r>
            <a:r>
              <a:rPr lang="en-US" dirty="0" err="1"/>
              <a:t>getName</a:t>
            </a:r>
            <a:r>
              <a:rPr lang="en-US" dirty="0"/>
              <a:t>(): string {</a:t>
            </a:r>
            <a:br>
              <a:rPr lang="en-US" dirty="0"/>
            </a:br>
            <a:r>
              <a:rPr lang="en-US" dirty="0"/>
              <a:t>    return this.name;</a:t>
            </a:r>
            <a:br>
              <a:rPr lang="en-US" dirty="0"/>
            </a:br>
            <a:r>
              <a:rPr lang="en-US" dirty="0"/>
              <a:t>  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const person = new Person("Jane");</a:t>
            </a:r>
            <a:br>
              <a:rPr lang="en-US" dirty="0"/>
            </a:br>
            <a:r>
              <a:rPr lang="en-US" dirty="0"/>
              <a:t>console.log(</a:t>
            </a:r>
            <a:r>
              <a:rPr lang="en-US" dirty="0" err="1"/>
              <a:t>person.getName</a:t>
            </a:r>
            <a:r>
              <a:rPr lang="en-US" dirty="0"/>
              <a:t>());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236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CC73-CC6D-52AD-0756-82F474D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3" y="180191"/>
            <a:ext cx="8392060" cy="600645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00FF"/>
                </a:solidFill>
              </a:rPr>
              <a:t>Inheritance implements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70B3-6B62-2F4A-8F55-F6D3BBCC7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0" y="780836"/>
            <a:ext cx="8876872" cy="57120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interface Shape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getArea</a:t>
            </a:r>
            <a:r>
              <a:rPr lang="en-IN" dirty="0"/>
              <a:t>: () =&gt; number;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class Rectangle implements Shape {</a:t>
            </a:r>
          </a:p>
          <a:p>
            <a:pPr marL="0" indent="0">
              <a:buNone/>
            </a:pPr>
            <a:r>
              <a:rPr lang="en-IN" dirty="0"/>
              <a:t>  public constructor(protected </a:t>
            </a:r>
            <a:r>
              <a:rPr lang="en-IN" dirty="0" err="1"/>
              <a:t>readonly</a:t>
            </a:r>
            <a:r>
              <a:rPr lang="en-IN" dirty="0"/>
              <a:t> width: number, protected </a:t>
            </a:r>
            <a:r>
              <a:rPr lang="en-IN" dirty="0" err="1"/>
              <a:t>readonly</a:t>
            </a:r>
            <a:r>
              <a:rPr lang="en-IN" dirty="0"/>
              <a:t> height: number) {}</a:t>
            </a:r>
          </a:p>
          <a:p>
            <a:pPr marL="0" indent="0">
              <a:buNone/>
            </a:pPr>
            <a:r>
              <a:rPr lang="en-IN" dirty="0"/>
              <a:t>  public </a:t>
            </a:r>
            <a:r>
              <a:rPr lang="en-IN" dirty="0" err="1"/>
              <a:t>getArea</a:t>
            </a:r>
            <a:r>
              <a:rPr lang="en-IN" dirty="0"/>
              <a:t>(): number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this.width</a:t>
            </a:r>
            <a:r>
              <a:rPr lang="en-IN" dirty="0"/>
              <a:t> * </a:t>
            </a:r>
            <a:r>
              <a:rPr lang="en-IN" dirty="0" err="1"/>
              <a:t>this.height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myRect</a:t>
            </a:r>
            <a:r>
              <a:rPr lang="en-IN" dirty="0"/>
              <a:t> = new Rectangle(10,20);</a:t>
            </a:r>
          </a:p>
          <a:p>
            <a:pPr marL="0" indent="0">
              <a:buNone/>
            </a:pPr>
            <a:r>
              <a:rPr lang="en-IN" dirty="0"/>
              <a:t>console.log(</a:t>
            </a:r>
            <a:r>
              <a:rPr lang="en-IN" dirty="0" err="1"/>
              <a:t>myRect.getArea</a:t>
            </a:r>
            <a:r>
              <a:rPr lang="en-IN" dirty="0"/>
              <a:t>());  //Output 200</a:t>
            </a:r>
          </a:p>
        </p:txBody>
      </p:sp>
    </p:spTree>
    <p:extLst>
      <p:ext uri="{BB962C8B-B14F-4D97-AF65-F5344CB8AC3E}">
        <p14:creationId xmlns:p14="http://schemas.microsoft.com/office/powerpoint/2010/main" val="1647152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5B2F-E361-2C08-1876-ACD1DBC5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12" y="128821"/>
            <a:ext cx="8361238" cy="631467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00FF"/>
                </a:solidFill>
              </a:rPr>
              <a:t>Generic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F1A47-5893-A9E1-E4BF-CF961F3CC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0288"/>
            <a:ext cx="8989888" cy="569407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FF"/>
                </a:solidFill>
              </a:rPr>
              <a:t>Generics offer a way to create reusable components. Generics provide a way to make components work with any data type and not restrict to one data type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getArray</a:t>
            </a:r>
            <a:r>
              <a:rPr lang="en-IN" dirty="0"/>
              <a:t>(items : any[] ) : any[] {</a:t>
            </a:r>
          </a:p>
          <a:p>
            <a:pPr marL="0" indent="0">
              <a:buNone/>
            </a:pPr>
            <a:r>
              <a:rPr lang="en-IN" dirty="0"/>
              <a:t>    return new Array().</a:t>
            </a:r>
            <a:r>
              <a:rPr lang="en-IN" dirty="0" err="1"/>
              <a:t>concat</a:t>
            </a:r>
            <a:r>
              <a:rPr lang="en-IN" dirty="0"/>
              <a:t>(items);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myNumArr</a:t>
            </a:r>
            <a:r>
              <a:rPr lang="en-IN" dirty="0"/>
              <a:t> = </a:t>
            </a:r>
            <a:r>
              <a:rPr lang="en-IN" dirty="0" err="1"/>
              <a:t>getArray</a:t>
            </a:r>
            <a:r>
              <a:rPr lang="en-IN" dirty="0"/>
              <a:t>([100, 200, 300]);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myStrArr</a:t>
            </a:r>
            <a:r>
              <a:rPr lang="en-IN" dirty="0"/>
              <a:t> = </a:t>
            </a:r>
            <a:r>
              <a:rPr lang="en-IN" dirty="0" err="1"/>
              <a:t>getArray</a:t>
            </a:r>
            <a:r>
              <a:rPr lang="en-IN" dirty="0"/>
              <a:t>(["Hello", "World"]);</a:t>
            </a:r>
          </a:p>
          <a:p>
            <a:pPr marL="0" indent="0">
              <a:buNone/>
            </a:pPr>
            <a:r>
              <a:rPr lang="en-IN" dirty="0" err="1"/>
              <a:t>myNumArr.push</a:t>
            </a:r>
            <a:r>
              <a:rPr lang="en-IN" dirty="0"/>
              <a:t>(400); // OK</a:t>
            </a:r>
          </a:p>
          <a:p>
            <a:pPr marL="0" indent="0">
              <a:buNone/>
            </a:pPr>
            <a:r>
              <a:rPr lang="en-IN" dirty="0" err="1"/>
              <a:t>myStrArr.push</a:t>
            </a:r>
            <a:r>
              <a:rPr lang="en-IN" dirty="0"/>
              <a:t>("Hello TypeScript"); // OK</a:t>
            </a:r>
          </a:p>
          <a:p>
            <a:pPr marL="0" indent="0">
              <a:buNone/>
            </a:pPr>
            <a:r>
              <a:rPr lang="en-IN" dirty="0" err="1"/>
              <a:t>myNumArr.push</a:t>
            </a:r>
            <a:r>
              <a:rPr lang="en-IN" dirty="0"/>
              <a:t>("Hi"); // OK</a:t>
            </a:r>
          </a:p>
          <a:p>
            <a:pPr marL="0" indent="0">
              <a:buNone/>
            </a:pPr>
            <a:r>
              <a:rPr lang="en-IN" dirty="0" err="1"/>
              <a:t>myStrArr.push</a:t>
            </a:r>
            <a:r>
              <a:rPr lang="en-IN" dirty="0"/>
              <a:t>(500); // OK</a:t>
            </a:r>
          </a:p>
          <a:p>
            <a:pPr marL="0" indent="0">
              <a:buNone/>
            </a:pPr>
            <a:endParaRPr lang="en-I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0000FF"/>
                </a:solidFill>
              </a:rPr>
              <a:t>console.log(</a:t>
            </a:r>
            <a:r>
              <a:rPr lang="en-IN" dirty="0" err="1">
                <a:solidFill>
                  <a:srgbClr val="0000FF"/>
                </a:solidFill>
              </a:rPr>
              <a:t>myNumArr</a:t>
            </a:r>
            <a:r>
              <a:rPr lang="en-IN" dirty="0">
                <a:solidFill>
                  <a:srgbClr val="0000FF"/>
                </a:solidFill>
              </a:rPr>
              <a:t>); // [100, 200, 300, 400, "Hi"]</a:t>
            </a:r>
          </a:p>
          <a:p>
            <a:pPr marL="0" indent="0">
              <a:buNone/>
            </a:pPr>
            <a:r>
              <a:rPr lang="en-IN" dirty="0">
                <a:solidFill>
                  <a:srgbClr val="0000FF"/>
                </a:solidFill>
              </a:rPr>
              <a:t>console.log(</a:t>
            </a:r>
            <a:r>
              <a:rPr lang="en-IN" dirty="0" err="1">
                <a:solidFill>
                  <a:srgbClr val="0000FF"/>
                </a:solidFill>
              </a:rPr>
              <a:t>myStrArr</a:t>
            </a:r>
            <a:r>
              <a:rPr lang="en-IN" dirty="0">
                <a:solidFill>
                  <a:srgbClr val="0000FF"/>
                </a:solidFill>
              </a:rPr>
              <a:t>); // ["Hello", "World", "Hello TypeScript", 500]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747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AFBAB-177D-A078-7062-AFCDCB081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306" y="1825625"/>
            <a:ext cx="8784404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function </a:t>
            </a:r>
            <a:r>
              <a:rPr lang="en-IN" sz="3200" dirty="0" err="1"/>
              <a:t>displayType</a:t>
            </a:r>
            <a:r>
              <a:rPr lang="en-IN" sz="3200" dirty="0"/>
              <a:t>&lt;T, U&gt;(</a:t>
            </a:r>
            <a:r>
              <a:rPr lang="en-IN" sz="3200" dirty="0" err="1"/>
              <a:t>id:T</a:t>
            </a:r>
            <a:r>
              <a:rPr lang="en-IN" sz="3200" dirty="0"/>
              <a:t>, </a:t>
            </a:r>
            <a:r>
              <a:rPr lang="en-IN" sz="3200" dirty="0" err="1"/>
              <a:t>name:U</a:t>
            </a:r>
            <a:r>
              <a:rPr lang="en-IN" sz="3200" dirty="0"/>
              <a:t>): void { </a:t>
            </a:r>
          </a:p>
          <a:p>
            <a:pPr marL="0" indent="0">
              <a:buNone/>
            </a:pPr>
            <a:r>
              <a:rPr lang="en-IN" sz="3200" dirty="0"/>
              <a:t>  console.log(</a:t>
            </a:r>
            <a:r>
              <a:rPr lang="en-IN" sz="3200" dirty="0" err="1"/>
              <a:t>typeof</a:t>
            </a:r>
            <a:r>
              <a:rPr lang="en-IN" sz="3200" dirty="0"/>
              <a:t>(id) + ", " + </a:t>
            </a:r>
            <a:r>
              <a:rPr lang="en-IN" sz="3200" dirty="0" err="1"/>
              <a:t>typeof</a:t>
            </a:r>
            <a:r>
              <a:rPr lang="en-IN" sz="3200" dirty="0"/>
              <a:t>(name));  </a:t>
            </a:r>
          </a:p>
          <a:p>
            <a:pPr marL="0" indent="0">
              <a:buNone/>
            </a:pPr>
            <a:r>
              <a:rPr lang="en-IN" sz="3200" dirty="0"/>
              <a:t>}</a:t>
            </a:r>
          </a:p>
          <a:p>
            <a:pPr marL="0" indent="0">
              <a:buNone/>
            </a:pPr>
            <a:r>
              <a:rPr lang="en-IN" sz="3200" dirty="0" err="1"/>
              <a:t>displayType</a:t>
            </a:r>
            <a:r>
              <a:rPr lang="en-IN" sz="3200" dirty="0"/>
              <a:t>&lt;number, string&gt;(1, "Steve"); // number, string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EA73D0-44D5-8CBC-3A39-D5778376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12" y="519239"/>
            <a:ext cx="8361238" cy="631467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00FF"/>
                </a:solidFill>
              </a:rPr>
              <a:t>Generic</a:t>
            </a:r>
          </a:p>
        </p:txBody>
      </p:sp>
    </p:spTree>
    <p:extLst>
      <p:ext uri="{BB962C8B-B14F-4D97-AF65-F5344CB8AC3E}">
        <p14:creationId xmlns:p14="http://schemas.microsoft.com/office/powerpoint/2010/main" val="532546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763E-F931-1358-E254-8D59642B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A296A-8E2F-CFD2-0F18-214EBCAB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9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</TotalTime>
  <Words>1672</Words>
  <Application>Microsoft Office PowerPoint</Application>
  <PresentationFormat>On-screen Show (4:3)</PresentationFormat>
  <Paragraphs>148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Alef</vt:lpstr>
      <vt:lpstr>Arial</vt:lpstr>
      <vt:lpstr>Calibri</vt:lpstr>
      <vt:lpstr>Calibri Light</vt:lpstr>
      <vt:lpstr>Wingdings</vt:lpstr>
      <vt:lpstr>Office Theme</vt:lpstr>
      <vt:lpstr>TypeScript</vt:lpstr>
      <vt:lpstr>What is TypeScript?</vt:lpstr>
      <vt:lpstr>Object types</vt:lpstr>
      <vt:lpstr>Object types</vt:lpstr>
      <vt:lpstr>Object types</vt:lpstr>
      <vt:lpstr>Enums</vt:lpstr>
      <vt:lpstr>Enum</vt:lpstr>
      <vt:lpstr>Enum</vt:lpstr>
      <vt:lpstr>Type Alias</vt:lpstr>
      <vt:lpstr>Union &amp; Intersections</vt:lpstr>
      <vt:lpstr>Interfaces</vt:lpstr>
      <vt:lpstr>Union</vt:lpstr>
      <vt:lpstr> What is Type Annotations in TypeScript ? </vt:lpstr>
      <vt:lpstr> Function with Type Annotations </vt:lpstr>
      <vt:lpstr> Object with Type Annotations </vt:lpstr>
      <vt:lpstr> Array with Type Annotations </vt:lpstr>
      <vt:lpstr> Class with Type Annotations </vt:lpstr>
      <vt:lpstr>Class</vt:lpstr>
      <vt:lpstr>Class</vt:lpstr>
      <vt:lpstr>Readonly member</vt:lpstr>
      <vt:lpstr>Inheritance implements</vt:lpstr>
      <vt:lpstr>Generic</vt:lpstr>
      <vt:lpstr>Generic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sharan ramesh</dc:creator>
  <cp:lastModifiedBy>sharan ramesh</cp:lastModifiedBy>
  <cp:revision>61</cp:revision>
  <dcterms:created xsi:type="dcterms:W3CDTF">2026-01-08T16:16:37Z</dcterms:created>
  <dcterms:modified xsi:type="dcterms:W3CDTF">2026-01-08T17:56:27Z</dcterms:modified>
</cp:coreProperties>
</file>