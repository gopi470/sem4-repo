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36"/>
  </p:notesMasterIdLst>
  <p:handoutMasterIdLst>
    <p:handoutMasterId r:id="rId37"/>
  </p:handoutMasterIdLst>
  <p:sldIdLst>
    <p:sldId id="260" r:id="rId2"/>
    <p:sldId id="349" r:id="rId3"/>
    <p:sldId id="350" r:id="rId4"/>
    <p:sldId id="351" r:id="rId5"/>
    <p:sldId id="352" r:id="rId6"/>
    <p:sldId id="462" r:id="rId7"/>
    <p:sldId id="477" r:id="rId8"/>
    <p:sldId id="478" r:id="rId9"/>
    <p:sldId id="454" r:id="rId10"/>
    <p:sldId id="455" r:id="rId11"/>
    <p:sldId id="465" r:id="rId12"/>
    <p:sldId id="466" r:id="rId13"/>
    <p:sldId id="468" r:id="rId14"/>
    <p:sldId id="491" r:id="rId15"/>
    <p:sldId id="469" r:id="rId16"/>
    <p:sldId id="467" r:id="rId17"/>
    <p:sldId id="470" r:id="rId18"/>
    <p:sldId id="471" r:id="rId19"/>
    <p:sldId id="472" r:id="rId20"/>
    <p:sldId id="473" r:id="rId21"/>
    <p:sldId id="474" r:id="rId22"/>
    <p:sldId id="479" r:id="rId23"/>
    <p:sldId id="480" r:id="rId24"/>
    <p:sldId id="489" r:id="rId25"/>
    <p:sldId id="490" r:id="rId26"/>
    <p:sldId id="481" r:id="rId27"/>
    <p:sldId id="482" r:id="rId28"/>
    <p:sldId id="483" r:id="rId29"/>
    <p:sldId id="484" r:id="rId30"/>
    <p:sldId id="485" r:id="rId31"/>
    <p:sldId id="486" r:id="rId32"/>
    <p:sldId id="487" r:id="rId33"/>
    <p:sldId id="488" r:id="rId34"/>
    <p:sldId id="39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13" autoAdjust="0"/>
    <p:restoredTop sz="94364" autoAdjust="0"/>
  </p:normalViewPr>
  <p:slideViewPr>
    <p:cSldViewPr snapToGrid="0">
      <p:cViewPr varScale="1">
        <p:scale>
          <a:sx n="72" d="100"/>
          <a:sy n="72" d="100"/>
        </p:scale>
        <p:origin x="15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F388E-B209-4189-AC4C-E62210A861A1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999F0-ECA0-4CD1-92F6-D20BDCEED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E1F4-F26E-4707-8020-842D2FFCB5F6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4743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B0B8A-B651-4CB2-8667-94B02899294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180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35368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Student Notes:</a:t>
            </a:r>
          </a:p>
          <a:p>
            <a:endParaRPr lang="en-US" b="1" dirty="0"/>
          </a:p>
          <a:p>
            <a:r>
              <a:rPr lang="en-US" dirty="0"/>
              <a:t>The objective of the session is to introduce the concept of services</a:t>
            </a:r>
            <a:r>
              <a:rPr lang="en-US" baseline="0" dirty="0"/>
              <a:t> and how these are management. There are standards and frameworks that enable the organization to manage the services. These are also introduced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2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94871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3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617252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31602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83235"/>
            <a:ext cx="9128125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11275239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1066800"/>
            <a:ext cx="822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00520" y="6291590"/>
            <a:ext cx="4667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baseline="0" dirty="0"/>
              <a:t>v 1.2</a:t>
            </a:r>
            <a:endParaRPr lang="en-US" sz="1050" i="1" dirty="0"/>
          </a:p>
        </p:txBody>
      </p:sp>
    </p:spTree>
    <p:extLst>
      <p:ext uri="{BB962C8B-B14F-4D97-AF65-F5344CB8AC3E}">
        <p14:creationId xmlns:p14="http://schemas.microsoft.com/office/powerpoint/2010/main" val="179023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68727"/>
            <a:ext cx="9142413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0" y="6213364"/>
            <a:ext cx="685800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>
    <p:wipe dir="d"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tealium.com/solutions/?example=test&amp;example2=test2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tp://ftp.rfc-editor.org/in-notes/rfc2616.tx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ftp://ftp.rfc-editor.org/in-notes/rfc2046.tx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HTTP Request &amp; Response Message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537728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learn the HTTP request &amp; response messages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81625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session, participants will be able to</a:t>
            </a:r>
          </a:p>
          <a:p>
            <a:pPr lvl="1"/>
            <a:r>
              <a:rPr lang="en-US" dirty="0"/>
              <a:t>Understand the communication of messages between web server and the web client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3779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199" y="1219202"/>
            <a:ext cx="7496176" cy="4906963"/>
          </a:xfrm>
        </p:spPr>
        <p:txBody>
          <a:bodyPr/>
          <a:lstStyle/>
          <a:p>
            <a:pPr lvl="1">
              <a:buFont typeface="Arial" pitchFamily="34" charset="0"/>
              <a:buChar char="•"/>
            </a:pPr>
            <a:r>
              <a:rPr lang="en-IN" dirty="0"/>
              <a:t>HTTP Request Message</a:t>
            </a:r>
          </a:p>
          <a:p>
            <a:pPr lvl="1">
              <a:buFont typeface="Arial" pitchFamily="34" charset="0"/>
              <a:buChar char="•"/>
            </a:pPr>
            <a:r>
              <a:rPr lang="en-IN" dirty="0"/>
              <a:t>HTTP Response Message</a:t>
            </a:r>
          </a:p>
        </p:txBody>
      </p:sp>
    </p:spTree>
    <p:extLst>
      <p:ext uri="{BB962C8B-B14F-4D97-AF65-F5344CB8AC3E}">
        <p14:creationId xmlns:p14="http://schemas.microsoft.com/office/powerpoint/2010/main" val="1426215993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760" y="1574963"/>
            <a:ext cx="8801100" cy="164306"/>
          </a:xfrm>
          <a:custGeom>
            <a:avLst/>
            <a:gdLst/>
            <a:ahLst/>
            <a:cxnLst/>
            <a:rect l="l" t="t" r="r" b="b"/>
            <a:pathLst>
              <a:path w="7040880" h="131444">
                <a:moveTo>
                  <a:pt x="6959777" y="0"/>
                </a:moveTo>
                <a:lnTo>
                  <a:pt x="80689" y="0"/>
                </a:lnTo>
                <a:lnTo>
                  <a:pt x="49359" y="6366"/>
                </a:lnTo>
                <a:lnTo>
                  <a:pt x="23702" y="23702"/>
                </a:lnTo>
                <a:lnTo>
                  <a:pt x="6366" y="49358"/>
                </a:lnTo>
                <a:lnTo>
                  <a:pt x="0" y="80688"/>
                </a:lnTo>
                <a:lnTo>
                  <a:pt x="0" y="130856"/>
                </a:lnTo>
                <a:lnTo>
                  <a:pt x="7040467" y="130856"/>
                </a:lnTo>
                <a:lnTo>
                  <a:pt x="7040467" y="80688"/>
                </a:lnTo>
                <a:lnTo>
                  <a:pt x="7034100" y="49358"/>
                </a:lnTo>
                <a:lnTo>
                  <a:pt x="7016764" y="23702"/>
                </a:lnTo>
                <a:lnTo>
                  <a:pt x="6991107" y="6366"/>
                </a:lnTo>
                <a:lnTo>
                  <a:pt x="695977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621" y="2674693"/>
            <a:ext cx="201720" cy="20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83" y="2649478"/>
            <a:ext cx="8699621" cy="226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344" y="1675370"/>
            <a:ext cx="100760" cy="999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697" y="1702347"/>
            <a:ext cx="8801100" cy="1112836"/>
          </a:xfrm>
          <a:custGeom>
            <a:avLst/>
            <a:gdLst/>
            <a:ahLst/>
            <a:cxnLst/>
            <a:rect l="l" t="t" r="r" b="b"/>
            <a:pathLst>
              <a:path w="7040880" h="890269">
                <a:moveTo>
                  <a:pt x="7040467" y="0"/>
                </a:moveTo>
                <a:lnTo>
                  <a:pt x="0" y="0"/>
                </a:lnTo>
                <a:lnTo>
                  <a:pt x="0" y="809228"/>
                </a:lnTo>
                <a:lnTo>
                  <a:pt x="6366" y="840558"/>
                </a:lnTo>
                <a:lnTo>
                  <a:pt x="23702" y="866214"/>
                </a:lnTo>
                <a:lnTo>
                  <a:pt x="49359" y="883550"/>
                </a:lnTo>
                <a:lnTo>
                  <a:pt x="80689" y="889917"/>
                </a:lnTo>
                <a:lnTo>
                  <a:pt x="6959777" y="889917"/>
                </a:lnTo>
                <a:lnTo>
                  <a:pt x="6991107" y="883550"/>
                </a:lnTo>
                <a:lnTo>
                  <a:pt x="7016764" y="866214"/>
                </a:lnTo>
                <a:lnTo>
                  <a:pt x="7034100" y="840558"/>
                </a:lnTo>
                <a:lnTo>
                  <a:pt x="7040467" y="809228"/>
                </a:lnTo>
                <a:lnTo>
                  <a:pt x="70404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2344" y="1750988"/>
            <a:ext cx="0" cy="962025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2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2344" y="172577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2344" y="1700558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2344" y="167534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7383" y="1894432"/>
            <a:ext cx="8229600" cy="50767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 Request and Response messages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79051" y="3201997"/>
            <a:ext cx="2386013" cy="926216"/>
          </a:xfrm>
          <a:prstGeom prst="rect">
            <a:avLst/>
          </a:prstGeom>
        </p:spPr>
        <p:txBody>
          <a:bodyPr vert="horz" wrap="square" lIns="0" tIns="20638" rIns="0" bIns="0" rtlCol="0">
            <a:spAutoFit/>
          </a:bodyPr>
          <a:lstStyle/>
          <a:p>
            <a:pPr algn="ctr">
              <a:spcBef>
                <a:spcPts val="163"/>
              </a:spcBef>
            </a:pPr>
            <a:r>
              <a:rPr lang="en-IN" sz="2100" b="1" spc="142" dirty="0">
                <a:latin typeface="PMingLiU"/>
                <a:cs typeface="PMingLiU"/>
              </a:rPr>
              <a:t>Dr. B. </a:t>
            </a:r>
            <a:r>
              <a:rPr lang="en-IN" sz="2100" b="1" spc="142" dirty="0" err="1">
                <a:latin typeface="PMingLiU"/>
                <a:cs typeface="PMingLiU"/>
              </a:rPr>
              <a:t>Prabavathy</a:t>
            </a:r>
            <a:endParaRPr sz="2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6" dirty="0">
                <a:latin typeface="Century"/>
                <a:cs typeface="Century"/>
              </a:rPr>
              <a:t>SSNCE</a:t>
            </a:r>
            <a:endParaRPr sz="1600" dirty="0">
              <a:latin typeface="Century"/>
              <a:cs typeface="Century"/>
            </a:endParaRPr>
          </a:p>
          <a:p>
            <a:pPr>
              <a:spcBef>
                <a:spcPts val="50"/>
              </a:spcBef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-2449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135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Web is the collection of machines (</a:t>
            </a:r>
            <a:r>
              <a:rPr lang="en-US" sz="2800" dirty="0">
                <a:solidFill>
                  <a:schemeClr val="hlink"/>
                </a:solidFill>
              </a:rPr>
              <a:t>Web servers</a:t>
            </a:r>
            <a:r>
              <a:rPr lang="en-US" sz="2800" dirty="0"/>
              <a:t>) on the Internet that provide information, particularly HTML documents, via HTTP</a:t>
            </a:r>
          </a:p>
          <a:p>
            <a:endParaRPr lang="en-US" sz="2800" dirty="0"/>
          </a:p>
          <a:p>
            <a:r>
              <a:rPr lang="en-US" sz="2800" dirty="0"/>
              <a:t>Machines that access information on the Web are known as </a:t>
            </a:r>
            <a:r>
              <a:rPr lang="en-US" sz="2800" dirty="0">
                <a:solidFill>
                  <a:schemeClr val="hlink"/>
                </a:solidFill>
              </a:rPr>
              <a:t>Web clients</a:t>
            </a:r>
            <a:r>
              <a:rPr lang="en-US" sz="2800" dirty="0"/>
              <a:t>.  A </a:t>
            </a:r>
            <a:r>
              <a:rPr lang="en-US" sz="2800" dirty="0">
                <a:solidFill>
                  <a:schemeClr val="hlink"/>
                </a:solidFill>
              </a:rPr>
              <a:t>Web browser</a:t>
            </a:r>
            <a:r>
              <a:rPr lang="en-US" sz="2800" dirty="0"/>
              <a:t> is software used by an end user to access the Web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web client (web browser) will do?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Normally implemented over a TCP connection (80 is standard port number for HTTP)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Typical browser-server interaction: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User enters Web address in browser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uses DNS to locate IP address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opens TCP connection to server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sends HTTP request over connection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Server sends HTTP response to browser over connection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displays body of response in the </a:t>
            </a:r>
            <a:r>
              <a:rPr lang="en-US" sz="2400" dirty="0">
                <a:solidFill>
                  <a:schemeClr val="hlink"/>
                </a:solidFill>
              </a:rPr>
              <a:t>client area</a:t>
            </a:r>
            <a:r>
              <a:rPr lang="en-US" sz="2400" dirty="0"/>
              <a:t> of the browser window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 web server will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Basic functionality: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Receive HTTP request via TCP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Host header to specific </a:t>
            </a:r>
            <a:r>
              <a:rPr lang="en-US" sz="2400" dirty="0">
                <a:solidFill>
                  <a:schemeClr val="hlink"/>
                </a:solidFill>
              </a:rPr>
              <a:t>virtual host</a:t>
            </a:r>
            <a:r>
              <a:rPr lang="en-US" sz="2400" i="1" dirty="0"/>
              <a:t> </a:t>
            </a:r>
            <a:r>
              <a:rPr lang="en-US" sz="2400" dirty="0"/>
              <a:t>(one of many host names sharing an IP address)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Request-URI to specific resource associated with the virtual host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File: Return file in HTTP response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Program: Run program and return output in HTTP response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type of resource to appropriate MIME type and use to set Content-Type header in HTTP response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Log information about the request and response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URI, URL and 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Uniform Resource Identifier (URI)</a:t>
            </a:r>
          </a:p>
          <a:p>
            <a:pPr lvl="1"/>
            <a:r>
              <a:rPr lang="en-IN" sz="2400" dirty="0"/>
              <a:t>URI is the superset of both URL and URN </a:t>
            </a:r>
          </a:p>
          <a:p>
            <a:pPr lvl="1"/>
            <a:r>
              <a:rPr lang="en-IN" sz="2400" dirty="0"/>
              <a:t>URL, and URN are used to identify any resource or name on the internet</a:t>
            </a:r>
          </a:p>
          <a:p>
            <a:pPr lvl="2"/>
            <a:r>
              <a:rPr lang="en-IN" sz="2600" dirty="0"/>
              <a:t>URL – Uniform Resource Locator</a:t>
            </a:r>
          </a:p>
          <a:p>
            <a:pPr lvl="2"/>
            <a:r>
              <a:rPr lang="en-IN" sz="2600" dirty="0"/>
              <a:t>URN – Uniform Resource Name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URN just </a:t>
            </a:r>
            <a:r>
              <a:rPr lang="en-IN" sz="2800" dirty="0">
                <a:solidFill>
                  <a:srgbClr val="FF0000"/>
                </a:solidFill>
              </a:rPr>
              <a:t>uniquely identifies the resource </a:t>
            </a:r>
            <a:r>
              <a:rPr lang="en-IN" sz="2800" dirty="0"/>
              <a:t>e.g. ISBN numbers which are a good example of URN is used to identify any book</a:t>
            </a:r>
          </a:p>
          <a:p>
            <a:r>
              <a:rPr lang="en-IN" sz="2800" dirty="0"/>
              <a:t>URN Example</a:t>
            </a:r>
          </a:p>
          <a:p>
            <a:pPr lvl="1"/>
            <a:r>
              <a:rPr lang="en-IN" sz="2800" dirty="0"/>
              <a:t>urn:uuid:6e8bc430-9c3a-11d9-9669-0800200c9a66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URL usually consists of the following components: </a:t>
            </a:r>
            <a:br>
              <a:rPr lang="en-IN" dirty="0"/>
            </a:br>
            <a:r>
              <a:rPr lang="en-IN" dirty="0"/>
              <a:t>Protocol, domain, path (or pathname), hash and query string.</a:t>
            </a:r>
          </a:p>
          <a:p>
            <a:r>
              <a:rPr lang="en-IN" dirty="0"/>
              <a:t>Protocol is the technology that will be used to transfer the data, usually http or https</a:t>
            </a:r>
          </a:p>
          <a:p>
            <a:pPr lvl="1"/>
            <a:r>
              <a:rPr lang="en-IN" sz="2400" dirty="0"/>
              <a:t>Domain is the </a:t>
            </a:r>
            <a:r>
              <a:rPr lang="en-IN" sz="2400" dirty="0" err="1"/>
              <a:t>the</a:t>
            </a:r>
            <a:r>
              <a:rPr lang="en-IN" sz="2400" dirty="0"/>
              <a:t> domain name, </a:t>
            </a:r>
            <a:r>
              <a:rPr lang="en-IN" sz="2400" i="1" dirty="0"/>
              <a:t>tealium.com</a:t>
            </a:r>
            <a:r>
              <a:rPr lang="en-IN" sz="2400" dirty="0"/>
              <a:t> for example.</a:t>
            </a:r>
          </a:p>
          <a:p>
            <a:pPr lvl="1"/>
            <a:r>
              <a:rPr lang="en-IN" sz="2400" dirty="0"/>
              <a:t>Path relates to the section and page on the site</a:t>
            </a:r>
          </a:p>
          <a:p>
            <a:pPr lvl="1"/>
            <a:r>
              <a:rPr lang="en-IN" sz="2400" dirty="0"/>
              <a:t>Query string contains data that is being passed to the page</a:t>
            </a:r>
          </a:p>
          <a:p>
            <a:pPr lvl="1"/>
            <a:r>
              <a:rPr lang="en-IN" sz="2400" dirty="0"/>
              <a:t>Hash relates to a section within the page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5104"/>
            <a:ext cx="8229600" cy="633446"/>
          </a:xfrm>
        </p:spPr>
        <p:txBody>
          <a:bodyPr/>
          <a:lstStyle/>
          <a:p>
            <a:r>
              <a:rPr lang="en-IN" sz="2800" dirty="0"/>
              <a:t>URL &amp; URN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5949"/>
            <a:ext cx="8229600" cy="3140764"/>
          </a:xfrm>
        </p:spPr>
        <p:txBody>
          <a:bodyPr/>
          <a:lstStyle/>
          <a:p>
            <a:r>
              <a:rPr lang="en-IN" dirty="0"/>
              <a:t>URL Example</a:t>
            </a:r>
          </a:p>
          <a:p>
            <a:pPr lvl="1"/>
            <a:r>
              <a:rPr lang="en-IN" sz="2400" dirty="0">
                <a:hlinkClick r:id="rId2"/>
              </a:rPr>
              <a:t>http://tealium.com/solutions/?example=test&amp;example2=test2</a:t>
            </a:r>
            <a:endParaRPr lang="en-IN" sz="2400" dirty="0"/>
          </a:p>
          <a:p>
            <a:pPr lvl="1"/>
            <a:r>
              <a:rPr lang="en-IN" sz="2400" dirty="0"/>
              <a:t>domain: "tealium.com" </a:t>
            </a:r>
          </a:p>
          <a:p>
            <a:pPr lvl="1"/>
            <a:r>
              <a:rPr lang="en-IN" sz="2400" dirty="0"/>
              <a:t>pathname: "/solutions/" </a:t>
            </a:r>
          </a:p>
          <a:p>
            <a:pPr lvl="1"/>
            <a:r>
              <a:rPr lang="en-IN" sz="2400" dirty="0" err="1"/>
              <a:t>query_string</a:t>
            </a:r>
            <a:r>
              <a:rPr lang="en-IN" sz="2400" dirty="0"/>
              <a:t>: "example=test&amp;example2=test2" </a:t>
            </a:r>
          </a:p>
          <a:p>
            <a:endParaRPr lang="en-IN" sz="2000" dirty="0"/>
          </a:p>
        </p:txBody>
      </p:sp>
      <p:pic>
        <p:nvPicPr>
          <p:cNvPr id="5" name="Picture 4" descr="A computer screen shot of a website&#10;&#10;Description automatically generated">
            <a:extLst>
              <a:ext uri="{FF2B5EF4-FFF2-40B4-BE49-F238E27FC236}">
                <a16:creationId xmlns:a16="http://schemas.microsoft.com/office/drawing/2014/main" id="{5D897F1B-D32D-8A3E-EE3E-5FD88FACF4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26" y="3753704"/>
            <a:ext cx="6586332" cy="279919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Hypertext Transfer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hlinkClick r:id="rId2"/>
              </a:rPr>
              <a:t>HTTP</a:t>
            </a:r>
            <a:r>
              <a:rPr lang="en-US" sz="2800" dirty="0"/>
              <a:t> is based on the </a:t>
            </a:r>
            <a:r>
              <a:rPr lang="en-US" sz="2800" dirty="0">
                <a:solidFill>
                  <a:schemeClr val="hlink"/>
                </a:solidFill>
              </a:rPr>
              <a:t>request-response</a:t>
            </a:r>
            <a:r>
              <a:rPr lang="en-US" sz="2800" dirty="0"/>
              <a:t> communication model:</a:t>
            </a:r>
          </a:p>
          <a:p>
            <a:pPr lvl="1"/>
            <a:r>
              <a:rPr lang="en-US" sz="2800" dirty="0"/>
              <a:t>Client sends a request</a:t>
            </a:r>
          </a:p>
          <a:p>
            <a:pPr lvl="1"/>
            <a:r>
              <a:rPr lang="en-US" sz="2800" dirty="0"/>
              <a:t>Server sends a response</a:t>
            </a:r>
          </a:p>
          <a:p>
            <a:r>
              <a:rPr lang="en-US" sz="2800" dirty="0"/>
              <a:t>HTTP is a </a:t>
            </a:r>
            <a:r>
              <a:rPr lang="en-US" sz="2800" dirty="0">
                <a:solidFill>
                  <a:schemeClr val="hlink"/>
                </a:solidFill>
              </a:rPr>
              <a:t>stateless</a:t>
            </a:r>
            <a:r>
              <a:rPr lang="en-US" sz="2800" dirty="0"/>
              <a:t> protocol: </a:t>
            </a:r>
          </a:p>
          <a:p>
            <a:pPr lvl="1"/>
            <a:r>
              <a:rPr lang="en-US" sz="2800" dirty="0"/>
              <a:t>The protocol does not require the server to remember anything about the client between requests.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CF45-3E47-2D9C-D451-EF705036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7AD6-6A2D-ECBE-B2B4-183807C5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HTTP request message has the same basic structure:</a:t>
            </a:r>
          </a:p>
          <a:p>
            <a:pPr lvl="1"/>
            <a:r>
              <a:rPr lang="en-US" dirty="0"/>
              <a:t>Start line</a:t>
            </a:r>
          </a:p>
          <a:p>
            <a:pPr lvl="1"/>
            <a:r>
              <a:rPr lang="en-US" dirty="0"/>
              <a:t>Header field(s) (one or more)</a:t>
            </a:r>
          </a:p>
          <a:p>
            <a:pPr lvl="1"/>
            <a:r>
              <a:rPr lang="en-US" dirty="0"/>
              <a:t>Blank line</a:t>
            </a:r>
          </a:p>
          <a:p>
            <a:pPr lvl="1"/>
            <a:r>
              <a:rPr lang="en-US" dirty="0"/>
              <a:t>Message body (optional)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694543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Start line</a:t>
            </a:r>
          </a:p>
          <a:p>
            <a:pPr lvl="1"/>
            <a:r>
              <a:rPr lang="en-US" sz="2800" dirty="0"/>
              <a:t>Example: </a:t>
            </a:r>
            <a:r>
              <a:rPr lang="en-US" sz="2800" dirty="0">
                <a:latin typeface="Lucida Sans Typewriter" pitchFamily="49" charset="0"/>
              </a:rPr>
              <a:t>GET / HTTP/1.1</a:t>
            </a:r>
          </a:p>
          <a:p>
            <a:r>
              <a:rPr lang="en-US" sz="2800" dirty="0"/>
              <a:t>Three space-separated parts:</a:t>
            </a:r>
          </a:p>
          <a:p>
            <a:pPr lvl="1"/>
            <a:r>
              <a:rPr lang="en-US" sz="2800" b="1" dirty="0"/>
              <a:t>HTTP request method</a:t>
            </a:r>
          </a:p>
          <a:p>
            <a:pPr lvl="1"/>
            <a:r>
              <a:rPr lang="en-US" sz="2800" dirty="0"/>
              <a:t>Request-URI</a:t>
            </a:r>
          </a:p>
          <a:p>
            <a:pPr lvl="1"/>
            <a:r>
              <a:rPr lang="en-US" sz="2800" dirty="0"/>
              <a:t>HTTP version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Common request methods: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GET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Used if link is clicked or address typed in browser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No body in request with GET method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POST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Used when submit button is clicked on a form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Form information contained in body of request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HEAD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Requests that only header fields (no body) be returned in the response</a:t>
            </a: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Header field structure:</a:t>
            </a:r>
          </a:p>
          <a:p>
            <a:pPr lvl="1"/>
            <a:r>
              <a:rPr lang="en-US" sz="2800" i="1" dirty="0">
                <a:latin typeface="Lucida Sans Typewriter" pitchFamily="49" charset="0"/>
              </a:rPr>
              <a:t>field name</a:t>
            </a:r>
            <a:r>
              <a:rPr lang="en-US" sz="2800" dirty="0">
                <a:latin typeface="Lucida Sans Typewriter" pitchFamily="49" charset="0"/>
              </a:rPr>
              <a:t> : </a:t>
            </a:r>
            <a:r>
              <a:rPr lang="en-US" sz="2800" i="1" dirty="0">
                <a:latin typeface="Lucida Sans Typewriter" pitchFamily="49" charset="0"/>
              </a:rPr>
              <a:t>field value</a:t>
            </a:r>
          </a:p>
          <a:p>
            <a:r>
              <a:rPr lang="en-US" sz="2800" dirty="0"/>
              <a:t>Syntax</a:t>
            </a:r>
          </a:p>
          <a:p>
            <a:pPr lvl="1"/>
            <a:r>
              <a:rPr lang="en-US" sz="2800" dirty="0">
                <a:solidFill>
                  <a:schemeClr val="hlink"/>
                </a:solidFill>
              </a:rPr>
              <a:t>Field name</a:t>
            </a:r>
            <a:r>
              <a:rPr lang="en-US" sz="2800" dirty="0"/>
              <a:t> is not case sensitive</a:t>
            </a:r>
          </a:p>
          <a:p>
            <a:pPr lvl="1"/>
            <a:r>
              <a:rPr lang="en-US" sz="2800" dirty="0">
                <a:solidFill>
                  <a:schemeClr val="hlink"/>
                </a:solidFill>
              </a:rPr>
              <a:t>Field value</a:t>
            </a:r>
            <a:r>
              <a:rPr lang="en-US" sz="2800" dirty="0"/>
              <a:t> may continue on multiple lines by starting continuation lines with white space</a:t>
            </a:r>
          </a:p>
          <a:p>
            <a:pPr lvl="1"/>
            <a:r>
              <a:rPr lang="en-US" sz="2800" dirty="0"/>
              <a:t>Field values may contain </a:t>
            </a:r>
            <a:r>
              <a:rPr lang="en-US" sz="2800" dirty="0">
                <a:solidFill>
                  <a:schemeClr val="accent2"/>
                </a:solidFill>
              </a:rPr>
              <a:t>MIME types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/>
                </a:solidFill>
              </a:rPr>
              <a:t>quality values</a:t>
            </a:r>
            <a:r>
              <a:rPr lang="en-US" sz="2800" i="1" dirty="0"/>
              <a:t>,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accent2"/>
                </a:solidFill>
              </a:rPr>
              <a:t>wildcard characters</a:t>
            </a:r>
            <a:r>
              <a:rPr lang="en-US" sz="2800" dirty="0"/>
              <a:t> (*’s)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Multipurpose Internet Mail Extensions (</a:t>
            </a:r>
            <a:r>
              <a:rPr lang="en-US" dirty="0">
                <a:hlinkClick r:id="rId2"/>
              </a:rPr>
              <a:t>MIME</a:t>
            </a:r>
            <a:r>
              <a:rPr lang="en-US" dirty="0"/>
              <a:t>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Convention for specifying </a:t>
            </a:r>
            <a:r>
              <a:rPr lang="en-US" sz="2800" dirty="0">
                <a:solidFill>
                  <a:schemeClr val="hlink"/>
                </a:solidFill>
              </a:rPr>
              <a:t>content type</a:t>
            </a:r>
            <a:r>
              <a:rPr lang="en-US" sz="2800" dirty="0"/>
              <a:t> of a message</a:t>
            </a:r>
          </a:p>
          <a:p>
            <a:pPr lvl="1"/>
            <a:r>
              <a:rPr lang="en-US" sz="2800" dirty="0"/>
              <a:t>In HTTP, typically used to specify content type of the body of the response</a:t>
            </a:r>
          </a:p>
          <a:p>
            <a:r>
              <a:rPr lang="en-US" sz="2800" dirty="0"/>
              <a:t>MIME content type syntax:</a:t>
            </a:r>
          </a:p>
          <a:p>
            <a:pPr lvl="1"/>
            <a:r>
              <a:rPr lang="en-US" sz="2800" i="1" dirty="0">
                <a:latin typeface="Lucida Sans Typewriter" pitchFamily="49" charset="0"/>
              </a:rPr>
              <a:t>top-level type</a:t>
            </a:r>
            <a:r>
              <a:rPr lang="en-US" sz="2800" dirty="0">
                <a:latin typeface="Lucida Sans Typewriter" pitchFamily="49" charset="0"/>
              </a:rPr>
              <a:t> / </a:t>
            </a:r>
            <a:r>
              <a:rPr lang="en-US" sz="2800" i="1" dirty="0">
                <a:latin typeface="Lucida Sans Typewriter" pitchFamily="49" charset="0"/>
              </a:rPr>
              <a:t>subtype</a:t>
            </a:r>
          </a:p>
          <a:p>
            <a:r>
              <a:rPr lang="en-US" sz="2800" dirty="0"/>
              <a:t>Examples: text/html, image/jpeg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Quality Values and Wildcards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Example header field with </a:t>
            </a:r>
            <a:r>
              <a:rPr lang="en-US" sz="2800" dirty="0">
                <a:solidFill>
                  <a:schemeClr val="hlink"/>
                </a:solidFill>
              </a:rPr>
              <a:t>quality values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>
                <a:latin typeface="Lucida Sans Typewriter" pitchFamily="49" charset="0"/>
              </a:rPr>
              <a:t>accept: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text/</a:t>
            </a:r>
            <a:r>
              <a:rPr lang="en-US" sz="2800" dirty="0" err="1">
                <a:latin typeface="Lucida Sans Typewriter" pitchFamily="49" charset="0"/>
              </a:rPr>
              <a:t>xml,text</a:t>
            </a:r>
            <a:r>
              <a:rPr lang="en-US" sz="2800" dirty="0">
                <a:latin typeface="Lucida Sans Typewriter" pitchFamily="49" charset="0"/>
              </a:rPr>
              <a:t>/</a:t>
            </a:r>
            <a:r>
              <a:rPr lang="en-US" sz="2800" dirty="0" err="1">
                <a:latin typeface="Lucida Sans Typewriter" pitchFamily="49" charset="0"/>
              </a:rPr>
              <a:t>html;q</a:t>
            </a:r>
            <a:r>
              <a:rPr lang="en-US" sz="2800" dirty="0">
                <a:latin typeface="Lucida Sans Typewriter" pitchFamily="49" charset="0"/>
              </a:rPr>
              <a:t>=0.9,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text/</a:t>
            </a:r>
            <a:r>
              <a:rPr lang="en-US" sz="2800" dirty="0" err="1">
                <a:latin typeface="Lucida Sans Typewriter" pitchFamily="49" charset="0"/>
              </a:rPr>
              <a:t>plain;q</a:t>
            </a:r>
            <a:r>
              <a:rPr lang="en-US" sz="2800" dirty="0">
                <a:latin typeface="Lucida Sans Typewriter" pitchFamily="49" charset="0"/>
              </a:rPr>
              <a:t>=0.8, image/jpeg,   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image/</a:t>
            </a:r>
            <a:r>
              <a:rPr lang="en-US" sz="2800" dirty="0" err="1">
                <a:latin typeface="Lucida Sans Typewriter" pitchFamily="49" charset="0"/>
              </a:rPr>
              <a:t>gif;q</a:t>
            </a:r>
            <a:r>
              <a:rPr lang="en-US" sz="2800" dirty="0">
                <a:latin typeface="Lucida Sans Typewriter" pitchFamily="49" charset="0"/>
              </a:rPr>
              <a:t>=0.2,*/*;q=0.1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Quality value applies to all preceding items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Higher the value, higher the preference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Note use of wildcards to specify quality 0.1 for any MIME type not specified earlier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Header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Common header fields: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Host</a:t>
            </a:r>
            <a:r>
              <a:rPr lang="en-US" sz="2400" dirty="0"/>
              <a:t>: host name from URL (required)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User-Agent</a:t>
            </a:r>
            <a:r>
              <a:rPr lang="en-US" sz="2400" dirty="0"/>
              <a:t>: type of browser sending request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Accept</a:t>
            </a:r>
            <a:r>
              <a:rPr lang="en-US" sz="2400" dirty="0"/>
              <a:t>: MIME types of acceptable documents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Connection</a:t>
            </a:r>
            <a:r>
              <a:rPr lang="en-US" sz="2400" dirty="0"/>
              <a:t>: value </a:t>
            </a:r>
            <a:r>
              <a:rPr lang="en-US" sz="2400" dirty="0">
                <a:latin typeface="Lucida Sans Typewriter" pitchFamily="49" charset="0"/>
              </a:rPr>
              <a:t>close</a:t>
            </a:r>
            <a:r>
              <a:rPr lang="en-US" sz="2400" dirty="0"/>
              <a:t> tells server to close connection after single request/response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Content-Type</a:t>
            </a:r>
            <a:r>
              <a:rPr lang="en-US" sz="2400" dirty="0"/>
              <a:t>: MIME type of (POST) body, normally application/x-www-form-</a:t>
            </a:r>
            <a:r>
              <a:rPr lang="en-US" sz="2400" dirty="0" err="1"/>
              <a:t>urlencoded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Content-Length</a:t>
            </a:r>
            <a:r>
              <a:rPr lang="en-US" sz="2400" dirty="0"/>
              <a:t>: bytes in body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chemeClr val="accent2"/>
                </a:solidFill>
              </a:rPr>
              <a:t>Referer</a:t>
            </a:r>
            <a:r>
              <a:rPr lang="en-US" sz="2400" dirty="0"/>
              <a:t>: URL of document containing link that supplied URI for this HTTP request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Structure of the response:</a:t>
            </a:r>
          </a:p>
          <a:p>
            <a:pPr lvl="1"/>
            <a:r>
              <a:rPr lang="en-US" sz="2800" b="1" dirty="0"/>
              <a:t>status line</a:t>
            </a:r>
          </a:p>
          <a:p>
            <a:pPr lvl="1"/>
            <a:r>
              <a:rPr lang="en-US" sz="2800" dirty="0"/>
              <a:t>header field(s)</a:t>
            </a:r>
          </a:p>
          <a:p>
            <a:pPr lvl="1"/>
            <a:r>
              <a:rPr lang="en-US" sz="2800" dirty="0"/>
              <a:t>blank line</a:t>
            </a:r>
          </a:p>
          <a:p>
            <a:pPr lvl="1"/>
            <a:r>
              <a:rPr lang="en-US" sz="2800" dirty="0"/>
              <a:t>optional body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Status line</a:t>
            </a:r>
          </a:p>
          <a:p>
            <a:pPr lvl="1"/>
            <a:r>
              <a:rPr lang="en-US" sz="2800" dirty="0"/>
              <a:t>Example: HTTP/1.1 200 OK</a:t>
            </a:r>
            <a:endParaRPr lang="en-US" sz="2800" dirty="0">
              <a:latin typeface="Lucida Sans Typewriter" pitchFamily="49" charset="0"/>
            </a:endParaRPr>
          </a:p>
          <a:p>
            <a:r>
              <a:rPr lang="en-US" sz="2800" dirty="0"/>
              <a:t>Three space-separated parts:</a:t>
            </a:r>
          </a:p>
          <a:p>
            <a:pPr lvl="1"/>
            <a:r>
              <a:rPr lang="en-US" sz="2800" dirty="0"/>
              <a:t>HTTP version </a:t>
            </a:r>
          </a:p>
          <a:p>
            <a:pPr lvl="1"/>
            <a:r>
              <a:rPr lang="en-US" sz="2800" dirty="0"/>
              <a:t>status code</a:t>
            </a:r>
          </a:p>
          <a:p>
            <a:pPr lvl="1"/>
            <a:r>
              <a:rPr lang="en-US" sz="2800" dirty="0"/>
              <a:t>reason phrase (intended for human use)</a:t>
            </a:r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Status code</a:t>
            </a:r>
          </a:p>
          <a:p>
            <a:pPr lvl="1"/>
            <a:r>
              <a:rPr lang="en-US" sz="2800" dirty="0"/>
              <a:t>Three-digit number</a:t>
            </a:r>
          </a:p>
          <a:p>
            <a:pPr lvl="1"/>
            <a:r>
              <a:rPr lang="en-US" sz="2800" dirty="0"/>
              <a:t>First digit is class of the status code:</a:t>
            </a:r>
          </a:p>
          <a:p>
            <a:pPr lvl="2"/>
            <a:r>
              <a:rPr lang="en-US" sz="2800" dirty="0"/>
              <a:t>1=Informational</a:t>
            </a:r>
          </a:p>
          <a:p>
            <a:pPr lvl="2"/>
            <a:r>
              <a:rPr lang="en-US" sz="2800" dirty="0"/>
              <a:t>2=Success</a:t>
            </a:r>
          </a:p>
          <a:p>
            <a:pPr lvl="2"/>
            <a:r>
              <a:rPr lang="en-US" sz="2800" dirty="0"/>
              <a:t>3=Redirection (alternate URL is supplied)</a:t>
            </a:r>
          </a:p>
          <a:p>
            <a:pPr lvl="2"/>
            <a:r>
              <a:rPr lang="en-US" sz="2800" dirty="0"/>
              <a:t>4=Client Error</a:t>
            </a:r>
          </a:p>
          <a:p>
            <a:pPr lvl="2"/>
            <a:r>
              <a:rPr lang="en-US" sz="2800" dirty="0"/>
              <a:t>5=Server Error</a:t>
            </a:r>
          </a:p>
          <a:p>
            <a:pPr lvl="1"/>
            <a:r>
              <a:rPr lang="en-US" sz="2800" dirty="0"/>
              <a:t>Other two digits provide additional information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400 Bad Request</a:t>
            </a:r>
          </a:p>
          <a:p>
            <a:pPr lvl="1"/>
            <a:r>
              <a:rPr lang="en-IN" dirty="0"/>
              <a:t>The server did not understand the request.</a:t>
            </a:r>
          </a:p>
          <a:p>
            <a:r>
              <a:rPr lang="en-IN" dirty="0"/>
              <a:t>401 Unauthorized</a:t>
            </a:r>
          </a:p>
          <a:p>
            <a:pPr lvl="1"/>
            <a:r>
              <a:rPr lang="en-IN" dirty="0"/>
              <a:t>The requested page needs a username and a password.</a:t>
            </a:r>
          </a:p>
          <a:p>
            <a:r>
              <a:rPr lang="en-IN" dirty="0"/>
              <a:t>403 Forbidden</a:t>
            </a:r>
          </a:p>
          <a:p>
            <a:pPr lvl="1"/>
            <a:r>
              <a:rPr lang="en-IN" dirty="0"/>
              <a:t>Access is forbidden to the requested page.</a:t>
            </a:r>
          </a:p>
          <a:p>
            <a:r>
              <a:rPr lang="en-IN" dirty="0"/>
              <a:t>404 Not Found</a:t>
            </a:r>
          </a:p>
          <a:p>
            <a:pPr lvl="1"/>
            <a:r>
              <a:rPr lang="en-IN" dirty="0"/>
              <a:t>The server can not find the requested page.</a:t>
            </a: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500 Internal Server Error </a:t>
            </a:r>
          </a:p>
          <a:p>
            <a:pPr lvl="1"/>
            <a:r>
              <a:rPr lang="en-IN" sz="1800" dirty="0"/>
              <a:t>The request was not completed. The server met an unexpected condition.</a:t>
            </a:r>
          </a:p>
          <a:p>
            <a:r>
              <a:rPr lang="en-IN" sz="1800" dirty="0"/>
              <a:t>501 Not Implemented</a:t>
            </a:r>
          </a:p>
          <a:p>
            <a:pPr lvl="1"/>
            <a:r>
              <a:rPr lang="en-IN" sz="1800" dirty="0"/>
              <a:t>The request was not completed. The server did not support the functionality required.</a:t>
            </a:r>
          </a:p>
          <a:p>
            <a:r>
              <a:rPr lang="en-IN" sz="1800" dirty="0"/>
              <a:t>502 Bad Gateway</a:t>
            </a:r>
          </a:p>
          <a:p>
            <a:pPr lvl="1"/>
            <a:r>
              <a:rPr lang="en-IN" sz="1800" dirty="0"/>
              <a:t>The request was not completed. The server received an invalid response from the upstream server.</a:t>
            </a:r>
          </a:p>
          <a:p>
            <a:r>
              <a:rPr lang="en-IN" sz="1800" dirty="0"/>
              <a:t>503 Service Unavailable</a:t>
            </a:r>
          </a:p>
          <a:p>
            <a:pPr lvl="1"/>
            <a:r>
              <a:rPr lang="en-IN" sz="1800" dirty="0"/>
              <a:t>The request was not completed. The server is temporarily overloading or down.</a:t>
            </a:r>
          </a:p>
          <a:p>
            <a:r>
              <a:rPr lang="en-IN" sz="1800" dirty="0"/>
              <a:t>504 Gateway </a:t>
            </a:r>
            <a:r>
              <a:rPr lang="en-IN" sz="1800" dirty="0" err="1"/>
              <a:t>TimeoutT</a:t>
            </a:r>
            <a:endParaRPr lang="en-IN" sz="1800" dirty="0"/>
          </a:p>
          <a:p>
            <a:pPr lvl="1"/>
            <a:r>
              <a:rPr lang="en-IN" sz="1800" dirty="0"/>
              <a:t>The gateway has timed out.</a:t>
            </a:r>
          </a:p>
          <a:p>
            <a:r>
              <a:rPr lang="en-IN" sz="1800" dirty="0"/>
              <a:t>505 HTTP Version Not Supported</a:t>
            </a:r>
          </a:p>
          <a:p>
            <a:pPr lvl="1"/>
            <a:r>
              <a:rPr lang="en-IN" sz="1800" dirty="0"/>
              <a:t>The server does not support the "http protocol" version.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Common header fields: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Connection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Content-Type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Content-Length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Date</a:t>
            </a:r>
            <a:r>
              <a:rPr lang="en-US" sz="2400" dirty="0"/>
              <a:t>: date and time at which response was generated (required)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Location</a:t>
            </a:r>
            <a:r>
              <a:rPr lang="en-US" sz="2400" dirty="0"/>
              <a:t>: alternate URI if status is redirection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Last-Modified</a:t>
            </a:r>
            <a:r>
              <a:rPr lang="en-US" sz="2400" dirty="0"/>
              <a:t>: date and time the requested resource was last modified on the server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Expires</a:t>
            </a:r>
            <a:r>
              <a:rPr lang="en-US" sz="2400" dirty="0"/>
              <a:t>: date and time after which the client’s copy of the resource will be out-of-date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chemeClr val="accent2"/>
                </a:solidFill>
              </a:rPr>
              <a:t>ETag</a:t>
            </a:r>
            <a:r>
              <a:rPr lang="en-US" sz="2400" dirty="0"/>
              <a:t>: a unique identifier for this version of the requested resource (changes if resource changes)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chemeClr val="hlink"/>
                </a:solidFill>
              </a:rPr>
              <a:t>cache</a:t>
            </a:r>
            <a:r>
              <a:rPr lang="en-US" sz="2800" dirty="0"/>
              <a:t> is a local copy of information obtained from some other source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Most web browsers use cache to store requested resources so that subsequent requests to the same resource will not necessarily require an HTTP request/response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Ex: icon appearing multiple times in a Web page 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57400" y="22860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590800" y="1981200"/>
            <a:ext cx="287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1. HTTP request for image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0574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590800" y="2514600"/>
            <a:ext cx="3829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2. HTTP response containing image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2000" y="4724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746125" y="4760913"/>
            <a:ext cx="167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3. Store image</a:t>
            </a:r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69925" y="3617913"/>
            <a:ext cx="13271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I need that</a:t>
            </a:r>
          </a:p>
          <a:p>
            <a:r>
              <a:rPr lang="en-US" b="1"/>
              <a:t>image</a:t>
            </a:r>
          </a:p>
          <a:p>
            <a:r>
              <a:rPr lang="en-US" b="1"/>
              <a:t>again…</a:t>
            </a:r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69925" y="3617913"/>
            <a:ext cx="1263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 need that</a:t>
            </a:r>
          </a:p>
          <a:p>
            <a:r>
              <a:rPr lang="en-US"/>
              <a:t>image</a:t>
            </a:r>
          </a:p>
          <a:p>
            <a:r>
              <a:rPr lang="en-US"/>
              <a:t>again…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057400" y="32766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590800" y="2971800"/>
            <a:ext cx="268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HTTP request for image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2057400" y="38100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590800" y="3505200"/>
            <a:ext cx="357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HTTP response containing image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336925" y="2246313"/>
            <a:ext cx="882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This…</a:t>
            </a:r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69925" y="3617913"/>
            <a:ext cx="1263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 need that</a:t>
            </a:r>
          </a:p>
          <a:p>
            <a:r>
              <a:rPr lang="en-US"/>
              <a:t>image</a:t>
            </a:r>
          </a:p>
          <a:p>
            <a:r>
              <a:rPr lang="en-US"/>
              <a:t>again…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12192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65125" y="4760913"/>
            <a:ext cx="806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Get</a:t>
            </a:r>
            <a:br>
              <a:rPr lang="en-US"/>
            </a:br>
            <a:r>
              <a:rPr lang="en-US"/>
              <a:t>image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346325" y="4760913"/>
            <a:ext cx="1174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… or this</a:t>
            </a:r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Cache advantages</a:t>
            </a:r>
          </a:p>
          <a:p>
            <a:pPr lvl="1"/>
            <a:r>
              <a:rPr lang="en-US" sz="2800" dirty="0"/>
              <a:t>(Much) faster than HTTP request/response</a:t>
            </a:r>
          </a:p>
          <a:p>
            <a:pPr lvl="1"/>
            <a:r>
              <a:rPr lang="en-US" sz="2800" dirty="0"/>
              <a:t>Less network traffic</a:t>
            </a:r>
          </a:p>
          <a:p>
            <a:pPr lvl="1"/>
            <a:r>
              <a:rPr lang="en-US" sz="2800" dirty="0"/>
              <a:t>Less load on server</a:t>
            </a:r>
          </a:p>
          <a:p>
            <a:r>
              <a:rPr lang="en-US" sz="2800" dirty="0"/>
              <a:t>Cache disadvantage</a:t>
            </a:r>
          </a:p>
          <a:p>
            <a:pPr lvl="1"/>
            <a:r>
              <a:rPr lang="en-US" sz="2800" dirty="0"/>
              <a:t>Cached copy of resource may be </a:t>
            </a:r>
            <a:r>
              <a:rPr lang="en-US" sz="2800" dirty="0">
                <a:solidFill>
                  <a:schemeClr val="hlink"/>
                </a:solidFill>
              </a:rPr>
              <a:t>invalid</a:t>
            </a:r>
            <a:r>
              <a:rPr lang="en-US" sz="2800" dirty="0"/>
              <a:t> (inconsistent with remote version)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Validating cached resource:</a:t>
            </a:r>
          </a:p>
          <a:p>
            <a:pPr lvl="1"/>
            <a:r>
              <a:rPr lang="en-US" sz="2800" dirty="0"/>
              <a:t>Send HTTP HEAD request and check Last-Modified or </a:t>
            </a:r>
            <a:r>
              <a:rPr lang="en-US" sz="2800" dirty="0" err="1"/>
              <a:t>ETag</a:t>
            </a:r>
            <a:r>
              <a:rPr lang="en-US" sz="2800" dirty="0"/>
              <a:t> header in response</a:t>
            </a:r>
          </a:p>
          <a:p>
            <a:pPr lvl="1"/>
            <a:r>
              <a:rPr lang="en-US" sz="2800" dirty="0"/>
              <a:t>Compare current date/time with Expires header sent in response containing resource</a:t>
            </a:r>
          </a:p>
          <a:p>
            <a:pPr lvl="1">
              <a:buNone/>
            </a:pPr>
            <a:endParaRPr lang="en-US" sz="2800" dirty="0"/>
          </a:p>
          <a:p>
            <a:pPr lvl="1"/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Details of HTTP request message</a:t>
            </a:r>
          </a:p>
          <a:p>
            <a:r>
              <a:rPr lang="en-US" dirty="0"/>
              <a:t>Details of HTTP response message</a:t>
            </a:r>
          </a:p>
          <a:p>
            <a:endParaRPr lang="en-US" dirty="0"/>
          </a:p>
          <a:p>
            <a:endParaRPr lang="en-US" sz="2400" dirty="0">
              <a:solidFill>
                <a:srgbClr val="0000FF"/>
              </a:solidFill>
              <a:ea typeface="+mn-ea"/>
            </a:endParaRPr>
          </a:p>
          <a:p>
            <a:pPr marL="342900" lvl="1" indent="-342900">
              <a:buFontTx/>
              <a:buChar char="•"/>
            </a:pPr>
            <a:endParaRPr lang="en-US" sz="2400" dirty="0">
              <a:solidFill>
                <a:srgbClr val="0000FF"/>
              </a:solidFill>
              <a:ea typeface="+mn-ea"/>
            </a:endParaRP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SASEPresentatio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E8CE935-F3DA-4639-839D-0F6A64CCE9C9}" vid="{A99DBA6F-CE1E-45EC-8558-A285390E6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Courseware-Template</Template>
  <TotalTime>4089</TotalTime>
  <Words>1469</Words>
  <Application>Microsoft Office PowerPoint</Application>
  <PresentationFormat>On-screen Show (4:3)</PresentationFormat>
  <Paragraphs>246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PMingLiU</vt:lpstr>
      <vt:lpstr>Arial</vt:lpstr>
      <vt:lpstr>Calibri</vt:lpstr>
      <vt:lpstr>Century</vt:lpstr>
      <vt:lpstr>Comic Sans MS</vt:lpstr>
      <vt:lpstr>Lucida Sans Typewriter</vt:lpstr>
      <vt:lpstr>Tahoma</vt:lpstr>
      <vt:lpstr>Times New Roman</vt:lpstr>
      <vt:lpstr>SASEPresentation</vt:lpstr>
      <vt:lpstr>HTTP Request &amp; Response Message</vt:lpstr>
      <vt:lpstr>Session Objectives</vt:lpstr>
      <vt:lpstr>Session Outcomes</vt:lpstr>
      <vt:lpstr>Agenda</vt:lpstr>
      <vt:lpstr>HTTP Request and Response messages</vt:lpstr>
      <vt:lpstr>World Wide Web</vt:lpstr>
      <vt:lpstr>What a web client (web browser) will do?</vt:lpstr>
      <vt:lpstr>What a web server will do?</vt:lpstr>
      <vt:lpstr>URI, URL and URN</vt:lpstr>
      <vt:lpstr>Uniform Resource Name</vt:lpstr>
      <vt:lpstr>URL Example</vt:lpstr>
      <vt:lpstr>URL &amp; URN Examples</vt:lpstr>
      <vt:lpstr>Hypertext Transfer Protocol</vt:lpstr>
      <vt:lpstr>HTTP Request</vt:lpstr>
      <vt:lpstr>HTTP Request</vt:lpstr>
      <vt:lpstr>HTTP Request</vt:lpstr>
      <vt:lpstr>HTTP Request</vt:lpstr>
      <vt:lpstr>Multipurpose Internet Mail Extensions (MIME) </vt:lpstr>
      <vt:lpstr>HTTP Quality Values and Wildcards</vt:lpstr>
      <vt:lpstr>Header Fields</vt:lpstr>
      <vt:lpstr>HTTP Response</vt:lpstr>
      <vt:lpstr>HTTP Response</vt:lpstr>
      <vt:lpstr>HTTP Response</vt:lpstr>
      <vt:lpstr>HTTP Response</vt:lpstr>
      <vt:lpstr>HTTP Response</vt:lpstr>
      <vt:lpstr>HTTP Response</vt:lpstr>
      <vt:lpstr>Client caching</vt:lpstr>
      <vt:lpstr>Client caching</vt:lpstr>
      <vt:lpstr>Client caching</vt:lpstr>
      <vt:lpstr>Client caching</vt:lpstr>
      <vt:lpstr>Client caching</vt:lpstr>
      <vt:lpstr>Client caching</vt:lpstr>
      <vt:lpstr>Client caching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&lt;Course Title&gt;</dc:title>
  <dc:creator>S Sivakumar</dc:creator>
  <cp:lastModifiedBy>B Prabavathy</cp:lastModifiedBy>
  <cp:revision>502</cp:revision>
  <dcterms:created xsi:type="dcterms:W3CDTF">2016-10-25T05:26:29Z</dcterms:created>
  <dcterms:modified xsi:type="dcterms:W3CDTF">2024-01-30T04:44:55Z</dcterms:modified>
</cp:coreProperties>
</file>